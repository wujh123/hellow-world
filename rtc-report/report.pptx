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1"/>
  </p:notesMasterIdLst>
  <p:sldIdLst>
    <p:sldId id="7791" r:id="rId2"/>
    <p:sldId id="271" r:id="rId3"/>
    <p:sldId id="272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779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16BCD-723F-4207-BA86-B1004A4E0ED4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4314B-568D-4CEA-9594-195F3F6C0F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52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7695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EBDAA-86DA-43BD-9E45-EDDC3F1E9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375621-4A68-47BA-945B-6291AD468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8EBFFC-D729-4D52-B8BA-A21DC70C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EEB55-F276-475A-9695-E5E8421D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94A0D-6543-4D32-9C89-09148D58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97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9CF5D-5D92-447A-869B-BA76AB67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F1E053-5580-48CB-9F47-FE5540FA9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88848-32F0-4AC3-87AB-28ACF85DD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D2BD7-6FD3-4756-94F5-467965CA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60B085-13B7-4888-AFA6-8639F691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90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C1460-93A3-4283-B93D-245DD7CD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E9795F-44AB-4360-AE72-D50785768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32DFD-14F3-4A8F-B857-9CD55443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EBBA52-D21D-400B-B5C6-92C19884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35987F-037D-4887-90CA-E323FFDA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74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1BDE8-2AFA-4057-B736-92BC6B67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BE65E0-E9E5-4C12-8EB3-D6CDB834FB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369545-559D-4C2A-BC18-C0F3F22E6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3A3DEB-3F0B-474B-AFE9-C4ABD203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F41E61-27BC-4CFA-8242-910BEC73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C548D8-5199-48BD-A816-1DA69A85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38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019E0-C1E8-4D92-9099-E9C2E095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055793-7D5F-4F66-AA7A-53F84D674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9C79EC-5C9C-4A01-84B2-FFC825DFE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C45815-D84C-4A33-9A64-10DCD0DF8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E95C86-C7AD-453D-9B88-3EF388261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CED181-FE07-4310-AF58-E65F4FF5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9DC522-F4C5-4D91-8D64-04C52820F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9F2775-D09F-4FB9-91A0-4AB7CDC1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59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21E55-D7AA-43FB-9AE5-80E78CBF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9832A4-C65A-4909-83DC-B20FC027D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F73369-3037-4BB1-8B22-A65D165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59B1DD-55F4-4C4F-95B5-02FD7FF7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31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D86313-DB3A-4D4B-B1CB-AF9BF898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FBAD5E-7C49-49DB-8554-1B4DF743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E13145-74A2-4E8C-9B81-05EC5258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456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F31C7-72FE-43E2-9880-24FCD8B6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2D8367-9A78-4EEF-875A-0F58B9EAF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6DE088-5C41-430C-8CF3-B39C21972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DEEEE3-37E0-48AE-B27A-F4FCD2F30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87C9CB-49DF-4F8B-8DD8-77315C51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C3AF67-206D-4E7C-81A8-88BFA723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51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B9154-D277-4CF2-A7B8-91097DF7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9E3A36-E06B-4CF6-9A2F-AB46FF466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0E3B28-F32F-4FD8-B93F-C92E04546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51A18E-9CA6-46B7-A25D-5773BD345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A29AE-A1E4-4C97-94F3-B801E4FA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F3830E-5D8D-4757-BB1C-8D405569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21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88657-6169-4E6E-8EF4-BFCAC86B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F4B48B-F06B-41C7-B1D6-A1FE9CD08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9ACBF-064C-442F-897C-FD6F62573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23D37-7551-4D83-A8B9-D7B7019C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CC29A-73E2-4E8E-8432-A61C50AF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09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8CD514-5613-4086-91A7-FFF2A7A85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8EA020-3415-4719-A4A3-A1EF22655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587F0-08D0-40BE-A3EA-6239B06B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46CD67-2F2C-4843-83FD-9C8B508D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E86A6-9F91-4E13-BC4E-DFF5B41D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698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定义版式1" userDrawn="1">
  <p:cSld name="自定义版式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2"/>
          <p:cNvCxnSpPr/>
          <p:nvPr/>
        </p:nvCxnSpPr>
        <p:spPr>
          <a:xfrm flipH="1">
            <a:off x="6316935" y="740704"/>
            <a:ext cx="5887769" cy="1834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" name="Google Shape;17;p2"/>
          <p:cNvSpPr/>
          <p:nvPr/>
        </p:nvSpPr>
        <p:spPr>
          <a:xfrm>
            <a:off x="-3791" y="6790949"/>
            <a:ext cx="691889" cy="67051"/>
          </a:xfrm>
          <a:custGeom>
            <a:avLst/>
            <a:gdLst/>
            <a:ahLst/>
            <a:cxnLst/>
            <a:rect l="l" t="t" r="r" b="b"/>
            <a:pathLst>
              <a:path w="518917" h="67051" extrusionOk="0">
                <a:moveTo>
                  <a:pt x="480817" y="0"/>
                </a:moveTo>
                <a:lnTo>
                  <a:pt x="518917" y="0"/>
                </a:lnTo>
                <a:lnTo>
                  <a:pt x="471492" y="67051"/>
                </a:lnTo>
                <a:lnTo>
                  <a:pt x="433392" y="67051"/>
                </a:lnTo>
                <a:close/>
                <a:moveTo>
                  <a:pt x="418902" y="0"/>
                </a:moveTo>
                <a:lnTo>
                  <a:pt x="457002" y="0"/>
                </a:lnTo>
                <a:lnTo>
                  <a:pt x="409577" y="67051"/>
                </a:lnTo>
                <a:lnTo>
                  <a:pt x="371477" y="67051"/>
                </a:lnTo>
                <a:close/>
                <a:moveTo>
                  <a:pt x="356990" y="0"/>
                </a:moveTo>
                <a:lnTo>
                  <a:pt x="395090" y="0"/>
                </a:lnTo>
                <a:lnTo>
                  <a:pt x="347665" y="67051"/>
                </a:lnTo>
                <a:lnTo>
                  <a:pt x="309565" y="67051"/>
                </a:lnTo>
                <a:close/>
                <a:moveTo>
                  <a:pt x="295076" y="0"/>
                </a:moveTo>
                <a:lnTo>
                  <a:pt x="333176" y="0"/>
                </a:lnTo>
                <a:lnTo>
                  <a:pt x="285751" y="67051"/>
                </a:lnTo>
                <a:lnTo>
                  <a:pt x="247651" y="67051"/>
                </a:lnTo>
                <a:close/>
                <a:moveTo>
                  <a:pt x="233163" y="0"/>
                </a:moveTo>
                <a:lnTo>
                  <a:pt x="271263" y="0"/>
                </a:lnTo>
                <a:lnTo>
                  <a:pt x="223838" y="67051"/>
                </a:lnTo>
                <a:lnTo>
                  <a:pt x="185738" y="67051"/>
                </a:lnTo>
                <a:close/>
                <a:moveTo>
                  <a:pt x="171250" y="0"/>
                </a:moveTo>
                <a:lnTo>
                  <a:pt x="209350" y="0"/>
                </a:lnTo>
                <a:lnTo>
                  <a:pt x="161925" y="67051"/>
                </a:lnTo>
                <a:lnTo>
                  <a:pt x="123825" y="67051"/>
                </a:lnTo>
                <a:close/>
                <a:moveTo>
                  <a:pt x="109337" y="0"/>
                </a:moveTo>
                <a:lnTo>
                  <a:pt x="147437" y="0"/>
                </a:lnTo>
                <a:lnTo>
                  <a:pt x="100012" y="67051"/>
                </a:lnTo>
                <a:lnTo>
                  <a:pt x="61912" y="67051"/>
                </a:lnTo>
                <a:close/>
                <a:moveTo>
                  <a:pt x="47425" y="0"/>
                </a:moveTo>
                <a:lnTo>
                  <a:pt x="85525" y="0"/>
                </a:lnTo>
                <a:lnTo>
                  <a:pt x="38100" y="67051"/>
                </a:lnTo>
                <a:lnTo>
                  <a:pt x="0" y="67051"/>
                </a:lnTo>
                <a:close/>
              </a:path>
            </a:pathLst>
          </a:cu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2"/>
          <p:cNvSpPr/>
          <p:nvPr/>
        </p:nvSpPr>
        <p:spPr>
          <a:xfrm flipH="1">
            <a:off x="690166" y="6790949"/>
            <a:ext cx="11501836" cy="67055"/>
          </a:xfrm>
          <a:custGeom>
            <a:avLst/>
            <a:gdLst/>
            <a:ahLst/>
            <a:cxnLst/>
            <a:rect l="l" t="t" r="r" b="b"/>
            <a:pathLst>
              <a:path w="8626377" h="67055" extrusionOk="0">
                <a:moveTo>
                  <a:pt x="8578949" y="0"/>
                </a:moveTo>
                <a:lnTo>
                  <a:pt x="7650035" y="0"/>
                </a:lnTo>
                <a:lnTo>
                  <a:pt x="6627032" y="0"/>
                </a:lnTo>
                <a:lnTo>
                  <a:pt x="5698118" y="0"/>
                </a:lnTo>
                <a:lnTo>
                  <a:pt x="5349539" y="0"/>
                </a:lnTo>
                <a:lnTo>
                  <a:pt x="4420625" y="0"/>
                </a:lnTo>
                <a:lnTo>
                  <a:pt x="928914" y="0"/>
                </a:lnTo>
                <a:lnTo>
                  <a:pt x="0" y="0"/>
                </a:lnTo>
                <a:lnTo>
                  <a:pt x="0" y="67055"/>
                </a:lnTo>
                <a:lnTo>
                  <a:pt x="928914" y="67055"/>
                </a:lnTo>
                <a:lnTo>
                  <a:pt x="7697463" y="67055"/>
                </a:lnTo>
                <a:lnTo>
                  <a:pt x="8626377" y="67055"/>
                </a:lnTo>
                <a:close/>
              </a:path>
            </a:pathLst>
          </a:custGeom>
          <a:solidFill>
            <a:srgbClr val="1B1B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1347658" y="454955"/>
            <a:ext cx="864000" cy="285749"/>
          </a:xfrm>
          <a:prstGeom prst="roundRect">
            <a:avLst>
              <a:gd name="adj" fmla="val 763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69"/>
              </a:buClr>
              <a:buSzPts val="1200"/>
              <a:buFont typeface="Calibri" panose="020F0502020204030204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B1B6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第</a:t>
            </a:r>
            <a:fld id="{00000000-1234-1234-1234-12341234123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B1B6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1B69"/>
                </a:buClr>
                <a:buSzPts val="1200"/>
                <a:buFont typeface="Calibri" panose="020F0502020204030204"/>
                <a:buNone/>
                <a:tabLst/>
                <a:defRPr/>
              </a:pPr>
              <a:t>‹#›</a:t>
            </a:fld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B1B6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页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1B1B6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pic>
        <p:nvPicPr>
          <p:cNvPr id="2" name="图片 0" descr="微信图片_20260415170420_1847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2275" y="56515"/>
            <a:ext cx="875665" cy="66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5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01BE40-8825-44F2-8648-7EC1A03FB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163A30-3FEF-4A2D-9EC3-4F5031102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FD5FC-D653-438D-8EB6-AE3704083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1BA2E-9350-44E6-B3CF-A2819E02712F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A9FFB-327B-41BA-8103-0F30021F8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D5586E-2B5B-4932-ABEE-C2A508506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CDDBE-9439-4AE2-8E78-CCB263580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70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595755"/>
            <a:ext cx="12192000" cy="2554605"/>
          </a:xfrm>
          <a:solidFill>
            <a:srgbClr val="002060">
              <a:alpha val="100000"/>
            </a:srgbClr>
          </a:solidFill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sz="4400" b="1" spc="75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不确定信息条件下城市排水韧性治理的</a:t>
            </a:r>
            <a:br>
              <a:rPr lang="en-US" altLang="zh-CN" sz="4400" b="1" spc="75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400" b="1" spc="75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实时决策机制</a:t>
            </a:r>
            <a:br>
              <a:rPr lang="en-US" altLang="zh-CN" sz="4400" b="1" spc="75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4400" b="1" spc="75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</a:t>
            </a:r>
            <a:r>
              <a:rPr lang="en-US" altLang="zh-CN" sz="3600" b="1" spc="75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3600" b="1" spc="75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城市排水系统实时内涝缓解案例</a:t>
            </a:r>
            <a:endParaRPr lang="zh-CN" altLang="en-US" sz="3600" b="1" spc="7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99EB26-54BA-42D5-8F4E-CEFC7CCBCA3E}"/>
              </a:ext>
            </a:extLst>
          </p:cNvPr>
          <p:cNvSpPr txBox="1"/>
          <p:nvPr/>
        </p:nvSpPr>
        <p:spPr>
          <a:xfrm>
            <a:off x="4351916" y="4513636"/>
            <a:ext cx="3778599" cy="1308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spc="750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汇报人：吴俊豪</a:t>
            </a:r>
            <a:endParaRPr lang="en-US" altLang="zh-CN" sz="2800" b="1" spc="750" dirty="0"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spc="750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导  师：马灵教授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813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156895" y="1355940"/>
          <a:ext cx="5581015" cy="3395345"/>
        </p:xfrm>
        <a:graphic>
          <a:graphicData uri="http://schemas.openxmlformats.org/drawingml/2006/table">
            <a:tbl>
              <a:tblPr/>
              <a:tblGrid>
                <a:gridCol w="558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77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 ·  </a:t>
                      </a: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武汉城市积水点应急排水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5C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  <a:r>
                        <a:rPr sz="1300" kern="0" spc="18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日红色暴雨预警期间，</a:t>
                      </a:r>
                      <a:r>
                        <a:rPr sz="1300" kern="0" spc="-2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多处道路积水，水务人员现场排涝。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照片来源：武汉市政府／长江日报（</a:t>
                      </a:r>
                      <a:r>
                        <a:rPr sz="900" kern="0" spc="1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2026-06-19</a:t>
                      </a:r>
                      <a:r>
                        <a:rPr sz="900" kern="0" spc="-8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05180" y="1355940"/>
          <a:ext cx="5581015" cy="3395345"/>
        </p:xfrm>
        <a:graphic>
          <a:graphicData uri="http://schemas.openxmlformats.org/drawingml/2006/table">
            <a:tbl>
              <a:tblPr/>
              <a:tblGrid>
                <a:gridCol w="558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5414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 ·  </a:t>
                      </a: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武汉洪山区华城新都路口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5C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300" kern="0" spc="17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日暴雨后，</a:t>
                      </a:r>
                      <a:r>
                        <a:rPr sz="1300" kern="0" spc="-2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路面渍水影响交通；现场开展排水处置。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照片来源：中国天气网湖北站（李必春摄， </a:t>
                      </a:r>
                      <a:r>
                        <a:rPr sz="900" kern="0" spc="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2020-07-05</a:t>
                      </a:r>
                      <a:r>
                        <a:rPr sz="900" kern="0" spc="-8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E6A7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04824" y="4894376"/>
          <a:ext cx="11377929" cy="1319530"/>
        </p:xfrm>
        <a:graphic>
          <a:graphicData uri="http://schemas.openxmlformats.org/drawingml/2006/table">
            <a:tbl>
              <a:tblPr>
                <a:solidFill>
                  <a:srgbClr val="EFF5FA"/>
                </a:solidFill>
              </a:tblPr>
              <a:tblGrid>
                <a:gridCol w="3716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95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204" indent="1270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b="1" kern="0" spc="9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暴雨汇流与积涝演化：分钟</a:t>
                      </a:r>
                      <a:r>
                        <a:rPr sz="1400" b="1" kern="0" spc="8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—小时</a:t>
                      </a:r>
                      <a:r>
                        <a:rPr sz="1400" b="1" kern="0" spc="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</a:t>
                      </a:r>
                      <a:r>
                        <a:rPr sz="1400" b="1" kern="0" spc="7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尺度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55270" indent="-1905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局地短时强降雨可迅速造成管网超载，积涝</a:t>
                      </a:r>
                      <a:r>
                        <a:rPr sz="1300" kern="0" spc="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风险具有显著时间敏感性。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82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400" b="1" kern="0" spc="10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传统扩容：投资大、建</a:t>
                      </a:r>
                      <a:r>
                        <a:rPr sz="1400" b="1" kern="0" spc="9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设周期长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995" indent="127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在存量高密度城区，单靠新建管渠难以</a:t>
                      </a:r>
                      <a:r>
                        <a:rPr sz="1300" kern="0" spc="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快速应对极端降雨。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115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2290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RTC</a:t>
                      </a:r>
                      <a:r>
                        <a:rPr sz="1400" b="1" kern="0" spc="210" dirty="0">
                          <a:solidFill>
                            <a:srgbClr val="2290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400" b="1" kern="0" spc="60" dirty="0">
                          <a:solidFill>
                            <a:srgbClr val="2290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：动态挖掘现有设施的调度余量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72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联动泵、孔口、堰及调蓄设施，在有限容量下</a:t>
                      </a:r>
                      <a:r>
                        <a:rPr sz="1300" kern="0" spc="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</a:t>
                      </a:r>
                      <a:r>
                        <a:rPr sz="1300" kern="0" spc="-2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减少系统积涝。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0275" y="1801456"/>
            <a:ext cx="5330507" cy="194722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2004" y="1801456"/>
            <a:ext cx="5330494" cy="1947227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0" y="12"/>
            <a:ext cx="9728834" cy="676275"/>
          </a:xfrm>
          <a:prstGeom prst="rect">
            <a:avLst/>
          </a:prstGeom>
          <a:solidFill>
            <a:srgbClr val="212B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0834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2400" b="1" kern="0" spc="0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研究背景：武汉城市内涝风险为何</a:t>
            </a:r>
            <a:r>
              <a:rPr sz="2400" b="1" kern="0" spc="-10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需要实时调控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ect 14"/>
          <p:cNvSpPr/>
          <p:nvPr/>
        </p:nvSpPr>
        <p:spPr>
          <a:xfrm>
            <a:off x="383755" y="877316"/>
            <a:ext cx="1243088" cy="301319"/>
          </a:xfrm>
          <a:prstGeom prst="rect">
            <a:avLst/>
          </a:prstGeom>
          <a:solidFill>
            <a:srgbClr val="212B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371055" y="915482"/>
            <a:ext cx="7245350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161925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800" b="1" kern="0" spc="70" baseline="2893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真实事件</a:t>
            </a:r>
            <a:r>
              <a:rPr sz="11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500" b="1" kern="0" spc="7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武汉暴雨积涝不是抽象风</a:t>
            </a:r>
            <a:r>
              <a:rPr sz="1500" b="1" kern="0" spc="6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险：</a:t>
            </a:r>
            <a:r>
              <a:rPr sz="1500" b="1" kern="0" spc="-33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道路积水、应急排水与城市运行受扰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4309375" y="3404335"/>
          <a:ext cx="7446009" cy="2160904"/>
        </p:xfrm>
        <a:graphic>
          <a:graphicData uri="http://schemas.openxmlformats.org/drawingml/2006/table">
            <a:tbl>
              <a:tblPr/>
              <a:tblGrid>
                <a:gridCol w="247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0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65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404824" y="1346580"/>
          <a:ext cx="3706495" cy="4218301"/>
        </p:xfrm>
        <a:graphic>
          <a:graphicData uri="http://schemas.openxmlformats.org/drawingml/2006/table">
            <a:tbl>
              <a:tblPr/>
              <a:tblGrid>
                <a:gridCol w="3706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77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武汉研究网络：真实</a:t>
                      </a: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复杂性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5C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3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3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14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indent="-3810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kern="0" spc="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仅观测局部节点，却</a:t>
                      </a:r>
                      <a:r>
                        <a:rPr sz="1300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要协调全网高维动作；    上游积水与下游顶托存在水力耦合。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4309375" y="1346935"/>
          <a:ext cx="7446009" cy="1913889"/>
        </p:xfrm>
        <a:graphic>
          <a:graphicData uri="http://schemas.openxmlformats.org/drawingml/2006/table">
            <a:tbl>
              <a:tblPr/>
              <a:tblGrid>
                <a:gridCol w="7446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68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紧迫性：从降雨到积涝，可控</a:t>
                      </a: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窗口很短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5C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08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404824" y="5708699"/>
          <a:ext cx="11350625" cy="596900"/>
        </p:xfrm>
        <a:graphic>
          <a:graphicData uri="http://schemas.openxmlformats.org/drawingml/2006/table">
            <a:tbl>
              <a:tblPr>
                <a:solidFill>
                  <a:srgbClr val="EFF5FA"/>
                </a:solidFill>
              </a:tblPr>
              <a:tblGrid>
                <a:gridCol w="1135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0670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300" b="1" kern="0" spc="-10" baseline="-6794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本文研究切入点</a:t>
                      </a:r>
                      <a:r>
                        <a:rPr sz="1400" b="1" kern="0" spc="-10" dirty="0">
                          <a:solidFill>
                            <a:srgbClr val="212B6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</a:t>
                      </a:r>
                      <a:r>
                        <a:rPr sz="1300" b="1" kern="0" spc="-1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</a:t>
                      </a:r>
                      <a:r>
                        <a:rPr sz="1300" b="1" kern="0" spc="-8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b="1" kern="0" spc="-1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稀疏观测 → 全网状态重建                 ② 多源知识 → 工程可行候选                 ③</a:t>
                      </a:r>
                      <a:r>
                        <a:rPr sz="1300" b="1" kern="0" spc="-2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长时域回报 →  </a:t>
                      </a:r>
                      <a:r>
                        <a:rPr sz="1300" b="1" kern="0" spc="-2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  <a:r>
                        <a:rPr sz="1300" b="1" kern="0" spc="30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b="1" kern="0" spc="-20" dirty="0">
                          <a:solidFill>
                            <a:srgbClr val="235C9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仲裁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textbox 34"/>
          <p:cNvSpPr/>
          <p:nvPr/>
        </p:nvSpPr>
        <p:spPr>
          <a:xfrm>
            <a:off x="0" y="12"/>
            <a:ext cx="9728834" cy="676275"/>
          </a:xfrm>
          <a:prstGeom prst="rect">
            <a:avLst/>
          </a:prstGeom>
          <a:solidFill>
            <a:srgbClr val="212B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0834" algn="l" rtl="0" eaLnBrk="0">
              <a:lnSpc>
                <a:spcPct val="88000"/>
              </a:lnSpc>
              <a:tabLst/>
            </a:pPr>
            <a:r>
              <a:rPr sz="2400" b="1" kern="0" spc="-30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2400" b="1" kern="0" spc="-6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为什么大规</a:t>
            </a: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模排水管网的</a:t>
            </a:r>
            <a:r>
              <a:rPr sz="2400" b="1" kern="0" spc="6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RTC  </a:t>
            </a: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既紧迫又困难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4500904" y="1886216"/>
            <a:ext cx="6971400" cy="936359"/>
            <a:chOff x="0" y="0"/>
            <a:chExt cx="6971400" cy="936359"/>
          </a:xfrm>
        </p:grpSpPr>
        <p:grpSp>
          <p:nvGrpSpPr>
            <p:cNvPr id="6" name="group 6"/>
            <p:cNvGrpSpPr/>
            <p:nvPr/>
          </p:nvGrpSpPr>
          <p:grpSpPr>
            <a:xfrm rot="21600000">
              <a:off x="0" y="0"/>
              <a:ext cx="6971400" cy="936359"/>
              <a:chOff x="0" y="0"/>
              <a:chExt cx="6971400" cy="936359"/>
            </a:xfrm>
          </p:grpSpPr>
          <p:sp>
            <p:nvSpPr>
              <p:cNvPr id="36" name="path 36"/>
              <p:cNvSpPr/>
              <p:nvPr/>
            </p:nvSpPr>
            <p:spPr>
              <a:xfrm>
                <a:off x="6300" y="6300"/>
                <a:ext cx="1609560" cy="923759"/>
              </a:xfrm>
              <a:custGeom>
                <a:avLst/>
                <a:gdLst/>
                <a:ahLst/>
                <a:cxnLst/>
                <a:rect l="0" t="0" r="0" b="0"/>
                <a:pathLst>
                  <a:path w="2534" h="1454">
                    <a:moveTo>
                      <a:pt x="0" y="242"/>
                    </a:moveTo>
                    <a:lnTo>
                      <a:pt x="0" y="242"/>
                    </a:lnTo>
                    <a:cubicBezTo>
                      <a:pt x="0" y="200"/>
                      <a:pt x="11" y="158"/>
                      <a:pt x="32" y="121"/>
                    </a:cubicBezTo>
                    <a:cubicBezTo>
                      <a:pt x="54" y="84"/>
                      <a:pt x="85" y="53"/>
                      <a:pt x="121" y="32"/>
                    </a:cubicBezTo>
                    <a:cubicBezTo>
                      <a:pt x="158" y="11"/>
                      <a:pt x="200" y="0"/>
                      <a:pt x="243" y="0"/>
                    </a:cubicBezTo>
                    <a:lnTo>
                      <a:pt x="2292" y="0"/>
                    </a:lnTo>
                    <a:lnTo>
                      <a:pt x="2292" y="0"/>
                    </a:lnTo>
                    <a:cubicBezTo>
                      <a:pt x="2334" y="0"/>
                      <a:pt x="2376" y="11"/>
                      <a:pt x="2413" y="32"/>
                    </a:cubicBezTo>
                    <a:cubicBezTo>
                      <a:pt x="2450" y="54"/>
                      <a:pt x="2480" y="85"/>
                      <a:pt x="2501" y="121"/>
                    </a:cubicBezTo>
                    <a:cubicBezTo>
                      <a:pt x="2523" y="158"/>
                      <a:pt x="2534" y="200"/>
                      <a:pt x="2534" y="243"/>
                    </a:cubicBezTo>
                    <a:lnTo>
                      <a:pt x="2534" y="243"/>
                    </a:lnTo>
                    <a:lnTo>
                      <a:pt x="2534" y="1212"/>
                    </a:lnTo>
                    <a:lnTo>
                      <a:pt x="2534" y="1212"/>
                    </a:lnTo>
                    <a:cubicBezTo>
                      <a:pt x="2534" y="1254"/>
                      <a:pt x="2523" y="1296"/>
                      <a:pt x="2502" y="1333"/>
                    </a:cubicBezTo>
                    <a:cubicBezTo>
                      <a:pt x="2480" y="1370"/>
                      <a:pt x="2450" y="1400"/>
                      <a:pt x="2413" y="1421"/>
                    </a:cubicBezTo>
                    <a:cubicBezTo>
                      <a:pt x="2376" y="1443"/>
                      <a:pt x="2335" y="1454"/>
                      <a:pt x="2292" y="1454"/>
                    </a:cubicBezTo>
                    <a:lnTo>
                      <a:pt x="242" y="1454"/>
                    </a:lnTo>
                    <a:lnTo>
                      <a:pt x="242" y="1454"/>
                    </a:lnTo>
                    <a:cubicBezTo>
                      <a:pt x="200" y="1454"/>
                      <a:pt x="158" y="1443"/>
                      <a:pt x="121" y="1422"/>
                    </a:cubicBezTo>
                    <a:cubicBezTo>
                      <a:pt x="84" y="1400"/>
                      <a:pt x="53" y="1370"/>
                      <a:pt x="32" y="1333"/>
                    </a:cubicBezTo>
                    <a:cubicBezTo>
                      <a:pt x="11" y="1296"/>
                      <a:pt x="0" y="1255"/>
                      <a:pt x="0" y="1212"/>
                    </a:cubicBezTo>
                    <a:lnTo>
                      <a:pt x="0" y="242"/>
                    </a:lnTo>
                    <a:close/>
                  </a:path>
                </a:pathLst>
              </a:custGeom>
              <a:solidFill>
                <a:srgbClr val="EFF5F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path 38"/>
              <p:cNvSpPr/>
              <p:nvPr/>
            </p:nvSpPr>
            <p:spPr>
              <a:xfrm>
                <a:off x="0" y="0"/>
                <a:ext cx="1622160" cy="936359"/>
              </a:xfrm>
              <a:custGeom>
                <a:avLst/>
                <a:gdLst/>
                <a:ahLst/>
                <a:cxnLst/>
                <a:rect l="0" t="0" r="0" b="0"/>
                <a:pathLst>
                  <a:path w="2554" h="1474">
                    <a:moveTo>
                      <a:pt x="10" y="252"/>
                    </a:moveTo>
                    <a:lnTo>
                      <a:pt x="10" y="252"/>
                    </a:lnTo>
                    <a:cubicBezTo>
                      <a:pt x="10" y="210"/>
                      <a:pt x="21" y="168"/>
                      <a:pt x="42" y="131"/>
                    </a:cubicBezTo>
                    <a:cubicBezTo>
                      <a:pt x="64" y="94"/>
                      <a:pt x="94" y="63"/>
                      <a:pt x="131" y="42"/>
                    </a:cubicBezTo>
                    <a:cubicBezTo>
                      <a:pt x="168" y="21"/>
                      <a:pt x="210" y="9"/>
                      <a:pt x="253" y="9"/>
                    </a:cubicBezTo>
                    <a:lnTo>
                      <a:pt x="2302" y="10"/>
                    </a:lnTo>
                    <a:lnTo>
                      <a:pt x="2302" y="10"/>
                    </a:lnTo>
                    <a:cubicBezTo>
                      <a:pt x="2344" y="10"/>
                      <a:pt x="2386" y="21"/>
                      <a:pt x="2423" y="42"/>
                    </a:cubicBezTo>
                    <a:cubicBezTo>
                      <a:pt x="2460" y="64"/>
                      <a:pt x="2490" y="94"/>
                      <a:pt x="2511" y="131"/>
                    </a:cubicBezTo>
                    <a:cubicBezTo>
                      <a:pt x="2533" y="168"/>
                      <a:pt x="2544" y="210"/>
                      <a:pt x="2544" y="253"/>
                    </a:cubicBezTo>
                    <a:lnTo>
                      <a:pt x="2544" y="253"/>
                    </a:lnTo>
                    <a:lnTo>
                      <a:pt x="2544" y="1222"/>
                    </a:lnTo>
                    <a:lnTo>
                      <a:pt x="2544" y="1222"/>
                    </a:lnTo>
                    <a:cubicBezTo>
                      <a:pt x="2544" y="1264"/>
                      <a:pt x="2533" y="1306"/>
                      <a:pt x="2512" y="1343"/>
                    </a:cubicBezTo>
                    <a:cubicBezTo>
                      <a:pt x="2490" y="1380"/>
                      <a:pt x="2460" y="1410"/>
                      <a:pt x="2423" y="1431"/>
                    </a:cubicBezTo>
                    <a:cubicBezTo>
                      <a:pt x="2386" y="1453"/>
                      <a:pt x="2345" y="1464"/>
                      <a:pt x="2302" y="1464"/>
                    </a:cubicBezTo>
                    <a:lnTo>
                      <a:pt x="252" y="1464"/>
                    </a:lnTo>
                    <a:lnTo>
                      <a:pt x="252" y="1464"/>
                    </a:lnTo>
                    <a:cubicBezTo>
                      <a:pt x="210" y="1464"/>
                      <a:pt x="168" y="1453"/>
                      <a:pt x="131" y="1432"/>
                    </a:cubicBezTo>
                    <a:cubicBezTo>
                      <a:pt x="94" y="1410"/>
                      <a:pt x="63" y="1380"/>
                      <a:pt x="42" y="1343"/>
                    </a:cubicBezTo>
                    <a:cubicBezTo>
                      <a:pt x="21" y="1306"/>
                      <a:pt x="9" y="1265"/>
                      <a:pt x="9" y="1222"/>
                    </a:cubicBezTo>
                    <a:lnTo>
                      <a:pt x="10" y="252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D3DEE9"/>
                </a:solidFill>
                <a:prstDash val="solid"/>
                <a:miter lim="38637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path 40"/>
              <p:cNvSpPr/>
              <p:nvPr/>
            </p:nvSpPr>
            <p:spPr>
              <a:xfrm>
                <a:off x="1789380" y="6300"/>
                <a:ext cx="1609560" cy="923759"/>
              </a:xfrm>
              <a:custGeom>
                <a:avLst/>
                <a:gdLst/>
                <a:ahLst/>
                <a:cxnLst/>
                <a:rect l="0" t="0" r="0" b="0"/>
                <a:pathLst>
                  <a:path w="2534" h="1454">
                    <a:moveTo>
                      <a:pt x="0" y="242"/>
                    </a:moveTo>
                    <a:lnTo>
                      <a:pt x="0" y="242"/>
                    </a:lnTo>
                    <a:cubicBezTo>
                      <a:pt x="0" y="200"/>
                      <a:pt x="11" y="158"/>
                      <a:pt x="32" y="121"/>
                    </a:cubicBezTo>
                    <a:cubicBezTo>
                      <a:pt x="54" y="84"/>
                      <a:pt x="85" y="53"/>
                      <a:pt x="121" y="32"/>
                    </a:cubicBezTo>
                    <a:cubicBezTo>
                      <a:pt x="158" y="11"/>
                      <a:pt x="200" y="0"/>
                      <a:pt x="243" y="0"/>
                    </a:cubicBezTo>
                    <a:lnTo>
                      <a:pt x="2292" y="0"/>
                    </a:lnTo>
                    <a:lnTo>
                      <a:pt x="2292" y="0"/>
                    </a:lnTo>
                    <a:cubicBezTo>
                      <a:pt x="2334" y="0"/>
                      <a:pt x="2376" y="11"/>
                      <a:pt x="2413" y="32"/>
                    </a:cubicBezTo>
                    <a:cubicBezTo>
                      <a:pt x="2450" y="54"/>
                      <a:pt x="2480" y="85"/>
                      <a:pt x="2501" y="121"/>
                    </a:cubicBezTo>
                    <a:cubicBezTo>
                      <a:pt x="2523" y="158"/>
                      <a:pt x="2534" y="200"/>
                      <a:pt x="2534" y="243"/>
                    </a:cubicBezTo>
                    <a:lnTo>
                      <a:pt x="2534" y="243"/>
                    </a:lnTo>
                    <a:lnTo>
                      <a:pt x="2534" y="1212"/>
                    </a:lnTo>
                    <a:lnTo>
                      <a:pt x="2534" y="1212"/>
                    </a:lnTo>
                    <a:cubicBezTo>
                      <a:pt x="2534" y="1254"/>
                      <a:pt x="2523" y="1296"/>
                      <a:pt x="2502" y="1333"/>
                    </a:cubicBezTo>
                    <a:cubicBezTo>
                      <a:pt x="2480" y="1370"/>
                      <a:pt x="2450" y="1400"/>
                      <a:pt x="2413" y="1421"/>
                    </a:cubicBezTo>
                    <a:cubicBezTo>
                      <a:pt x="2376" y="1443"/>
                      <a:pt x="2335" y="1454"/>
                      <a:pt x="2292" y="1454"/>
                    </a:cubicBezTo>
                    <a:lnTo>
                      <a:pt x="242" y="1454"/>
                    </a:lnTo>
                    <a:lnTo>
                      <a:pt x="242" y="1454"/>
                    </a:lnTo>
                    <a:cubicBezTo>
                      <a:pt x="200" y="1454"/>
                      <a:pt x="158" y="1443"/>
                      <a:pt x="121" y="1422"/>
                    </a:cubicBezTo>
                    <a:cubicBezTo>
                      <a:pt x="84" y="1400"/>
                      <a:pt x="53" y="1370"/>
                      <a:pt x="32" y="1333"/>
                    </a:cubicBezTo>
                    <a:cubicBezTo>
                      <a:pt x="11" y="1296"/>
                      <a:pt x="0" y="1255"/>
                      <a:pt x="0" y="1212"/>
                    </a:cubicBezTo>
                    <a:lnTo>
                      <a:pt x="0" y="242"/>
                    </a:lnTo>
                    <a:close/>
                  </a:path>
                </a:pathLst>
              </a:custGeom>
              <a:solidFill>
                <a:srgbClr val="EFF5F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path 42"/>
              <p:cNvSpPr/>
              <p:nvPr/>
            </p:nvSpPr>
            <p:spPr>
              <a:xfrm>
                <a:off x="1783080" y="0"/>
                <a:ext cx="1622159" cy="936359"/>
              </a:xfrm>
              <a:custGeom>
                <a:avLst/>
                <a:gdLst/>
                <a:ahLst/>
                <a:cxnLst/>
                <a:rect l="0" t="0" r="0" b="0"/>
                <a:pathLst>
                  <a:path w="2554" h="1474">
                    <a:moveTo>
                      <a:pt x="10" y="252"/>
                    </a:moveTo>
                    <a:lnTo>
                      <a:pt x="10" y="252"/>
                    </a:lnTo>
                    <a:cubicBezTo>
                      <a:pt x="10" y="210"/>
                      <a:pt x="21" y="168"/>
                      <a:pt x="42" y="131"/>
                    </a:cubicBezTo>
                    <a:cubicBezTo>
                      <a:pt x="64" y="94"/>
                      <a:pt x="94" y="63"/>
                      <a:pt x="131" y="42"/>
                    </a:cubicBezTo>
                    <a:cubicBezTo>
                      <a:pt x="168" y="21"/>
                      <a:pt x="210" y="9"/>
                      <a:pt x="253" y="9"/>
                    </a:cubicBezTo>
                    <a:lnTo>
                      <a:pt x="2302" y="10"/>
                    </a:lnTo>
                    <a:lnTo>
                      <a:pt x="2302" y="10"/>
                    </a:lnTo>
                    <a:cubicBezTo>
                      <a:pt x="2344" y="10"/>
                      <a:pt x="2386" y="21"/>
                      <a:pt x="2423" y="42"/>
                    </a:cubicBezTo>
                    <a:cubicBezTo>
                      <a:pt x="2460" y="64"/>
                      <a:pt x="2490" y="94"/>
                      <a:pt x="2511" y="131"/>
                    </a:cubicBezTo>
                    <a:cubicBezTo>
                      <a:pt x="2533" y="168"/>
                      <a:pt x="2544" y="210"/>
                      <a:pt x="2544" y="253"/>
                    </a:cubicBezTo>
                    <a:lnTo>
                      <a:pt x="2544" y="253"/>
                    </a:lnTo>
                    <a:lnTo>
                      <a:pt x="2544" y="1222"/>
                    </a:lnTo>
                    <a:lnTo>
                      <a:pt x="2544" y="1222"/>
                    </a:lnTo>
                    <a:cubicBezTo>
                      <a:pt x="2544" y="1264"/>
                      <a:pt x="2533" y="1306"/>
                      <a:pt x="2512" y="1343"/>
                    </a:cubicBezTo>
                    <a:cubicBezTo>
                      <a:pt x="2490" y="1380"/>
                      <a:pt x="2460" y="1410"/>
                      <a:pt x="2423" y="1431"/>
                    </a:cubicBezTo>
                    <a:cubicBezTo>
                      <a:pt x="2386" y="1453"/>
                      <a:pt x="2345" y="1464"/>
                      <a:pt x="2302" y="1464"/>
                    </a:cubicBezTo>
                    <a:lnTo>
                      <a:pt x="252" y="1464"/>
                    </a:lnTo>
                    <a:lnTo>
                      <a:pt x="252" y="1464"/>
                    </a:lnTo>
                    <a:cubicBezTo>
                      <a:pt x="210" y="1464"/>
                      <a:pt x="168" y="1453"/>
                      <a:pt x="131" y="1432"/>
                    </a:cubicBezTo>
                    <a:cubicBezTo>
                      <a:pt x="94" y="1410"/>
                      <a:pt x="63" y="1380"/>
                      <a:pt x="42" y="1343"/>
                    </a:cubicBezTo>
                    <a:cubicBezTo>
                      <a:pt x="21" y="1306"/>
                      <a:pt x="9" y="1265"/>
                      <a:pt x="9" y="1222"/>
                    </a:cubicBezTo>
                    <a:lnTo>
                      <a:pt x="10" y="252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D3DEE9"/>
                </a:solidFill>
                <a:prstDash val="solid"/>
                <a:miter lim="38637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path 44"/>
              <p:cNvSpPr/>
              <p:nvPr/>
            </p:nvSpPr>
            <p:spPr>
              <a:xfrm>
                <a:off x="3572460" y="6300"/>
                <a:ext cx="1609560" cy="923759"/>
              </a:xfrm>
              <a:custGeom>
                <a:avLst/>
                <a:gdLst/>
                <a:ahLst/>
                <a:cxnLst/>
                <a:rect l="0" t="0" r="0" b="0"/>
                <a:pathLst>
                  <a:path w="2534" h="1454">
                    <a:moveTo>
                      <a:pt x="0" y="242"/>
                    </a:moveTo>
                    <a:lnTo>
                      <a:pt x="0" y="242"/>
                    </a:lnTo>
                    <a:cubicBezTo>
                      <a:pt x="0" y="200"/>
                      <a:pt x="11" y="158"/>
                      <a:pt x="32" y="121"/>
                    </a:cubicBezTo>
                    <a:cubicBezTo>
                      <a:pt x="54" y="84"/>
                      <a:pt x="85" y="53"/>
                      <a:pt x="121" y="32"/>
                    </a:cubicBezTo>
                    <a:cubicBezTo>
                      <a:pt x="158" y="11"/>
                      <a:pt x="200" y="0"/>
                      <a:pt x="243" y="0"/>
                    </a:cubicBezTo>
                    <a:lnTo>
                      <a:pt x="2292" y="0"/>
                    </a:lnTo>
                    <a:lnTo>
                      <a:pt x="2292" y="0"/>
                    </a:lnTo>
                    <a:cubicBezTo>
                      <a:pt x="2334" y="0"/>
                      <a:pt x="2376" y="11"/>
                      <a:pt x="2413" y="32"/>
                    </a:cubicBezTo>
                    <a:cubicBezTo>
                      <a:pt x="2450" y="54"/>
                      <a:pt x="2480" y="85"/>
                      <a:pt x="2501" y="121"/>
                    </a:cubicBezTo>
                    <a:cubicBezTo>
                      <a:pt x="2523" y="158"/>
                      <a:pt x="2534" y="200"/>
                      <a:pt x="2534" y="243"/>
                    </a:cubicBezTo>
                    <a:lnTo>
                      <a:pt x="2534" y="243"/>
                    </a:lnTo>
                    <a:lnTo>
                      <a:pt x="2534" y="1212"/>
                    </a:lnTo>
                    <a:lnTo>
                      <a:pt x="2534" y="1212"/>
                    </a:lnTo>
                    <a:cubicBezTo>
                      <a:pt x="2534" y="1254"/>
                      <a:pt x="2523" y="1296"/>
                      <a:pt x="2502" y="1333"/>
                    </a:cubicBezTo>
                    <a:cubicBezTo>
                      <a:pt x="2480" y="1370"/>
                      <a:pt x="2450" y="1400"/>
                      <a:pt x="2413" y="1421"/>
                    </a:cubicBezTo>
                    <a:cubicBezTo>
                      <a:pt x="2376" y="1443"/>
                      <a:pt x="2335" y="1454"/>
                      <a:pt x="2292" y="1454"/>
                    </a:cubicBezTo>
                    <a:lnTo>
                      <a:pt x="242" y="1454"/>
                    </a:lnTo>
                    <a:lnTo>
                      <a:pt x="242" y="1454"/>
                    </a:lnTo>
                    <a:cubicBezTo>
                      <a:pt x="200" y="1454"/>
                      <a:pt x="158" y="1443"/>
                      <a:pt x="121" y="1422"/>
                    </a:cubicBezTo>
                    <a:cubicBezTo>
                      <a:pt x="84" y="1400"/>
                      <a:pt x="53" y="1370"/>
                      <a:pt x="32" y="1333"/>
                    </a:cubicBezTo>
                    <a:cubicBezTo>
                      <a:pt x="11" y="1296"/>
                      <a:pt x="0" y="1255"/>
                      <a:pt x="0" y="1212"/>
                    </a:cubicBezTo>
                    <a:lnTo>
                      <a:pt x="0" y="242"/>
                    </a:lnTo>
                    <a:close/>
                  </a:path>
                </a:pathLst>
              </a:custGeom>
              <a:solidFill>
                <a:srgbClr val="EFF5F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path 46"/>
              <p:cNvSpPr/>
              <p:nvPr/>
            </p:nvSpPr>
            <p:spPr>
              <a:xfrm>
                <a:off x="3566160" y="0"/>
                <a:ext cx="1622159" cy="936359"/>
              </a:xfrm>
              <a:custGeom>
                <a:avLst/>
                <a:gdLst/>
                <a:ahLst/>
                <a:cxnLst/>
                <a:rect l="0" t="0" r="0" b="0"/>
                <a:pathLst>
                  <a:path w="2554" h="1474">
                    <a:moveTo>
                      <a:pt x="10" y="252"/>
                    </a:moveTo>
                    <a:lnTo>
                      <a:pt x="10" y="252"/>
                    </a:lnTo>
                    <a:cubicBezTo>
                      <a:pt x="10" y="210"/>
                      <a:pt x="21" y="168"/>
                      <a:pt x="42" y="131"/>
                    </a:cubicBezTo>
                    <a:cubicBezTo>
                      <a:pt x="64" y="94"/>
                      <a:pt x="94" y="63"/>
                      <a:pt x="131" y="42"/>
                    </a:cubicBezTo>
                    <a:cubicBezTo>
                      <a:pt x="168" y="21"/>
                      <a:pt x="210" y="9"/>
                      <a:pt x="253" y="9"/>
                    </a:cubicBezTo>
                    <a:lnTo>
                      <a:pt x="2302" y="10"/>
                    </a:lnTo>
                    <a:lnTo>
                      <a:pt x="2302" y="10"/>
                    </a:lnTo>
                    <a:cubicBezTo>
                      <a:pt x="2344" y="10"/>
                      <a:pt x="2386" y="21"/>
                      <a:pt x="2423" y="42"/>
                    </a:cubicBezTo>
                    <a:cubicBezTo>
                      <a:pt x="2460" y="64"/>
                      <a:pt x="2490" y="94"/>
                      <a:pt x="2511" y="131"/>
                    </a:cubicBezTo>
                    <a:cubicBezTo>
                      <a:pt x="2533" y="168"/>
                      <a:pt x="2544" y="210"/>
                      <a:pt x="2544" y="253"/>
                    </a:cubicBezTo>
                    <a:lnTo>
                      <a:pt x="2544" y="253"/>
                    </a:lnTo>
                    <a:lnTo>
                      <a:pt x="2544" y="1222"/>
                    </a:lnTo>
                    <a:lnTo>
                      <a:pt x="2544" y="1222"/>
                    </a:lnTo>
                    <a:cubicBezTo>
                      <a:pt x="2544" y="1264"/>
                      <a:pt x="2533" y="1306"/>
                      <a:pt x="2512" y="1343"/>
                    </a:cubicBezTo>
                    <a:cubicBezTo>
                      <a:pt x="2490" y="1380"/>
                      <a:pt x="2460" y="1410"/>
                      <a:pt x="2423" y="1431"/>
                    </a:cubicBezTo>
                    <a:cubicBezTo>
                      <a:pt x="2386" y="1453"/>
                      <a:pt x="2345" y="1464"/>
                      <a:pt x="2302" y="1464"/>
                    </a:cubicBezTo>
                    <a:lnTo>
                      <a:pt x="252" y="1464"/>
                    </a:lnTo>
                    <a:lnTo>
                      <a:pt x="252" y="1464"/>
                    </a:lnTo>
                    <a:cubicBezTo>
                      <a:pt x="210" y="1464"/>
                      <a:pt x="168" y="1453"/>
                      <a:pt x="131" y="1432"/>
                    </a:cubicBezTo>
                    <a:cubicBezTo>
                      <a:pt x="94" y="1410"/>
                      <a:pt x="63" y="1380"/>
                      <a:pt x="42" y="1343"/>
                    </a:cubicBezTo>
                    <a:cubicBezTo>
                      <a:pt x="21" y="1306"/>
                      <a:pt x="9" y="1265"/>
                      <a:pt x="9" y="1222"/>
                    </a:cubicBezTo>
                    <a:lnTo>
                      <a:pt x="10" y="252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D3DEE9"/>
                </a:solidFill>
                <a:prstDash val="solid"/>
                <a:miter lim="38637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path 48"/>
              <p:cNvSpPr/>
              <p:nvPr/>
            </p:nvSpPr>
            <p:spPr>
              <a:xfrm>
                <a:off x="5355540" y="6300"/>
                <a:ext cx="1609559" cy="923759"/>
              </a:xfrm>
              <a:custGeom>
                <a:avLst/>
                <a:gdLst/>
                <a:ahLst/>
                <a:cxnLst/>
                <a:rect l="0" t="0" r="0" b="0"/>
                <a:pathLst>
                  <a:path w="2534" h="1454">
                    <a:moveTo>
                      <a:pt x="0" y="242"/>
                    </a:moveTo>
                    <a:lnTo>
                      <a:pt x="0" y="242"/>
                    </a:lnTo>
                    <a:cubicBezTo>
                      <a:pt x="0" y="200"/>
                      <a:pt x="11" y="158"/>
                      <a:pt x="32" y="121"/>
                    </a:cubicBezTo>
                    <a:cubicBezTo>
                      <a:pt x="54" y="84"/>
                      <a:pt x="85" y="53"/>
                      <a:pt x="121" y="32"/>
                    </a:cubicBezTo>
                    <a:cubicBezTo>
                      <a:pt x="158" y="11"/>
                      <a:pt x="200" y="0"/>
                      <a:pt x="243" y="0"/>
                    </a:cubicBezTo>
                    <a:lnTo>
                      <a:pt x="2292" y="0"/>
                    </a:lnTo>
                    <a:lnTo>
                      <a:pt x="2292" y="0"/>
                    </a:lnTo>
                    <a:cubicBezTo>
                      <a:pt x="2334" y="0"/>
                      <a:pt x="2376" y="11"/>
                      <a:pt x="2413" y="32"/>
                    </a:cubicBezTo>
                    <a:cubicBezTo>
                      <a:pt x="2450" y="54"/>
                      <a:pt x="2480" y="85"/>
                      <a:pt x="2501" y="121"/>
                    </a:cubicBezTo>
                    <a:cubicBezTo>
                      <a:pt x="2523" y="158"/>
                      <a:pt x="2534" y="200"/>
                      <a:pt x="2534" y="243"/>
                    </a:cubicBezTo>
                    <a:lnTo>
                      <a:pt x="2534" y="243"/>
                    </a:lnTo>
                    <a:lnTo>
                      <a:pt x="2534" y="1212"/>
                    </a:lnTo>
                    <a:lnTo>
                      <a:pt x="2534" y="1212"/>
                    </a:lnTo>
                    <a:cubicBezTo>
                      <a:pt x="2534" y="1254"/>
                      <a:pt x="2523" y="1296"/>
                      <a:pt x="2502" y="1333"/>
                    </a:cubicBezTo>
                    <a:cubicBezTo>
                      <a:pt x="2480" y="1370"/>
                      <a:pt x="2450" y="1400"/>
                      <a:pt x="2413" y="1421"/>
                    </a:cubicBezTo>
                    <a:cubicBezTo>
                      <a:pt x="2376" y="1443"/>
                      <a:pt x="2335" y="1454"/>
                      <a:pt x="2292" y="1454"/>
                    </a:cubicBezTo>
                    <a:lnTo>
                      <a:pt x="242" y="1454"/>
                    </a:lnTo>
                    <a:lnTo>
                      <a:pt x="242" y="1454"/>
                    </a:lnTo>
                    <a:cubicBezTo>
                      <a:pt x="200" y="1454"/>
                      <a:pt x="158" y="1443"/>
                      <a:pt x="121" y="1422"/>
                    </a:cubicBezTo>
                    <a:cubicBezTo>
                      <a:pt x="84" y="1400"/>
                      <a:pt x="53" y="1370"/>
                      <a:pt x="32" y="1333"/>
                    </a:cubicBezTo>
                    <a:cubicBezTo>
                      <a:pt x="11" y="1296"/>
                      <a:pt x="0" y="1255"/>
                      <a:pt x="0" y="1212"/>
                    </a:cubicBezTo>
                    <a:lnTo>
                      <a:pt x="0" y="242"/>
                    </a:lnTo>
                    <a:close/>
                  </a:path>
                </a:pathLst>
              </a:custGeom>
              <a:solidFill>
                <a:srgbClr val="EFF5F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path 50"/>
              <p:cNvSpPr/>
              <p:nvPr/>
            </p:nvSpPr>
            <p:spPr>
              <a:xfrm>
                <a:off x="5349240" y="0"/>
                <a:ext cx="1622159" cy="936359"/>
              </a:xfrm>
              <a:custGeom>
                <a:avLst/>
                <a:gdLst/>
                <a:ahLst/>
                <a:cxnLst/>
                <a:rect l="0" t="0" r="0" b="0"/>
                <a:pathLst>
                  <a:path w="2554" h="1474">
                    <a:moveTo>
                      <a:pt x="10" y="252"/>
                    </a:moveTo>
                    <a:lnTo>
                      <a:pt x="10" y="252"/>
                    </a:lnTo>
                    <a:cubicBezTo>
                      <a:pt x="10" y="210"/>
                      <a:pt x="21" y="168"/>
                      <a:pt x="42" y="131"/>
                    </a:cubicBezTo>
                    <a:cubicBezTo>
                      <a:pt x="64" y="94"/>
                      <a:pt x="94" y="63"/>
                      <a:pt x="131" y="42"/>
                    </a:cubicBezTo>
                    <a:cubicBezTo>
                      <a:pt x="168" y="21"/>
                      <a:pt x="210" y="9"/>
                      <a:pt x="253" y="9"/>
                    </a:cubicBezTo>
                    <a:lnTo>
                      <a:pt x="2302" y="10"/>
                    </a:lnTo>
                    <a:lnTo>
                      <a:pt x="2302" y="10"/>
                    </a:lnTo>
                    <a:cubicBezTo>
                      <a:pt x="2344" y="10"/>
                      <a:pt x="2386" y="21"/>
                      <a:pt x="2423" y="42"/>
                    </a:cubicBezTo>
                    <a:cubicBezTo>
                      <a:pt x="2460" y="64"/>
                      <a:pt x="2490" y="94"/>
                      <a:pt x="2511" y="131"/>
                    </a:cubicBezTo>
                    <a:cubicBezTo>
                      <a:pt x="2533" y="168"/>
                      <a:pt x="2544" y="210"/>
                      <a:pt x="2544" y="253"/>
                    </a:cubicBezTo>
                    <a:lnTo>
                      <a:pt x="2544" y="253"/>
                    </a:lnTo>
                    <a:lnTo>
                      <a:pt x="2544" y="1222"/>
                    </a:lnTo>
                    <a:lnTo>
                      <a:pt x="2544" y="1222"/>
                    </a:lnTo>
                    <a:cubicBezTo>
                      <a:pt x="2544" y="1264"/>
                      <a:pt x="2533" y="1306"/>
                      <a:pt x="2512" y="1343"/>
                    </a:cubicBezTo>
                    <a:cubicBezTo>
                      <a:pt x="2490" y="1380"/>
                      <a:pt x="2460" y="1410"/>
                      <a:pt x="2423" y="1431"/>
                    </a:cubicBezTo>
                    <a:cubicBezTo>
                      <a:pt x="2386" y="1453"/>
                      <a:pt x="2345" y="1464"/>
                      <a:pt x="2302" y="1464"/>
                    </a:cubicBezTo>
                    <a:lnTo>
                      <a:pt x="252" y="1464"/>
                    </a:lnTo>
                    <a:lnTo>
                      <a:pt x="252" y="1464"/>
                    </a:lnTo>
                    <a:cubicBezTo>
                      <a:pt x="210" y="1464"/>
                      <a:pt x="168" y="1453"/>
                      <a:pt x="131" y="1432"/>
                    </a:cubicBezTo>
                    <a:cubicBezTo>
                      <a:pt x="94" y="1410"/>
                      <a:pt x="63" y="1380"/>
                      <a:pt x="42" y="1343"/>
                    </a:cubicBezTo>
                    <a:cubicBezTo>
                      <a:pt x="21" y="1306"/>
                      <a:pt x="9" y="1265"/>
                      <a:pt x="9" y="1222"/>
                    </a:cubicBezTo>
                    <a:lnTo>
                      <a:pt x="10" y="252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D3DEE9"/>
                </a:solidFill>
                <a:prstDash val="solid"/>
                <a:miter lim="38637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textbox 52"/>
            <p:cNvSpPr/>
            <p:nvPr/>
          </p:nvSpPr>
          <p:spPr>
            <a:xfrm>
              <a:off x="3664648" y="109403"/>
              <a:ext cx="1420494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7334" algn="l" rtl="0" eaLnBrk="0">
                <a:lnSpc>
                  <a:spcPct val="87000"/>
                </a:lnSpc>
                <a:tabLst/>
              </a:pPr>
              <a:r>
                <a:rPr sz="1400" b="1" kern="0" spc="-2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1400" b="1" kern="0" spc="36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-20" dirty="0">
                  <a:solidFill>
                    <a:srgbClr val="235C9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局部积涝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7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1000" kern="0" spc="90" dirty="0">
                  <a:solidFill>
                    <a:srgbClr val="5E6A7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错误放流可能转移风险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4" name="textbox 54"/>
            <p:cNvSpPr/>
            <p:nvPr/>
          </p:nvSpPr>
          <p:spPr>
            <a:xfrm>
              <a:off x="5587758" y="109403"/>
              <a:ext cx="1140460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71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3825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1400" b="1" kern="0" spc="34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-10" dirty="0">
                  <a:solidFill>
                    <a:srgbClr val="235C9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控制延迟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79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1000" kern="0" spc="90" dirty="0">
                  <a:solidFill>
                    <a:srgbClr val="5E6A7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错失有效干预时机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6" name="textbox 56"/>
            <p:cNvSpPr/>
            <p:nvPr/>
          </p:nvSpPr>
          <p:spPr>
            <a:xfrm>
              <a:off x="2092503" y="109403"/>
              <a:ext cx="999489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1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6514" algn="l" rtl="0" eaLnBrk="0">
                <a:lnSpc>
                  <a:spcPct val="87000"/>
                </a:lnSpc>
                <a:tabLst/>
              </a:pPr>
              <a:r>
                <a:rPr sz="1400" b="1" kern="0" spc="-2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1400" b="1" kern="0" spc="36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-20" dirty="0">
                  <a:solidFill>
                    <a:srgbClr val="235C9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管网充满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spcBef>
                  <a:spcPts val="5"/>
                </a:spcBef>
                <a:tabLst/>
              </a:pPr>
              <a:r>
                <a:rPr sz="1000" kern="0" spc="90" dirty="0">
                  <a:solidFill>
                    <a:srgbClr val="5E6A7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输送与调蓄紧张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378777" y="109403"/>
              <a:ext cx="860425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71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0010" algn="l" rtl="0" eaLnBrk="0">
                <a:lnSpc>
                  <a:spcPct val="87000"/>
                </a:lnSpc>
                <a:tabLst/>
              </a:pPr>
              <a:r>
                <a:rPr sz="1400" b="1" kern="0" spc="-3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1400" b="1" kern="0" spc="350" dirty="0">
                  <a:solidFill>
                    <a:srgbClr val="235C95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-30" dirty="0">
                  <a:solidFill>
                    <a:srgbClr val="235C9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强降雨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79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1000" kern="0" spc="90" dirty="0">
                  <a:solidFill>
                    <a:srgbClr val="5E6A7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径流迅速汇集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0" name="textbox 60"/>
            <p:cNvSpPr/>
            <p:nvPr/>
          </p:nvSpPr>
          <p:spPr>
            <a:xfrm>
              <a:off x="1611141" y="330564"/>
              <a:ext cx="194310" cy="153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008"/>
                </a:lnSpc>
                <a:tabLst/>
              </a:pPr>
              <a:r>
                <a:rPr sz="1400" b="1" kern="0" spc="-90" dirty="0">
                  <a:solidFill>
                    <a:srgbClr val="235C9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2" name="textbox 62"/>
            <p:cNvSpPr/>
            <p:nvPr/>
          </p:nvSpPr>
          <p:spPr>
            <a:xfrm>
              <a:off x="3394222" y="330564"/>
              <a:ext cx="194310" cy="153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008"/>
                </a:lnSpc>
                <a:tabLst/>
              </a:pPr>
              <a:r>
                <a:rPr sz="1400" b="1" kern="0" spc="-90" dirty="0">
                  <a:solidFill>
                    <a:srgbClr val="235C9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4" name="textbox 64"/>
            <p:cNvSpPr/>
            <p:nvPr/>
          </p:nvSpPr>
          <p:spPr>
            <a:xfrm>
              <a:off x="5177302" y="330564"/>
              <a:ext cx="194310" cy="153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008"/>
                </a:lnSpc>
                <a:tabLst/>
              </a:pPr>
              <a:r>
                <a:rPr sz="1400" b="1" kern="0" spc="-90" dirty="0">
                  <a:solidFill>
                    <a:srgbClr val="235C95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66" name="textbox 66"/>
          <p:cNvSpPr/>
          <p:nvPr/>
        </p:nvSpPr>
        <p:spPr>
          <a:xfrm>
            <a:off x="6860336" y="3879900"/>
            <a:ext cx="2244089" cy="1466850"/>
          </a:xfrm>
          <a:prstGeom prst="rect">
            <a:avLst/>
          </a:prstGeom>
          <a:solidFill>
            <a:srgbClr val="EDF3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315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235C9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模型预测控制</a:t>
            </a:r>
            <a:r>
              <a:rPr sz="1400" b="1" kern="0" spc="410" dirty="0">
                <a:solidFill>
                  <a:srgbClr val="235C9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MPC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93000"/>
              </a:lnSpc>
              <a:spcBef>
                <a:spcPts val="307"/>
              </a:spcBef>
              <a:tabLst/>
            </a:pPr>
            <a:r>
              <a:rPr sz="1000" kern="0" spc="7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优势：</a:t>
            </a:r>
            <a:r>
              <a:rPr sz="1000" kern="0" spc="-7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可协调多设施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5414" algn="l" rtl="0" eaLnBrk="0">
              <a:lnSpc>
                <a:spcPct val="93000"/>
              </a:lnSpc>
              <a:tabLst/>
            </a:pPr>
            <a:r>
              <a:rPr sz="1000" kern="0" spc="8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瓶颈：</a:t>
            </a:r>
            <a:r>
              <a:rPr sz="1000" kern="0" spc="-8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8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大网络在线搜索开销高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9247136" y="3879900"/>
            <a:ext cx="2244089" cy="1466850"/>
          </a:xfrm>
          <a:prstGeom prst="rect">
            <a:avLst/>
          </a:prstGeom>
          <a:solidFill>
            <a:srgbClr val="EFF5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007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400" b="1" kern="0" spc="-10" dirty="0">
                <a:solidFill>
                  <a:srgbClr val="235C9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数据驱动控制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93000"/>
              </a:lnSpc>
              <a:spcBef>
                <a:spcPts val="303"/>
              </a:spcBef>
              <a:tabLst/>
            </a:pPr>
            <a:r>
              <a:rPr sz="1000" kern="0" spc="7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优势：</a:t>
            </a:r>
            <a:r>
              <a:rPr sz="1000" kern="0" spc="-10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推理速度快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5414" algn="l" rtl="0" eaLnBrk="0">
              <a:lnSpc>
                <a:spcPct val="93000"/>
              </a:lnSpc>
              <a:tabLst/>
            </a:pPr>
            <a:r>
              <a:rPr sz="1000" kern="0" spc="9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瓶颈：</a:t>
            </a:r>
            <a:r>
              <a:rPr sz="1000" kern="0" spc="-17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9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稀疏监测和超训练</a:t>
            </a:r>
            <a:r>
              <a:rPr sz="1000" kern="0" spc="8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域风险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4473904" y="3879900"/>
            <a:ext cx="2244089" cy="1466850"/>
          </a:xfrm>
          <a:prstGeom prst="rect">
            <a:avLst/>
          </a:prstGeom>
          <a:solidFill>
            <a:srgbClr val="E9F0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1975" algn="l" rtl="0" eaLnBrk="0">
              <a:lnSpc>
                <a:spcPct val="87000"/>
              </a:lnSpc>
              <a:tabLst/>
            </a:pPr>
            <a:r>
              <a:rPr sz="1400" b="1" kern="0" spc="-50" dirty="0">
                <a:solidFill>
                  <a:srgbClr val="235C9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规则控制</a:t>
            </a:r>
            <a:r>
              <a:rPr sz="1400" b="1" kern="0" spc="390" dirty="0">
                <a:solidFill>
                  <a:srgbClr val="235C9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RBC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93000"/>
              </a:lnSpc>
              <a:spcBef>
                <a:spcPts val="307"/>
              </a:spcBef>
              <a:tabLst/>
            </a:pPr>
            <a:r>
              <a:rPr sz="1000" kern="0" spc="7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优势：</a:t>
            </a:r>
            <a:r>
              <a:rPr sz="1000" kern="0" spc="-10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22909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透明、快速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4779" indent="635" algn="l" rtl="0" eaLnBrk="0">
              <a:lnSpc>
                <a:spcPct val="107000"/>
              </a:lnSpc>
              <a:tabLst/>
            </a:pPr>
            <a:r>
              <a:rPr sz="1000" kern="0" spc="8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瓶颈：</a:t>
            </a:r>
            <a:r>
              <a:rPr sz="1000" kern="0" spc="-6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8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固定阈值难处理跨设施耦</a:t>
            </a:r>
            <a:r>
              <a:rPr sz="1000" kern="0" spc="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315675" y="3410635"/>
            <a:ext cx="7433944" cy="347345"/>
          </a:xfrm>
          <a:prstGeom prst="rect">
            <a:avLst/>
          </a:prstGeom>
          <a:solidFill>
            <a:srgbClr val="235C9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1604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为什么现有方法仍有不足？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603364" y="3254755"/>
            <a:ext cx="3300729" cy="521334"/>
          </a:xfrm>
          <a:prstGeom prst="rect">
            <a:avLst/>
          </a:prstGeom>
          <a:solidFill>
            <a:srgbClr val="EFF5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4629" algn="l" rtl="0" eaLnBrk="0">
              <a:lnSpc>
                <a:spcPct val="68000"/>
              </a:lnSpc>
              <a:spcBef>
                <a:spcPts val="5"/>
              </a:spcBef>
              <a:tabLst/>
            </a:pPr>
            <a:r>
              <a:rPr sz="3000" b="1" kern="0" spc="40" baseline="-5208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89</a:t>
            </a:r>
            <a:r>
              <a:rPr sz="1900" b="1" kern="0" spc="4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40" baseline="-5208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900" b="1" kern="0" spc="4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40" baseline="-5208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9.55%</a:t>
            </a:r>
            <a:r>
              <a:rPr sz="1900" b="1" kern="0" spc="10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baseline="11575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监测节点</a:t>
            </a:r>
            <a:r>
              <a:rPr sz="1100" kern="0" spc="240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40" baseline="11575" dirty="0">
                <a:solidFill>
                  <a:srgbClr val="5E6A7C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100" kern="0" spc="40" dirty="0">
                <a:solidFill>
                  <a:srgbClr val="5E6A7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40" baseline="11575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覆</a:t>
            </a:r>
            <a:r>
              <a:rPr sz="1800" kern="0" spc="30" baseline="11575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盖率</a:t>
            </a:r>
            <a:endParaRPr sz="1800" baseline="11575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603364" y="2587319"/>
            <a:ext cx="3300729" cy="521334"/>
          </a:xfrm>
          <a:prstGeom prst="rect">
            <a:avLst/>
          </a:prstGeom>
          <a:solidFill>
            <a:srgbClr val="EFF5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0345" algn="l" rtl="0" eaLnBrk="0">
              <a:lnSpc>
                <a:spcPct val="75000"/>
              </a:lnSpc>
              <a:tabLst/>
            </a:pPr>
            <a:r>
              <a:rPr sz="3000" b="1" kern="0" spc="20" baseline="-3472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1,167</a:t>
            </a:r>
            <a:r>
              <a:rPr sz="1900" b="1" kern="0" spc="3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900" b="1" kern="0" spc="2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20" baseline="14468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连接管渠</a:t>
            </a:r>
            <a:endParaRPr sz="1800" baseline="14468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603364" y="3922559"/>
            <a:ext cx="3300729" cy="521334"/>
          </a:xfrm>
          <a:prstGeom prst="rect">
            <a:avLst/>
          </a:prstGeom>
          <a:solidFill>
            <a:srgbClr val="EFF5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9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4629" algn="l" rtl="0" eaLnBrk="0">
              <a:lnSpc>
                <a:spcPts val="1519"/>
              </a:lnSpc>
              <a:tabLst/>
            </a:pPr>
            <a:r>
              <a:rPr sz="3000" b="1" kern="0" spc="10" baseline="-8071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82</a:t>
            </a:r>
            <a:r>
              <a:rPr sz="1900" b="1" kern="0" spc="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1800" kern="0" spc="10" baseline="6804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控制通道</a:t>
            </a:r>
            <a:endParaRPr sz="1800" baseline="6804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03364" y="1919884"/>
            <a:ext cx="3300729" cy="521334"/>
          </a:xfrm>
          <a:prstGeom prst="rect">
            <a:avLst/>
          </a:prstGeom>
          <a:solidFill>
            <a:srgbClr val="EFF5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3995" algn="l" rtl="0" eaLnBrk="0">
              <a:lnSpc>
                <a:spcPct val="67000"/>
              </a:lnSpc>
              <a:spcBef>
                <a:spcPts val="1"/>
              </a:spcBef>
              <a:tabLst/>
            </a:pPr>
            <a:r>
              <a:rPr sz="3000" b="1" kern="0" spc="20" baseline="-5208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932</a:t>
            </a:r>
            <a:r>
              <a:rPr sz="1900" b="1" kern="0" spc="30" dirty="0">
                <a:solidFill>
                  <a:srgbClr val="235C95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800" kern="0" spc="20" baseline="8681" dirty="0">
                <a:solidFill>
                  <a:srgbClr val="5E6A7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水力节点</a:t>
            </a:r>
            <a:endParaRPr sz="1800" baseline="8681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rect 82"/>
          <p:cNvSpPr/>
          <p:nvPr/>
        </p:nvSpPr>
        <p:spPr>
          <a:xfrm>
            <a:off x="383755" y="877316"/>
            <a:ext cx="1243088" cy="301319"/>
          </a:xfrm>
          <a:prstGeom prst="rect">
            <a:avLst/>
          </a:prstGeom>
          <a:solidFill>
            <a:srgbClr val="212B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371055" y="915482"/>
            <a:ext cx="744791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157479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800" b="1" kern="0" spc="70" baseline="2893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核心矛盾</a:t>
            </a:r>
            <a:r>
              <a:rPr sz="11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500" b="1" kern="0" spc="7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有限观测、短决策窗口与强耦合设</a:t>
            </a:r>
            <a:r>
              <a:rPr sz="1500" b="1" kern="0" spc="6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施，</a:t>
            </a:r>
            <a:r>
              <a:rPr sz="1500" b="1" kern="0" spc="-30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212B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要求控制器快速做出可靠判断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67820" y="2141465"/>
          <a:ext cx="11233784" cy="1888489"/>
        </p:xfrm>
        <a:graphic>
          <a:graphicData uri="http://schemas.openxmlformats.org/drawingml/2006/table">
            <a:tbl>
              <a:tblPr/>
              <a:tblGrid>
                <a:gridCol w="2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884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E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4"/>
          <p:cNvSpPr/>
          <p:nvPr/>
        </p:nvSpPr>
        <p:spPr>
          <a:xfrm>
            <a:off x="457126" y="969780"/>
            <a:ext cx="8754744" cy="822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64"/>
              </a:lnSpc>
              <a:tabLst/>
            </a:pPr>
            <a:r>
              <a:rPr sz="2100" b="1" kern="0" spc="6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State-dependent arbitration of heterogeneous control knowledge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894" algn="l" rtl="0" eaLnBrk="0">
              <a:lnSpc>
                <a:spcPct val="88000"/>
              </a:lnSpc>
              <a:tabLst/>
            </a:pPr>
            <a:r>
              <a:rPr sz="1600" kern="0" spc="20" dirty="0">
                <a:solidFill>
                  <a:srgbClr val="69789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面向大尺度排水网络与稀疏监测场景的</a:t>
            </a:r>
            <a:r>
              <a:rPr sz="1600" kern="0" spc="10" dirty="0">
                <a:solidFill>
                  <a:srgbClr val="69789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滚动时域实时控制（</a:t>
            </a:r>
            <a:r>
              <a:rPr sz="1600" kern="0" spc="170" dirty="0">
                <a:solidFill>
                  <a:srgbClr val="69789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kern="0" spc="0" dirty="0">
                <a:solidFill>
                  <a:srgbClr val="697891">
                    <a:alpha val="100000"/>
                  </a:srgbClr>
                </a:solidFill>
                <a:latin typeface="Arial"/>
                <a:ea typeface="Arial"/>
                <a:cs typeface="Arial"/>
              </a:rPr>
              <a:t>RTC</a:t>
            </a:r>
            <a:r>
              <a:rPr sz="1600" kern="0" spc="-130" dirty="0">
                <a:solidFill>
                  <a:srgbClr val="69789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69789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0" y="12"/>
            <a:ext cx="9674276" cy="664731"/>
            <a:chOff x="0" y="0"/>
            <a:chExt cx="9674276" cy="664731"/>
          </a:xfrm>
        </p:grpSpPr>
        <p:sp>
          <p:nvSpPr>
            <p:cNvPr id="5" name="rect 6"/>
            <p:cNvSpPr/>
            <p:nvPr/>
          </p:nvSpPr>
          <p:spPr>
            <a:xfrm>
              <a:off x="0" y="0"/>
              <a:ext cx="9674276" cy="664731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" name="textbox 8"/>
            <p:cNvSpPr/>
            <p:nvPr/>
          </p:nvSpPr>
          <p:spPr>
            <a:xfrm>
              <a:off x="279688" y="154105"/>
              <a:ext cx="6854190" cy="3486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城市排水系统多源控制知识自适应仲裁与实时减涝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9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8148780" y="4317660"/>
          <a:ext cx="3580129" cy="1641475"/>
        </p:xfrm>
        <a:graphic>
          <a:graphicData uri="http://schemas.openxmlformats.org/drawingml/2006/table">
            <a:tbl>
              <a:tblPr/>
              <a:tblGrid>
                <a:gridCol w="41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200" b="1" kern="0" spc="80" dirty="0">
                          <a:solidFill>
                            <a:srgbClr val="785E9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49.2%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3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b="1" kern="0" spc="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决策选择改变设施目标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 </a:t>
                      </a:r>
                      <a:r>
                        <a:rPr sz="1000" kern="0" spc="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50.8% </a:t>
                      </a:r>
                      <a:r>
                        <a:rPr sz="1000" kern="0" spc="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保持原目标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476824" y="4317660"/>
          <a:ext cx="3580129" cy="1641475"/>
        </p:xfrm>
        <a:graphic>
          <a:graphicData uri="http://schemas.openxmlformats.org/drawingml/2006/table">
            <a:tbl>
              <a:tblPr/>
              <a:tblGrid>
                <a:gridCol w="75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5A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114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200" b="1" kern="0" spc="6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12.55%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7954" algn="l" rtl="0" eaLnBrk="0">
                        <a:lnSpc>
                          <a:spcPct val="93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b="1" kern="0" spc="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较现有静态控制减涝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304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 </a:t>
                      </a:r>
                      <a:r>
                        <a:rPr sz="10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场回顾性暴雨全部优于基准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4308300" y="4317660"/>
          <a:ext cx="3580129" cy="1641475"/>
        </p:xfrm>
        <a:graphic>
          <a:graphicData uri="http://schemas.openxmlformats.org/drawingml/2006/table">
            <a:tbl>
              <a:tblPr/>
              <a:tblGrid>
                <a:gridCol w="41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200" b="1" kern="0" spc="7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2.55%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algn="l" rtl="0" eaLnBrk="0">
                        <a:lnSpc>
                          <a:spcPct val="93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b="1" kern="0" spc="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较最强对照进一步减涝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额外避免约 </a:t>
                      </a:r>
                      <a:r>
                        <a:rPr sz="1000" kern="0" spc="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121.1 </a:t>
                      </a:r>
                      <a:r>
                        <a:rPr sz="10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  </a:t>
                      </a:r>
                      <a:r>
                        <a:rPr sz="10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m3  </a:t>
                      </a:r>
                      <a:r>
                        <a:rPr sz="10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积水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687060" y="2488504"/>
          <a:ext cx="1988820" cy="1111249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11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1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BA1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7375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稀疏感知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254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</a:t>
                      </a:r>
                      <a:r>
                        <a:rPr sz="1000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9.55% </a:t>
                      </a:r>
                      <a:r>
                        <a:rPr sz="1000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节点被监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5332504" y="2488504"/>
          <a:ext cx="1988820" cy="1111249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40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4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8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862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多源候选生成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  <a:r>
                        <a:rPr sz="1000" kern="0" spc="2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000" kern="0" spc="2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水力</a:t>
                      </a:r>
                      <a:r>
                        <a:rPr sz="1000" kern="0" spc="1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000" kern="0" spc="2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  <a:r>
                        <a:rPr sz="1000" kern="0" spc="1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000" kern="0" spc="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3009776" y="2488504"/>
          <a:ext cx="1988820" cy="1111249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294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3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65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9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全网状态重建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769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时间编码</a:t>
                      </a:r>
                      <a:r>
                        <a:rPr sz="1000" kern="0" spc="2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 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图传播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7654865" y="2488504"/>
          <a:ext cx="1988820" cy="1111249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38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2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18C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8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11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长时域价值仲裁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比较候选相对 </a:t>
                      </a: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  <a:r>
                        <a:rPr sz="1000" kern="0" spc="1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 </a:t>
                      </a: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TFV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box 28"/>
          <p:cNvSpPr/>
          <p:nvPr/>
        </p:nvSpPr>
        <p:spPr>
          <a:xfrm>
            <a:off x="10188905" y="2883064"/>
            <a:ext cx="1238250" cy="30543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778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SWMM  </a:t>
            </a: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闭环仿真验证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sp>
        <p:nvSpPr>
          <p:cNvPr id="40" name="path 40"/>
          <p:cNvSpPr/>
          <p:nvPr/>
        </p:nvSpPr>
        <p:spPr>
          <a:xfrm>
            <a:off x="694436" y="2572016"/>
            <a:ext cx="1974608" cy="12600"/>
          </a:xfrm>
          <a:custGeom>
            <a:avLst/>
            <a:gdLst/>
            <a:ahLst/>
            <a:cxnLst/>
            <a:rect l="0" t="0" r="0" b="0"/>
            <a:pathLst>
              <a:path w="3109" h="19">
                <a:moveTo>
                  <a:pt x="1555" y="9"/>
                </a:moveTo>
                <a:lnTo>
                  <a:pt x="0" y="9"/>
                </a:lnTo>
                <a:moveTo>
                  <a:pt x="3109" y="9"/>
                </a:moveTo>
                <a:lnTo>
                  <a:pt x="1555" y="9"/>
                </a:lnTo>
              </a:path>
            </a:pathLst>
          </a:custGeom>
          <a:noFill/>
          <a:ln w="12599" cap="flat">
            <a:solidFill>
              <a:srgbClr val="3BA1C6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" name="path 42"/>
          <p:cNvSpPr/>
          <p:nvPr/>
        </p:nvSpPr>
        <p:spPr>
          <a:xfrm>
            <a:off x="5339879" y="2572016"/>
            <a:ext cx="1974596" cy="12600"/>
          </a:xfrm>
          <a:custGeom>
            <a:avLst/>
            <a:gdLst/>
            <a:ahLst/>
            <a:cxnLst/>
            <a:rect l="0" t="0" r="0" b="0"/>
            <a:pathLst>
              <a:path w="3109" h="19">
                <a:moveTo>
                  <a:pt x="1555" y="9"/>
                </a:moveTo>
                <a:lnTo>
                  <a:pt x="0" y="9"/>
                </a:lnTo>
                <a:moveTo>
                  <a:pt x="3109" y="9"/>
                </a:moveTo>
                <a:lnTo>
                  <a:pt x="1555" y="9"/>
                </a:lnTo>
              </a:path>
            </a:pathLst>
          </a:custGeom>
          <a:noFill/>
          <a:ln w="12599" cap="flat">
            <a:solidFill>
              <a:srgbClr val="785E9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path 44"/>
          <p:cNvSpPr/>
          <p:nvPr/>
        </p:nvSpPr>
        <p:spPr>
          <a:xfrm>
            <a:off x="3017164" y="2572016"/>
            <a:ext cx="1974595" cy="12600"/>
          </a:xfrm>
          <a:custGeom>
            <a:avLst/>
            <a:gdLst/>
            <a:ahLst/>
            <a:cxnLst/>
            <a:rect l="0" t="0" r="0" b="0"/>
            <a:pathLst>
              <a:path w="3109" h="19">
                <a:moveTo>
                  <a:pt x="1555" y="9"/>
                </a:moveTo>
                <a:lnTo>
                  <a:pt x="0" y="9"/>
                </a:lnTo>
                <a:moveTo>
                  <a:pt x="3109" y="9"/>
                </a:moveTo>
                <a:lnTo>
                  <a:pt x="1555" y="9"/>
                </a:lnTo>
              </a:path>
            </a:pathLst>
          </a:custGeom>
          <a:noFill/>
          <a:ln w="12599" cap="flat">
            <a:solidFill>
              <a:srgbClr val="2365A3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path 46"/>
          <p:cNvSpPr/>
          <p:nvPr/>
        </p:nvSpPr>
        <p:spPr>
          <a:xfrm>
            <a:off x="7662240" y="2572016"/>
            <a:ext cx="1974595" cy="12600"/>
          </a:xfrm>
          <a:custGeom>
            <a:avLst/>
            <a:gdLst/>
            <a:ahLst/>
            <a:cxnLst/>
            <a:rect l="0" t="0" r="0" b="0"/>
            <a:pathLst>
              <a:path w="3109" h="19">
                <a:moveTo>
                  <a:pt x="1555" y="9"/>
                </a:moveTo>
                <a:lnTo>
                  <a:pt x="0" y="9"/>
                </a:lnTo>
                <a:moveTo>
                  <a:pt x="3109" y="9"/>
                </a:moveTo>
                <a:lnTo>
                  <a:pt x="1555" y="9"/>
                </a:lnTo>
              </a:path>
            </a:pathLst>
          </a:custGeom>
          <a:noFill/>
          <a:ln w="12599" cap="flat">
            <a:solidFill>
              <a:srgbClr val="218C9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7351530" y="3003118"/>
            <a:ext cx="255985" cy="84239"/>
            <a:chOff x="0" y="0"/>
            <a:chExt cx="255985" cy="84239"/>
          </a:xfrm>
        </p:grpSpPr>
        <p:sp>
          <p:nvSpPr>
            <p:cNvPr id="48" name="path 48"/>
            <p:cNvSpPr/>
            <p:nvPr/>
          </p:nvSpPr>
          <p:spPr>
            <a:xfrm>
              <a:off x="0" y="27717"/>
              <a:ext cx="177541" cy="28448"/>
            </a:xfrm>
            <a:custGeom>
              <a:avLst/>
              <a:gdLst/>
              <a:ahLst/>
              <a:cxnLst/>
              <a:rect l="0" t="0" r="0" b="0"/>
              <a:pathLst>
                <a:path w="279" h="44">
                  <a:moveTo>
                    <a:pt x="0" y="22"/>
                  </a:moveTo>
                  <a:lnTo>
                    <a:pt x="279" y="22"/>
                  </a:lnTo>
                </a:path>
              </a:pathLst>
            </a:custGeom>
            <a:noFill/>
            <a:ln w="2807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" name="path 50"/>
            <p:cNvSpPr/>
            <p:nvPr/>
          </p:nvSpPr>
          <p:spPr>
            <a:xfrm>
              <a:off x="171746" y="0"/>
              <a:ext cx="84239" cy="84239"/>
            </a:xfrm>
            <a:custGeom>
              <a:avLst/>
              <a:gdLst/>
              <a:ahLst/>
              <a:cxnLst/>
              <a:rect l="0" t="0" r="0" b="0"/>
              <a:pathLst>
                <a:path w="132" h="132">
                  <a:moveTo>
                    <a:pt x="132" y="66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132" y="66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2706455" y="3003118"/>
            <a:ext cx="255984" cy="84239"/>
            <a:chOff x="0" y="0"/>
            <a:chExt cx="255984" cy="84239"/>
          </a:xfrm>
        </p:grpSpPr>
        <p:sp>
          <p:nvSpPr>
            <p:cNvPr id="52" name="path 52"/>
            <p:cNvSpPr/>
            <p:nvPr/>
          </p:nvSpPr>
          <p:spPr>
            <a:xfrm>
              <a:off x="0" y="27717"/>
              <a:ext cx="177527" cy="28448"/>
            </a:xfrm>
            <a:custGeom>
              <a:avLst/>
              <a:gdLst/>
              <a:ahLst/>
              <a:cxnLst/>
              <a:rect l="0" t="0" r="0" b="0"/>
              <a:pathLst>
                <a:path w="279" h="44">
                  <a:moveTo>
                    <a:pt x="0" y="22"/>
                  </a:moveTo>
                  <a:lnTo>
                    <a:pt x="279" y="22"/>
                  </a:lnTo>
                </a:path>
              </a:pathLst>
            </a:custGeom>
            <a:noFill/>
            <a:ln w="2807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/>
            <p:cNvSpPr/>
            <p:nvPr/>
          </p:nvSpPr>
          <p:spPr>
            <a:xfrm>
              <a:off x="171745" y="0"/>
              <a:ext cx="84239" cy="84239"/>
            </a:xfrm>
            <a:custGeom>
              <a:avLst/>
              <a:gdLst/>
              <a:ahLst/>
              <a:cxnLst/>
              <a:rect l="0" t="0" r="0" b="0"/>
              <a:pathLst>
                <a:path w="132" h="132">
                  <a:moveTo>
                    <a:pt x="132" y="66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132" y="66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5029170" y="3003118"/>
            <a:ext cx="255984" cy="84239"/>
            <a:chOff x="0" y="0"/>
            <a:chExt cx="255984" cy="84239"/>
          </a:xfrm>
        </p:grpSpPr>
        <p:sp>
          <p:nvSpPr>
            <p:cNvPr id="56" name="path 56"/>
            <p:cNvSpPr/>
            <p:nvPr/>
          </p:nvSpPr>
          <p:spPr>
            <a:xfrm>
              <a:off x="0" y="27717"/>
              <a:ext cx="177540" cy="28448"/>
            </a:xfrm>
            <a:custGeom>
              <a:avLst/>
              <a:gdLst/>
              <a:ahLst/>
              <a:cxnLst/>
              <a:rect l="0" t="0" r="0" b="0"/>
              <a:pathLst>
                <a:path w="279" h="44">
                  <a:moveTo>
                    <a:pt x="0" y="22"/>
                  </a:moveTo>
                  <a:lnTo>
                    <a:pt x="279" y="22"/>
                  </a:lnTo>
                </a:path>
              </a:pathLst>
            </a:custGeom>
            <a:noFill/>
            <a:ln w="2807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" name="path 58"/>
            <p:cNvSpPr/>
            <p:nvPr/>
          </p:nvSpPr>
          <p:spPr>
            <a:xfrm>
              <a:off x="171745" y="0"/>
              <a:ext cx="84239" cy="84239"/>
            </a:xfrm>
            <a:custGeom>
              <a:avLst/>
              <a:gdLst/>
              <a:ahLst/>
              <a:cxnLst/>
              <a:rect l="0" t="0" r="0" b="0"/>
              <a:pathLst>
                <a:path w="132" h="132">
                  <a:moveTo>
                    <a:pt x="132" y="66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132" y="66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 62"/>
          <p:cNvSpPr/>
          <p:nvPr/>
        </p:nvSpPr>
        <p:spPr>
          <a:xfrm>
            <a:off x="482041" y="1579676"/>
            <a:ext cx="3440874" cy="3458883"/>
          </a:xfrm>
          <a:prstGeom prst="rect">
            <a:avLst/>
          </a:prstGeom>
          <a:solidFill>
            <a:srgbClr val="B4C0D0">
              <a:alpha val="1294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rect 64"/>
          <p:cNvSpPr/>
          <p:nvPr/>
        </p:nvSpPr>
        <p:spPr>
          <a:xfrm>
            <a:off x="4432325" y="1579676"/>
            <a:ext cx="3440874" cy="3458883"/>
          </a:xfrm>
          <a:prstGeom prst="rect">
            <a:avLst/>
          </a:prstGeom>
          <a:solidFill>
            <a:srgbClr val="B4C0D0">
              <a:alpha val="1294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rect 66"/>
          <p:cNvSpPr/>
          <p:nvPr/>
        </p:nvSpPr>
        <p:spPr>
          <a:xfrm>
            <a:off x="8382241" y="1579676"/>
            <a:ext cx="3440874" cy="3458883"/>
          </a:xfrm>
          <a:prstGeom prst="rect">
            <a:avLst/>
          </a:prstGeom>
          <a:solidFill>
            <a:srgbClr val="B4C0D0">
              <a:alpha val="1294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467820" y="1565456"/>
          <a:ext cx="3397250" cy="339661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3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6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4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1500" b="1" kern="0" spc="8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监测节点稀疏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900" indent="635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上游汇聚、下游顶托与</a:t>
                      </a:r>
                      <a:r>
                        <a:rPr sz="13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联动风险难直接</a:t>
                      </a:r>
                      <a:r>
                        <a:rPr sz="13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</a:t>
                      </a:r>
                      <a:r>
                        <a:rPr sz="1300" kern="0" spc="-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感知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4418104" y="1565456"/>
          <a:ext cx="3397250" cy="339661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3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6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265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1500" b="1" kern="0" spc="70" dirty="0">
                          <a:solidFill>
                            <a:srgbClr val="785E9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82 </a:t>
                      </a:r>
                      <a:r>
                        <a:rPr sz="1500" b="1" kern="0" spc="70" dirty="0">
                          <a:solidFill>
                            <a:srgbClr val="785E9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个可控通道协同运行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265" indent="635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直接连续优化计算大，</a:t>
                      </a:r>
                      <a:r>
                        <a:rPr sz="1300" kern="0" spc="-2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且易超出</a:t>
                      </a:r>
                      <a:r>
                        <a:rPr sz="13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工程约    </a:t>
                      </a:r>
                      <a:r>
                        <a:rPr sz="13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束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8368021" y="1565456"/>
          <a:ext cx="3397250" cy="339661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3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6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900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1500" b="1" kern="0" spc="7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调蓄—释放存在时滞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359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局部放水可能转化为下游拥</a:t>
                      </a:r>
                      <a:r>
                        <a:rPr sz="13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堵和积水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4"/>
          <p:cNvGraphicFramePr>
            <a:graphicFrameLocks noGrp="1"/>
          </p:cNvGraphicFramePr>
          <p:nvPr/>
        </p:nvGraphicFramePr>
        <p:xfrm>
          <a:off x="1062536" y="5268776"/>
          <a:ext cx="10053955" cy="890905"/>
        </p:xfrm>
        <a:graphic>
          <a:graphicData uri="http://schemas.openxmlformats.org/drawingml/2006/table">
            <a:tbl>
              <a:tblPr>
                <a:solidFill>
                  <a:srgbClr val="F3F6FB"/>
                </a:solidFill>
              </a:tblPr>
              <a:tblGrid>
                <a:gridCol w="10053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0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985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2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核心问题：何时值得干预？此时哪</a:t>
                      </a:r>
                      <a:r>
                        <a:rPr sz="22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一类控制知识最有价值？</a:t>
                      </a:r>
                      <a:endParaRPr sz="2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BF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F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F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76" name="rect 76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" name="textbox 78"/>
            <p:cNvSpPr/>
            <p:nvPr/>
          </p:nvSpPr>
          <p:spPr>
            <a:xfrm>
              <a:off x="277822" y="154105"/>
              <a:ext cx="7623809" cy="349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14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2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研究问题：</a:t>
              </a:r>
              <a:r>
                <a:rPr sz="2400" b="1" kern="0" spc="-5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大尺度排水系统为</a:t>
              </a:r>
              <a:r>
                <a:rPr sz="24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何难以实施可靠实时控制？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sp>
        <p:nvSpPr>
          <p:cNvPr id="82" name="rect 82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386900" y="971344"/>
            <a:ext cx="8029575" cy="26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374650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研究动机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三类耦合难题，决定了简单阈值控制或单一代理模型难以规模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6" name="table 86"/>
          <p:cNvGraphicFramePr>
            <a:graphicFrameLocks noGrp="1"/>
          </p:cNvGraphicFramePr>
          <p:nvPr/>
        </p:nvGraphicFramePr>
        <p:xfrm>
          <a:off x="4603319" y="4136760"/>
          <a:ext cx="3027044" cy="569595"/>
        </p:xfrm>
        <a:graphic>
          <a:graphicData uri="http://schemas.openxmlformats.org/drawingml/2006/table">
            <a:tbl>
              <a:tblPr>
                <a:solidFill>
                  <a:srgbClr val="EFF4FA"/>
                </a:solidFill>
              </a:tblPr>
              <a:tblGrid>
                <a:gridCol w="3027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8180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10" dirty="0">
                          <a:solidFill>
                            <a:srgbClr val="785E9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异质知识压缩候选集合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table 88"/>
          <p:cNvGraphicFramePr>
            <a:graphicFrameLocks noGrp="1"/>
          </p:cNvGraphicFramePr>
          <p:nvPr/>
        </p:nvGraphicFramePr>
        <p:xfrm>
          <a:off x="8553236" y="4136760"/>
          <a:ext cx="3027044" cy="569595"/>
        </p:xfrm>
        <a:graphic>
          <a:graphicData uri="http://schemas.openxmlformats.org/drawingml/2006/table">
            <a:tbl>
              <a:tblPr>
                <a:solidFill>
                  <a:srgbClr val="EFF4FA"/>
                </a:solidFill>
              </a:tblPr>
              <a:tblGrid>
                <a:gridCol w="3027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9594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-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基于长时域 </a:t>
                      </a:r>
                      <a:r>
                        <a:rPr sz="1300" b="1" kern="0" spc="-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TFV </a:t>
                      </a:r>
                      <a:r>
                        <a:rPr sz="1300" b="1" kern="0" spc="-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回报仲裁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653036" y="4136760"/>
          <a:ext cx="3027045" cy="569595"/>
        </p:xfrm>
        <a:graphic>
          <a:graphicData uri="http://schemas.openxmlformats.org/drawingml/2006/table">
            <a:tbl>
              <a:tblPr>
                <a:solidFill>
                  <a:srgbClr val="EFF4FA"/>
                </a:solidFill>
              </a:tblPr>
              <a:tblGrid>
                <a:gridCol w="3027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0534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因果时间编码</a:t>
                      </a:r>
                      <a:r>
                        <a:rPr sz="1300" b="1" kern="0" spc="28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b="1" kern="0" spc="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 </a:t>
                      </a:r>
                      <a:r>
                        <a:rPr sz="1300" b="1" kern="0" spc="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图网络</a:t>
                      </a:r>
                      <a:r>
                        <a:rPr sz="1300" b="1" kern="0" spc="-1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重构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B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rect 92"/>
          <p:cNvSpPr/>
          <p:nvPr/>
        </p:nvSpPr>
        <p:spPr>
          <a:xfrm>
            <a:off x="8573765" y="1788840"/>
            <a:ext cx="499311" cy="316444"/>
          </a:xfrm>
          <a:prstGeom prst="rect">
            <a:avLst/>
          </a:prstGeom>
          <a:solidFill>
            <a:srgbClr val="218C9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" name="textbox 94"/>
          <p:cNvSpPr/>
          <p:nvPr/>
        </p:nvSpPr>
        <p:spPr>
          <a:xfrm>
            <a:off x="8561065" y="1850592"/>
            <a:ext cx="2780664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184150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700" b="1" kern="0" spc="60" baseline="33704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11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800" b="1" kern="0" spc="6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短期改善不等于减涝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rect 96"/>
          <p:cNvSpPr/>
          <p:nvPr/>
        </p:nvSpPr>
        <p:spPr>
          <a:xfrm>
            <a:off x="4623480" y="1788840"/>
            <a:ext cx="499324" cy="316444"/>
          </a:xfrm>
          <a:prstGeom prst="rect">
            <a:avLst/>
          </a:prstGeom>
          <a:solidFill>
            <a:srgbClr val="785E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textbox 98"/>
          <p:cNvSpPr/>
          <p:nvPr/>
        </p:nvSpPr>
        <p:spPr>
          <a:xfrm>
            <a:off x="4610780" y="1850592"/>
            <a:ext cx="205867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184150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700" b="1" kern="0" spc="60" baseline="33704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1100" b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800" b="1" kern="0" spc="6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动作空间高维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rect 100"/>
          <p:cNvSpPr/>
          <p:nvPr/>
        </p:nvSpPr>
        <p:spPr>
          <a:xfrm>
            <a:off x="673564" y="1788840"/>
            <a:ext cx="499311" cy="316444"/>
          </a:xfrm>
          <a:prstGeom prst="rect">
            <a:avLst/>
          </a:prstGeom>
          <a:solidFill>
            <a:srgbClr val="2365A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textbox 102"/>
          <p:cNvSpPr/>
          <p:nvPr/>
        </p:nvSpPr>
        <p:spPr>
          <a:xfrm>
            <a:off x="660864" y="1850592"/>
            <a:ext cx="205867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183514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700" b="1" kern="0" spc="60" baseline="33704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11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800" b="1" kern="0" spc="6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观</a:t>
            </a:r>
            <a:r>
              <a:rPr sz="1800" b="1" kern="0" spc="5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测信息不足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sp>
        <p:nvSpPr>
          <p:cNvPr id="114" name="path 114"/>
          <p:cNvSpPr/>
          <p:nvPr/>
        </p:nvSpPr>
        <p:spPr>
          <a:xfrm>
            <a:off x="8576995" y="2352775"/>
            <a:ext cx="2953449" cy="12968"/>
          </a:xfrm>
          <a:custGeom>
            <a:avLst/>
            <a:gdLst/>
            <a:ahLst/>
            <a:cxnLst/>
            <a:rect l="0" t="0" r="0" b="0"/>
            <a:pathLst>
              <a:path w="4651" h="20">
                <a:moveTo>
                  <a:pt x="0" y="9"/>
                </a:moveTo>
                <a:lnTo>
                  <a:pt x="4651" y="10"/>
                </a:lnTo>
              </a:path>
            </a:pathLst>
          </a:custGeom>
          <a:noFill/>
          <a:ln w="12599" cap="flat">
            <a:solidFill>
              <a:srgbClr val="DDE5E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" name="path 116"/>
          <p:cNvSpPr/>
          <p:nvPr/>
        </p:nvSpPr>
        <p:spPr>
          <a:xfrm>
            <a:off x="676439" y="2352775"/>
            <a:ext cx="2953437" cy="12968"/>
          </a:xfrm>
          <a:custGeom>
            <a:avLst/>
            <a:gdLst/>
            <a:ahLst/>
            <a:cxnLst/>
            <a:rect l="0" t="0" r="0" b="0"/>
            <a:pathLst>
              <a:path w="4651" h="20">
                <a:moveTo>
                  <a:pt x="0" y="9"/>
                </a:moveTo>
                <a:lnTo>
                  <a:pt x="4651" y="10"/>
                </a:lnTo>
              </a:path>
            </a:pathLst>
          </a:custGeom>
          <a:noFill/>
          <a:ln w="12599" cap="flat">
            <a:solidFill>
              <a:srgbClr val="DDE5E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path 118"/>
          <p:cNvSpPr/>
          <p:nvPr/>
        </p:nvSpPr>
        <p:spPr>
          <a:xfrm>
            <a:off x="4626723" y="2352775"/>
            <a:ext cx="2953437" cy="12968"/>
          </a:xfrm>
          <a:custGeom>
            <a:avLst/>
            <a:gdLst/>
            <a:ahLst/>
            <a:cxnLst/>
            <a:rect l="0" t="0" r="0" b="0"/>
            <a:pathLst>
              <a:path w="4651" h="20">
                <a:moveTo>
                  <a:pt x="0" y="9"/>
                </a:moveTo>
                <a:lnTo>
                  <a:pt x="4651" y="10"/>
                </a:lnTo>
              </a:path>
            </a:pathLst>
          </a:custGeom>
          <a:noFill/>
          <a:ln w="12599" cap="flat">
            <a:solidFill>
              <a:srgbClr val="DDE5E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21600000">
            <a:off x="9942296" y="4245660"/>
            <a:ext cx="451447" cy="451435"/>
            <a:chOff x="0" y="0"/>
            <a:chExt cx="451447" cy="451435"/>
          </a:xfrm>
        </p:grpSpPr>
        <p:sp>
          <p:nvSpPr>
            <p:cNvPr id="122" name="path 122"/>
            <p:cNvSpPr/>
            <p:nvPr/>
          </p:nvSpPr>
          <p:spPr>
            <a:xfrm>
              <a:off x="6299" y="6299"/>
              <a:ext cx="438848" cy="438835"/>
            </a:xfrm>
            <a:custGeom>
              <a:avLst/>
              <a:gdLst/>
              <a:ahLst/>
              <a:cxnLst/>
              <a:rect l="0" t="0" r="0" b="0"/>
              <a:pathLst>
                <a:path w="691" h="691">
                  <a:moveTo>
                    <a:pt x="0" y="345"/>
                  </a:moveTo>
                  <a:lnTo>
                    <a:pt x="0" y="345"/>
                  </a:lnTo>
                  <a:cubicBezTo>
                    <a:pt x="0" y="284"/>
                    <a:pt x="15" y="225"/>
                    <a:pt x="46" y="172"/>
                  </a:cubicBezTo>
                  <a:cubicBezTo>
                    <a:pt x="76" y="120"/>
                    <a:pt x="120" y="76"/>
                    <a:pt x="172" y="45"/>
                  </a:cubicBezTo>
                  <a:cubicBezTo>
                    <a:pt x="225" y="15"/>
                    <a:pt x="285" y="0"/>
                    <a:pt x="345" y="0"/>
                  </a:cubicBezTo>
                  <a:lnTo>
                    <a:pt x="345" y="0"/>
                  </a:lnTo>
                  <a:cubicBezTo>
                    <a:pt x="405" y="0"/>
                    <a:pt x="466" y="15"/>
                    <a:pt x="518" y="45"/>
                  </a:cubicBezTo>
                  <a:cubicBezTo>
                    <a:pt x="570" y="76"/>
                    <a:pt x="614" y="120"/>
                    <a:pt x="644" y="172"/>
                  </a:cubicBezTo>
                  <a:cubicBezTo>
                    <a:pt x="675" y="225"/>
                    <a:pt x="691" y="284"/>
                    <a:pt x="691" y="345"/>
                  </a:cubicBezTo>
                  <a:lnTo>
                    <a:pt x="691" y="345"/>
                  </a:lnTo>
                  <a:lnTo>
                    <a:pt x="691" y="345"/>
                  </a:lnTo>
                  <a:cubicBezTo>
                    <a:pt x="691" y="405"/>
                    <a:pt x="675" y="465"/>
                    <a:pt x="644" y="518"/>
                  </a:cubicBezTo>
                  <a:cubicBezTo>
                    <a:pt x="614" y="570"/>
                    <a:pt x="570" y="613"/>
                    <a:pt x="518" y="644"/>
                  </a:cubicBezTo>
                  <a:cubicBezTo>
                    <a:pt x="466" y="674"/>
                    <a:pt x="405" y="691"/>
                    <a:pt x="345" y="691"/>
                  </a:cubicBezTo>
                  <a:lnTo>
                    <a:pt x="345" y="691"/>
                  </a:lnTo>
                  <a:cubicBezTo>
                    <a:pt x="285" y="691"/>
                    <a:pt x="225" y="674"/>
                    <a:pt x="172" y="644"/>
                  </a:cubicBezTo>
                  <a:cubicBezTo>
                    <a:pt x="120" y="613"/>
                    <a:pt x="76" y="570"/>
                    <a:pt x="46" y="518"/>
                  </a:cubicBezTo>
                  <a:cubicBezTo>
                    <a:pt x="15" y="465"/>
                    <a:pt x="0" y="405"/>
                    <a:pt x="0" y="345"/>
                  </a:cubicBezTo>
                  <a:lnTo>
                    <a:pt x="0" y="345"/>
                  </a:lnTo>
                  <a:close/>
                </a:path>
              </a:pathLst>
            </a:custGeom>
            <a:solidFill>
              <a:srgbClr val="5B9D7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" name="path 124"/>
            <p:cNvSpPr/>
            <p:nvPr/>
          </p:nvSpPr>
          <p:spPr>
            <a:xfrm>
              <a:off x="0" y="0"/>
              <a:ext cx="451447" cy="451435"/>
            </a:xfrm>
            <a:custGeom>
              <a:avLst/>
              <a:gdLst/>
              <a:ahLst/>
              <a:cxnLst/>
              <a:rect l="0" t="0" r="0" b="0"/>
              <a:pathLst>
                <a:path w="710" h="710">
                  <a:moveTo>
                    <a:pt x="9" y="355"/>
                  </a:moveTo>
                  <a:lnTo>
                    <a:pt x="9" y="355"/>
                  </a:lnTo>
                  <a:cubicBezTo>
                    <a:pt x="9" y="294"/>
                    <a:pt x="25" y="235"/>
                    <a:pt x="56" y="182"/>
                  </a:cubicBezTo>
                  <a:cubicBezTo>
                    <a:pt x="86" y="130"/>
                    <a:pt x="130" y="86"/>
                    <a:pt x="182" y="55"/>
                  </a:cubicBezTo>
                  <a:cubicBezTo>
                    <a:pt x="235" y="25"/>
                    <a:pt x="295" y="9"/>
                    <a:pt x="355" y="9"/>
                  </a:cubicBezTo>
                  <a:lnTo>
                    <a:pt x="355" y="9"/>
                  </a:lnTo>
                  <a:cubicBezTo>
                    <a:pt x="415" y="9"/>
                    <a:pt x="475" y="25"/>
                    <a:pt x="528" y="55"/>
                  </a:cubicBezTo>
                  <a:cubicBezTo>
                    <a:pt x="580" y="86"/>
                    <a:pt x="624" y="130"/>
                    <a:pt x="654" y="182"/>
                  </a:cubicBezTo>
                  <a:cubicBezTo>
                    <a:pt x="685" y="235"/>
                    <a:pt x="701" y="294"/>
                    <a:pt x="701" y="355"/>
                  </a:cubicBezTo>
                  <a:lnTo>
                    <a:pt x="701" y="355"/>
                  </a:lnTo>
                  <a:lnTo>
                    <a:pt x="701" y="355"/>
                  </a:lnTo>
                  <a:cubicBezTo>
                    <a:pt x="701" y="415"/>
                    <a:pt x="685" y="475"/>
                    <a:pt x="654" y="528"/>
                  </a:cubicBezTo>
                  <a:cubicBezTo>
                    <a:pt x="624" y="580"/>
                    <a:pt x="580" y="623"/>
                    <a:pt x="528" y="654"/>
                  </a:cubicBezTo>
                  <a:cubicBezTo>
                    <a:pt x="475" y="684"/>
                    <a:pt x="415" y="701"/>
                    <a:pt x="355" y="701"/>
                  </a:cubicBezTo>
                  <a:lnTo>
                    <a:pt x="355" y="701"/>
                  </a:lnTo>
                  <a:cubicBezTo>
                    <a:pt x="295" y="701"/>
                    <a:pt x="235" y="684"/>
                    <a:pt x="182" y="654"/>
                  </a:cubicBezTo>
                  <a:cubicBezTo>
                    <a:pt x="130" y="623"/>
                    <a:pt x="86" y="580"/>
                    <a:pt x="56" y="528"/>
                  </a:cubicBezTo>
                  <a:cubicBezTo>
                    <a:pt x="25" y="475"/>
                    <a:pt x="9" y="415"/>
                    <a:pt x="9" y="355"/>
                  </a:cubicBezTo>
                </a:path>
              </a:pathLst>
            </a:custGeom>
            <a:noFill/>
            <a:ln w="12599" cap="flat">
              <a:solidFill>
                <a:srgbClr val="5B9D7A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26" name="table 126"/>
          <p:cNvGraphicFramePr>
            <a:graphicFrameLocks noGrp="1"/>
          </p:cNvGraphicFramePr>
          <p:nvPr/>
        </p:nvGraphicFramePr>
        <p:xfrm>
          <a:off x="449824" y="3970264"/>
          <a:ext cx="11269980" cy="1449069"/>
        </p:xfrm>
        <a:graphic>
          <a:graphicData uri="http://schemas.openxmlformats.org/drawingml/2006/table">
            <a:tbl>
              <a:tblPr/>
              <a:tblGrid>
                <a:gridCol w="1126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9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4120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⑤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4438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SWMM</a:t>
                      </a:r>
                      <a:r>
                        <a:rPr sz="1200" b="1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1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对比评价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4354376" y="1583464"/>
          <a:ext cx="3470275" cy="1998345"/>
        </p:xfrm>
        <a:graphic>
          <a:graphicData uri="http://schemas.openxmlformats.org/drawingml/2006/table">
            <a:tbl>
              <a:tblPr/>
              <a:tblGrid>
                <a:gridCol w="34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02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2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82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35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0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多源工程可行候选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16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代理筛选</a:t>
                      </a:r>
                      <a:r>
                        <a:rPr sz="1200" kern="0" spc="2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200" kern="0" spc="3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水力机理</a:t>
                      </a:r>
                      <a:r>
                        <a:rPr sz="1200" kern="0" spc="2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200" kern="0" spc="3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运行规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0" name="table 130"/>
          <p:cNvGraphicFramePr>
            <a:graphicFrameLocks noGrp="1"/>
          </p:cNvGraphicFramePr>
          <p:nvPr/>
        </p:nvGraphicFramePr>
        <p:xfrm>
          <a:off x="8258940" y="1583464"/>
          <a:ext cx="3470275" cy="1998345"/>
        </p:xfrm>
        <a:graphic>
          <a:graphicData uri="http://schemas.openxmlformats.org/drawingml/2006/table">
            <a:tbl>
              <a:tblPr/>
              <a:tblGrid>
                <a:gridCol w="34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02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2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18C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82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77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0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长时域价值仲裁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</a:t>
                      </a:r>
                      <a:r>
                        <a:rPr sz="1200" kern="0" spc="2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vs.</a:t>
                      </a:r>
                      <a:r>
                        <a:rPr sz="1200" kern="0" spc="10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；最小累计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TF</a:t>
                      </a:r>
                      <a:r>
                        <a:rPr sz="1200" kern="0" spc="-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2" name="table 132"/>
          <p:cNvGraphicFramePr>
            <a:graphicFrameLocks noGrp="1"/>
          </p:cNvGraphicFramePr>
          <p:nvPr/>
        </p:nvGraphicFramePr>
        <p:xfrm>
          <a:off x="449824" y="1583464"/>
          <a:ext cx="3470275" cy="1998345"/>
        </p:xfrm>
        <a:graphic>
          <a:graphicData uri="http://schemas.openxmlformats.org/drawingml/2006/table">
            <a:tbl>
              <a:tblPr/>
              <a:tblGrid>
                <a:gridCol w="34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02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2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365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82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834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全网水力状态重构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9909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有限监测</a:t>
                      </a:r>
                      <a:r>
                        <a:rPr sz="1200" kern="0" spc="3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200" kern="0" spc="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13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帧历史</a:t>
                      </a:r>
                      <a:r>
                        <a:rPr sz="1200" kern="0" spc="2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 </a:t>
                      </a:r>
                      <a:r>
                        <a:rPr sz="12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管网拓扑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" name="group 18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134" name="rect 134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" name="textbox 136"/>
            <p:cNvSpPr/>
            <p:nvPr/>
          </p:nvSpPr>
          <p:spPr>
            <a:xfrm>
              <a:off x="277822" y="154105"/>
              <a:ext cx="6856094" cy="3486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研究总体框架：</a:t>
              </a:r>
              <a:r>
                <a:rPr sz="2400" b="1" kern="0" spc="-6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从稀疏水力信息到状态自适应</a:t>
              </a:r>
              <a:r>
                <a:rPr sz="24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决策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38" name="picture 1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140" name="table 140"/>
          <p:cNvGraphicFramePr>
            <a:graphicFrameLocks noGrp="1"/>
          </p:cNvGraphicFramePr>
          <p:nvPr/>
        </p:nvGraphicFramePr>
        <p:xfrm>
          <a:off x="1464656" y="5634535"/>
          <a:ext cx="9267825" cy="534669"/>
        </p:xfrm>
        <a:graphic>
          <a:graphicData uri="http://schemas.openxmlformats.org/drawingml/2006/table">
            <a:tbl>
              <a:tblPr>
                <a:solidFill>
                  <a:srgbClr val="E8F1F8"/>
                </a:solidFill>
              </a:tblPr>
              <a:tblGrid>
                <a:gridCol w="926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4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56689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反馈闭环：每</a:t>
                      </a:r>
                      <a:r>
                        <a:rPr sz="1400" b="1" kern="0" spc="38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更新观测 → 每</a:t>
                      </a:r>
                      <a:r>
                        <a:rPr sz="1400" b="1" kern="0" spc="3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重估状态、仲裁并只执行首段控制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E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rect 142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textbox 144"/>
          <p:cNvSpPr/>
          <p:nvPr/>
        </p:nvSpPr>
        <p:spPr>
          <a:xfrm>
            <a:off x="386900" y="971344"/>
            <a:ext cx="5652134" cy="26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375284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技术路线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三大方法模块与统一的 </a:t>
            </a:r>
            <a:r>
              <a:rPr sz="18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SWMM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闭环验证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7592224" y="4245660"/>
            <a:ext cx="451435" cy="451435"/>
            <a:chOff x="0" y="0"/>
            <a:chExt cx="451435" cy="451435"/>
          </a:xfrm>
        </p:grpSpPr>
        <p:sp>
          <p:nvSpPr>
            <p:cNvPr id="146" name="path 146"/>
            <p:cNvSpPr/>
            <p:nvPr/>
          </p:nvSpPr>
          <p:spPr>
            <a:xfrm>
              <a:off x="6299" y="6299"/>
              <a:ext cx="438836" cy="438835"/>
            </a:xfrm>
            <a:custGeom>
              <a:avLst/>
              <a:gdLst/>
              <a:ahLst/>
              <a:cxnLst/>
              <a:rect l="0" t="0" r="0" b="0"/>
              <a:pathLst>
                <a:path w="691" h="691">
                  <a:moveTo>
                    <a:pt x="0" y="345"/>
                  </a:moveTo>
                  <a:lnTo>
                    <a:pt x="0" y="345"/>
                  </a:lnTo>
                  <a:cubicBezTo>
                    <a:pt x="0" y="284"/>
                    <a:pt x="15" y="225"/>
                    <a:pt x="46" y="172"/>
                  </a:cubicBezTo>
                  <a:cubicBezTo>
                    <a:pt x="76" y="120"/>
                    <a:pt x="120" y="76"/>
                    <a:pt x="172" y="45"/>
                  </a:cubicBezTo>
                  <a:cubicBezTo>
                    <a:pt x="225" y="15"/>
                    <a:pt x="285" y="0"/>
                    <a:pt x="345" y="0"/>
                  </a:cubicBezTo>
                  <a:lnTo>
                    <a:pt x="345" y="0"/>
                  </a:lnTo>
                  <a:cubicBezTo>
                    <a:pt x="405" y="0"/>
                    <a:pt x="465" y="15"/>
                    <a:pt x="518" y="45"/>
                  </a:cubicBezTo>
                  <a:cubicBezTo>
                    <a:pt x="570" y="76"/>
                    <a:pt x="614" y="120"/>
                    <a:pt x="644" y="172"/>
                  </a:cubicBezTo>
                  <a:cubicBezTo>
                    <a:pt x="675" y="225"/>
                    <a:pt x="691" y="284"/>
                    <a:pt x="691" y="345"/>
                  </a:cubicBezTo>
                  <a:lnTo>
                    <a:pt x="691" y="345"/>
                  </a:lnTo>
                  <a:lnTo>
                    <a:pt x="691" y="345"/>
                  </a:lnTo>
                  <a:cubicBezTo>
                    <a:pt x="691" y="405"/>
                    <a:pt x="675" y="465"/>
                    <a:pt x="644" y="518"/>
                  </a:cubicBezTo>
                  <a:cubicBezTo>
                    <a:pt x="614" y="570"/>
                    <a:pt x="570" y="613"/>
                    <a:pt x="518" y="644"/>
                  </a:cubicBezTo>
                  <a:cubicBezTo>
                    <a:pt x="465" y="674"/>
                    <a:pt x="405" y="691"/>
                    <a:pt x="345" y="691"/>
                  </a:cubicBezTo>
                  <a:lnTo>
                    <a:pt x="345" y="691"/>
                  </a:lnTo>
                  <a:cubicBezTo>
                    <a:pt x="285" y="691"/>
                    <a:pt x="225" y="674"/>
                    <a:pt x="172" y="644"/>
                  </a:cubicBezTo>
                  <a:cubicBezTo>
                    <a:pt x="120" y="613"/>
                    <a:pt x="76" y="570"/>
                    <a:pt x="46" y="518"/>
                  </a:cubicBezTo>
                  <a:cubicBezTo>
                    <a:pt x="15" y="465"/>
                    <a:pt x="0" y="405"/>
                    <a:pt x="0" y="345"/>
                  </a:cubicBezTo>
                  <a:lnTo>
                    <a:pt x="0" y="345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" name="path 148"/>
            <p:cNvSpPr/>
            <p:nvPr/>
          </p:nvSpPr>
          <p:spPr>
            <a:xfrm>
              <a:off x="0" y="0"/>
              <a:ext cx="451435" cy="451435"/>
            </a:xfrm>
            <a:custGeom>
              <a:avLst/>
              <a:gdLst/>
              <a:ahLst/>
              <a:cxnLst/>
              <a:rect l="0" t="0" r="0" b="0"/>
              <a:pathLst>
                <a:path w="710" h="710">
                  <a:moveTo>
                    <a:pt x="9" y="355"/>
                  </a:moveTo>
                  <a:lnTo>
                    <a:pt x="9" y="355"/>
                  </a:lnTo>
                  <a:cubicBezTo>
                    <a:pt x="9" y="294"/>
                    <a:pt x="25" y="235"/>
                    <a:pt x="56" y="182"/>
                  </a:cubicBezTo>
                  <a:cubicBezTo>
                    <a:pt x="86" y="130"/>
                    <a:pt x="130" y="86"/>
                    <a:pt x="182" y="55"/>
                  </a:cubicBezTo>
                  <a:cubicBezTo>
                    <a:pt x="234" y="25"/>
                    <a:pt x="295" y="9"/>
                    <a:pt x="355" y="9"/>
                  </a:cubicBezTo>
                  <a:lnTo>
                    <a:pt x="355" y="9"/>
                  </a:lnTo>
                  <a:cubicBezTo>
                    <a:pt x="415" y="9"/>
                    <a:pt x="475" y="25"/>
                    <a:pt x="528" y="55"/>
                  </a:cubicBezTo>
                  <a:cubicBezTo>
                    <a:pt x="580" y="86"/>
                    <a:pt x="624" y="130"/>
                    <a:pt x="654" y="182"/>
                  </a:cubicBezTo>
                  <a:cubicBezTo>
                    <a:pt x="685" y="235"/>
                    <a:pt x="701" y="294"/>
                    <a:pt x="701" y="355"/>
                  </a:cubicBezTo>
                  <a:lnTo>
                    <a:pt x="701" y="355"/>
                  </a:lnTo>
                  <a:lnTo>
                    <a:pt x="701" y="355"/>
                  </a:lnTo>
                  <a:cubicBezTo>
                    <a:pt x="701" y="415"/>
                    <a:pt x="685" y="475"/>
                    <a:pt x="654" y="528"/>
                  </a:cubicBezTo>
                  <a:cubicBezTo>
                    <a:pt x="624" y="580"/>
                    <a:pt x="580" y="623"/>
                    <a:pt x="528" y="654"/>
                  </a:cubicBezTo>
                  <a:cubicBezTo>
                    <a:pt x="475" y="684"/>
                    <a:pt x="415" y="701"/>
                    <a:pt x="355" y="701"/>
                  </a:cubicBezTo>
                  <a:lnTo>
                    <a:pt x="355" y="701"/>
                  </a:lnTo>
                  <a:cubicBezTo>
                    <a:pt x="295" y="701"/>
                    <a:pt x="234" y="684"/>
                    <a:pt x="182" y="654"/>
                  </a:cubicBezTo>
                  <a:cubicBezTo>
                    <a:pt x="130" y="623"/>
                    <a:pt x="86" y="580"/>
                    <a:pt x="56" y="528"/>
                  </a:cubicBezTo>
                  <a:cubicBezTo>
                    <a:pt x="25" y="475"/>
                    <a:pt x="9" y="415"/>
                    <a:pt x="9" y="355"/>
                  </a:cubicBezTo>
                </a:path>
              </a:pathLst>
            </a:custGeom>
            <a:noFill/>
            <a:ln w="1259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0" name="textbox 150"/>
          <p:cNvSpPr/>
          <p:nvPr/>
        </p:nvSpPr>
        <p:spPr>
          <a:xfrm>
            <a:off x="7728520" y="4374561"/>
            <a:ext cx="1224914" cy="63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④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734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200" b="1" kern="0" spc="30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200" b="1" kern="0" spc="3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分钟滚动控制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5242495" y="4245660"/>
            <a:ext cx="451448" cy="451435"/>
            <a:chOff x="0" y="0"/>
            <a:chExt cx="451448" cy="451435"/>
          </a:xfrm>
        </p:grpSpPr>
        <p:sp>
          <p:nvSpPr>
            <p:cNvPr id="152" name="path 152"/>
            <p:cNvSpPr/>
            <p:nvPr/>
          </p:nvSpPr>
          <p:spPr>
            <a:xfrm>
              <a:off x="6300" y="6299"/>
              <a:ext cx="438848" cy="438835"/>
            </a:xfrm>
            <a:custGeom>
              <a:avLst/>
              <a:gdLst/>
              <a:ahLst/>
              <a:cxnLst/>
              <a:rect l="0" t="0" r="0" b="0"/>
              <a:pathLst>
                <a:path w="691" h="691">
                  <a:moveTo>
                    <a:pt x="0" y="345"/>
                  </a:moveTo>
                  <a:lnTo>
                    <a:pt x="0" y="345"/>
                  </a:lnTo>
                  <a:cubicBezTo>
                    <a:pt x="0" y="284"/>
                    <a:pt x="15" y="225"/>
                    <a:pt x="46" y="172"/>
                  </a:cubicBezTo>
                  <a:cubicBezTo>
                    <a:pt x="76" y="120"/>
                    <a:pt x="120" y="76"/>
                    <a:pt x="172" y="45"/>
                  </a:cubicBezTo>
                  <a:cubicBezTo>
                    <a:pt x="225" y="15"/>
                    <a:pt x="285" y="0"/>
                    <a:pt x="345" y="0"/>
                  </a:cubicBezTo>
                  <a:lnTo>
                    <a:pt x="345" y="0"/>
                  </a:lnTo>
                  <a:cubicBezTo>
                    <a:pt x="405" y="0"/>
                    <a:pt x="466" y="15"/>
                    <a:pt x="518" y="45"/>
                  </a:cubicBezTo>
                  <a:cubicBezTo>
                    <a:pt x="570" y="76"/>
                    <a:pt x="614" y="120"/>
                    <a:pt x="644" y="172"/>
                  </a:cubicBezTo>
                  <a:cubicBezTo>
                    <a:pt x="675" y="225"/>
                    <a:pt x="691" y="284"/>
                    <a:pt x="691" y="345"/>
                  </a:cubicBezTo>
                  <a:lnTo>
                    <a:pt x="691" y="345"/>
                  </a:lnTo>
                  <a:lnTo>
                    <a:pt x="691" y="345"/>
                  </a:lnTo>
                  <a:cubicBezTo>
                    <a:pt x="691" y="405"/>
                    <a:pt x="675" y="465"/>
                    <a:pt x="644" y="518"/>
                  </a:cubicBezTo>
                  <a:cubicBezTo>
                    <a:pt x="614" y="570"/>
                    <a:pt x="570" y="613"/>
                    <a:pt x="518" y="644"/>
                  </a:cubicBezTo>
                  <a:cubicBezTo>
                    <a:pt x="466" y="674"/>
                    <a:pt x="405" y="691"/>
                    <a:pt x="345" y="691"/>
                  </a:cubicBezTo>
                  <a:lnTo>
                    <a:pt x="345" y="691"/>
                  </a:lnTo>
                  <a:cubicBezTo>
                    <a:pt x="285" y="691"/>
                    <a:pt x="225" y="674"/>
                    <a:pt x="172" y="644"/>
                  </a:cubicBezTo>
                  <a:cubicBezTo>
                    <a:pt x="120" y="613"/>
                    <a:pt x="76" y="570"/>
                    <a:pt x="46" y="518"/>
                  </a:cubicBezTo>
                  <a:cubicBezTo>
                    <a:pt x="15" y="465"/>
                    <a:pt x="0" y="405"/>
                    <a:pt x="0" y="345"/>
                  </a:cubicBezTo>
                  <a:lnTo>
                    <a:pt x="0" y="345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" name="path 154"/>
            <p:cNvSpPr/>
            <p:nvPr/>
          </p:nvSpPr>
          <p:spPr>
            <a:xfrm>
              <a:off x="0" y="0"/>
              <a:ext cx="451448" cy="451435"/>
            </a:xfrm>
            <a:custGeom>
              <a:avLst/>
              <a:gdLst/>
              <a:ahLst/>
              <a:cxnLst/>
              <a:rect l="0" t="0" r="0" b="0"/>
              <a:pathLst>
                <a:path w="710" h="710">
                  <a:moveTo>
                    <a:pt x="9" y="355"/>
                  </a:moveTo>
                  <a:lnTo>
                    <a:pt x="9" y="355"/>
                  </a:lnTo>
                  <a:cubicBezTo>
                    <a:pt x="9" y="294"/>
                    <a:pt x="25" y="235"/>
                    <a:pt x="56" y="182"/>
                  </a:cubicBezTo>
                  <a:cubicBezTo>
                    <a:pt x="86" y="130"/>
                    <a:pt x="130" y="86"/>
                    <a:pt x="182" y="55"/>
                  </a:cubicBezTo>
                  <a:cubicBezTo>
                    <a:pt x="235" y="25"/>
                    <a:pt x="295" y="9"/>
                    <a:pt x="355" y="9"/>
                  </a:cubicBezTo>
                  <a:lnTo>
                    <a:pt x="355" y="9"/>
                  </a:lnTo>
                  <a:cubicBezTo>
                    <a:pt x="415" y="9"/>
                    <a:pt x="475" y="25"/>
                    <a:pt x="528" y="55"/>
                  </a:cubicBezTo>
                  <a:cubicBezTo>
                    <a:pt x="580" y="86"/>
                    <a:pt x="624" y="130"/>
                    <a:pt x="654" y="182"/>
                  </a:cubicBezTo>
                  <a:cubicBezTo>
                    <a:pt x="685" y="235"/>
                    <a:pt x="701" y="294"/>
                    <a:pt x="701" y="355"/>
                  </a:cubicBezTo>
                  <a:lnTo>
                    <a:pt x="701" y="355"/>
                  </a:lnTo>
                  <a:lnTo>
                    <a:pt x="701" y="355"/>
                  </a:lnTo>
                  <a:cubicBezTo>
                    <a:pt x="701" y="415"/>
                    <a:pt x="685" y="475"/>
                    <a:pt x="654" y="528"/>
                  </a:cubicBezTo>
                  <a:cubicBezTo>
                    <a:pt x="624" y="580"/>
                    <a:pt x="580" y="623"/>
                    <a:pt x="528" y="654"/>
                  </a:cubicBezTo>
                  <a:cubicBezTo>
                    <a:pt x="475" y="684"/>
                    <a:pt x="415" y="701"/>
                    <a:pt x="355" y="701"/>
                  </a:cubicBezTo>
                  <a:lnTo>
                    <a:pt x="355" y="701"/>
                  </a:lnTo>
                  <a:cubicBezTo>
                    <a:pt x="295" y="701"/>
                    <a:pt x="235" y="684"/>
                    <a:pt x="182" y="654"/>
                  </a:cubicBezTo>
                  <a:cubicBezTo>
                    <a:pt x="130" y="623"/>
                    <a:pt x="86" y="580"/>
                    <a:pt x="56" y="528"/>
                  </a:cubicBezTo>
                  <a:cubicBezTo>
                    <a:pt x="25" y="475"/>
                    <a:pt x="9" y="415"/>
                    <a:pt x="9" y="355"/>
                  </a:cubicBezTo>
                </a:path>
              </a:pathLst>
            </a:custGeom>
            <a:noFill/>
            <a:ln w="1259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6" name="textbox 156"/>
          <p:cNvSpPr/>
          <p:nvPr/>
        </p:nvSpPr>
        <p:spPr>
          <a:xfrm>
            <a:off x="5378448" y="4374561"/>
            <a:ext cx="1193800" cy="63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③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200" b="1" kern="0" spc="5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候选筛选与投影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542340" y="4245660"/>
            <a:ext cx="451435" cy="451435"/>
            <a:chOff x="0" y="0"/>
            <a:chExt cx="451435" cy="451435"/>
          </a:xfrm>
        </p:grpSpPr>
        <p:sp>
          <p:nvSpPr>
            <p:cNvPr id="158" name="path 158"/>
            <p:cNvSpPr/>
            <p:nvPr/>
          </p:nvSpPr>
          <p:spPr>
            <a:xfrm>
              <a:off x="6299" y="6299"/>
              <a:ext cx="438835" cy="438835"/>
            </a:xfrm>
            <a:custGeom>
              <a:avLst/>
              <a:gdLst/>
              <a:ahLst/>
              <a:cxnLst/>
              <a:rect l="0" t="0" r="0" b="0"/>
              <a:pathLst>
                <a:path w="691" h="691">
                  <a:moveTo>
                    <a:pt x="0" y="345"/>
                  </a:moveTo>
                  <a:lnTo>
                    <a:pt x="0" y="345"/>
                  </a:lnTo>
                  <a:cubicBezTo>
                    <a:pt x="0" y="284"/>
                    <a:pt x="15" y="225"/>
                    <a:pt x="46" y="172"/>
                  </a:cubicBezTo>
                  <a:cubicBezTo>
                    <a:pt x="76" y="120"/>
                    <a:pt x="120" y="76"/>
                    <a:pt x="172" y="45"/>
                  </a:cubicBezTo>
                  <a:cubicBezTo>
                    <a:pt x="225" y="15"/>
                    <a:pt x="285" y="0"/>
                    <a:pt x="345" y="0"/>
                  </a:cubicBezTo>
                  <a:lnTo>
                    <a:pt x="345" y="0"/>
                  </a:lnTo>
                  <a:cubicBezTo>
                    <a:pt x="405" y="0"/>
                    <a:pt x="466" y="15"/>
                    <a:pt x="518" y="45"/>
                  </a:cubicBezTo>
                  <a:cubicBezTo>
                    <a:pt x="570" y="76"/>
                    <a:pt x="614" y="120"/>
                    <a:pt x="644" y="172"/>
                  </a:cubicBezTo>
                  <a:cubicBezTo>
                    <a:pt x="675" y="225"/>
                    <a:pt x="691" y="284"/>
                    <a:pt x="691" y="345"/>
                  </a:cubicBezTo>
                  <a:lnTo>
                    <a:pt x="691" y="345"/>
                  </a:lnTo>
                  <a:lnTo>
                    <a:pt x="691" y="345"/>
                  </a:lnTo>
                  <a:cubicBezTo>
                    <a:pt x="691" y="405"/>
                    <a:pt x="675" y="465"/>
                    <a:pt x="644" y="518"/>
                  </a:cubicBezTo>
                  <a:cubicBezTo>
                    <a:pt x="614" y="570"/>
                    <a:pt x="570" y="613"/>
                    <a:pt x="518" y="644"/>
                  </a:cubicBezTo>
                  <a:cubicBezTo>
                    <a:pt x="466" y="674"/>
                    <a:pt x="405" y="691"/>
                    <a:pt x="345" y="691"/>
                  </a:cubicBezTo>
                  <a:lnTo>
                    <a:pt x="345" y="691"/>
                  </a:lnTo>
                  <a:cubicBezTo>
                    <a:pt x="285" y="691"/>
                    <a:pt x="225" y="674"/>
                    <a:pt x="172" y="644"/>
                  </a:cubicBezTo>
                  <a:cubicBezTo>
                    <a:pt x="120" y="613"/>
                    <a:pt x="76" y="570"/>
                    <a:pt x="46" y="518"/>
                  </a:cubicBezTo>
                  <a:cubicBezTo>
                    <a:pt x="15" y="465"/>
                    <a:pt x="0" y="405"/>
                    <a:pt x="0" y="345"/>
                  </a:cubicBezTo>
                  <a:lnTo>
                    <a:pt x="0" y="345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" name="path 160"/>
            <p:cNvSpPr/>
            <p:nvPr/>
          </p:nvSpPr>
          <p:spPr>
            <a:xfrm>
              <a:off x="0" y="0"/>
              <a:ext cx="451435" cy="451435"/>
            </a:xfrm>
            <a:custGeom>
              <a:avLst/>
              <a:gdLst/>
              <a:ahLst/>
              <a:cxnLst/>
              <a:rect l="0" t="0" r="0" b="0"/>
              <a:pathLst>
                <a:path w="710" h="710">
                  <a:moveTo>
                    <a:pt x="9" y="355"/>
                  </a:moveTo>
                  <a:lnTo>
                    <a:pt x="9" y="355"/>
                  </a:lnTo>
                  <a:cubicBezTo>
                    <a:pt x="9" y="294"/>
                    <a:pt x="25" y="235"/>
                    <a:pt x="56" y="182"/>
                  </a:cubicBezTo>
                  <a:cubicBezTo>
                    <a:pt x="86" y="130"/>
                    <a:pt x="130" y="86"/>
                    <a:pt x="182" y="55"/>
                  </a:cubicBezTo>
                  <a:cubicBezTo>
                    <a:pt x="235" y="25"/>
                    <a:pt x="295" y="9"/>
                    <a:pt x="355" y="9"/>
                  </a:cubicBezTo>
                  <a:lnTo>
                    <a:pt x="355" y="9"/>
                  </a:lnTo>
                  <a:cubicBezTo>
                    <a:pt x="415" y="9"/>
                    <a:pt x="475" y="25"/>
                    <a:pt x="528" y="55"/>
                  </a:cubicBezTo>
                  <a:cubicBezTo>
                    <a:pt x="580" y="86"/>
                    <a:pt x="624" y="130"/>
                    <a:pt x="654" y="182"/>
                  </a:cubicBezTo>
                  <a:cubicBezTo>
                    <a:pt x="685" y="235"/>
                    <a:pt x="701" y="294"/>
                    <a:pt x="701" y="355"/>
                  </a:cubicBezTo>
                  <a:lnTo>
                    <a:pt x="701" y="355"/>
                  </a:lnTo>
                  <a:lnTo>
                    <a:pt x="701" y="355"/>
                  </a:lnTo>
                  <a:cubicBezTo>
                    <a:pt x="701" y="415"/>
                    <a:pt x="685" y="475"/>
                    <a:pt x="654" y="528"/>
                  </a:cubicBezTo>
                  <a:cubicBezTo>
                    <a:pt x="624" y="580"/>
                    <a:pt x="580" y="623"/>
                    <a:pt x="528" y="654"/>
                  </a:cubicBezTo>
                  <a:cubicBezTo>
                    <a:pt x="475" y="684"/>
                    <a:pt x="415" y="701"/>
                    <a:pt x="355" y="701"/>
                  </a:cubicBezTo>
                  <a:lnTo>
                    <a:pt x="355" y="701"/>
                  </a:lnTo>
                  <a:cubicBezTo>
                    <a:pt x="295" y="701"/>
                    <a:pt x="235" y="684"/>
                    <a:pt x="182" y="654"/>
                  </a:cubicBezTo>
                  <a:cubicBezTo>
                    <a:pt x="130" y="623"/>
                    <a:pt x="86" y="580"/>
                    <a:pt x="56" y="528"/>
                  </a:cubicBezTo>
                  <a:cubicBezTo>
                    <a:pt x="25" y="475"/>
                    <a:pt x="9" y="415"/>
                    <a:pt x="9" y="355"/>
                  </a:cubicBezTo>
                </a:path>
              </a:pathLst>
            </a:custGeom>
            <a:noFill/>
            <a:ln w="1259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2" name="textbox 162"/>
          <p:cNvSpPr/>
          <p:nvPr/>
        </p:nvSpPr>
        <p:spPr>
          <a:xfrm>
            <a:off x="678648" y="4374561"/>
            <a:ext cx="1193800" cy="63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200" b="1" kern="0" spc="4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降雨场景与拓扑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2892424" y="4245660"/>
            <a:ext cx="451435" cy="451435"/>
            <a:chOff x="0" y="0"/>
            <a:chExt cx="451435" cy="451435"/>
          </a:xfrm>
        </p:grpSpPr>
        <p:sp>
          <p:nvSpPr>
            <p:cNvPr id="164" name="path 164"/>
            <p:cNvSpPr/>
            <p:nvPr/>
          </p:nvSpPr>
          <p:spPr>
            <a:xfrm>
              <a:off x="6299" y="6299"/>
              <a:ext cx="438835" cy="438835"/>
            </a:xfrm>
            <a:custGeom>
              <a:avLst/>
              <a:gdLst/>
              <a:ahLst/>
              <a:cxnLst/>
              <a:rect l="0" t="0" r="0" b="0"/>
              <a:pathLst>
                <a:path w="691" h="691">
                  <a:moveTo>
                    <a:pt x="0" y="345"/>
                  </a:moveTo>
                  <a:lnTo>
                    <a:pt x="0" y="345"/>
                  </a:lnTo>
                  <a:cubicBezTo>
                    <a:pt x="0" y="284"/>
                    <a:pt x="15" y="225"/>
                    <a:pt x="46" y="172"/>
                  </a:cubicBezTo>
                  <a:cubicBezTo>
                    <a:pt x="76" y="120"/>
                    <a:pt x="120" y="76"/>
                    <a:pt x="172" y="45"/>
                  </a:cubicBezTo>
                  <a:cubicBezTo>
                    <a:pt x="225" y="15"/>
                    <a:pt x="285" y="0"/>
                    <a:pt x="345" y="0"/>
                  </a:cubicBezTo>
                  <a:lnTo>
                    <a:pt x="345" y="0"/>
                  </a:lnTo>
                  <a:cubicBezTo>
                    <a:pt x="405" y="0"/>
                    <a:pt x="466" y="15"/>
                    <a:pt x="518" y="45"/>
                  </a:cubicBezTo>
                  <a:cubicBezTo>
                    <a:pt x="570" y="76"/>
                    <a:pt x="614" y="120"/>
                    <a:pt x="644" y="172"/>
                  </a:cubicBezTo>
                  <a:cubicBezTo>
                    <a:pt x="675" y="225"/>
                    <a:pt x="691" y="284"/>
                    <a:pt x="691" y="345"/>
                  </a:cubicBezTo>
                  <a:lnTo>
                    <a:pt x="691" y="345"/>
                  </a:lnTo>
                  <a:lnTo>
                    <a:pt x="691" y="345"/>
                  </a:lnTo>
                  <a:cubicBezTo>
                    <a:pt x="691" y="405"/>
                    <a:pt x="675" y="465"/>
                    <a:pt x="644" y="518"/>
                  </a:cubicBezTo>
                  <a:cubicBezTo>
                    <a:pt x="614" y="570"/>
                    <a:pt x="570" y="613"/>
                    <a:pt x="518" y="644"/>
                  </a:cubicBezTo>
                  <a:cubicBezTo>
                    <a:pt x="466" y="674"/>
                    <a:pt x="405" y="691"/>
                    <a:pt x="345" y="691"/>
                  </a:cubicBezTo>
                  <a:lnTo>
                    <a:pt x="345" y="691"/>
                  </a:lnTo>
                  <a:cubicBezTo>
                    <a:pt x="285" y="691"/>
                    <a:pt x="225" y="674"/>
                    <a:pt x="172" y="644"/>
                  </a:cubicBezTo>
                  <a:cubicBezTo>
                    <a:pt x="120" y="613"/>
                    <a:pt x="76" y="570"/>
                    <a:pt x="46" y="518"/>
                  </a:cubicBezTo>
                  <a:cubicBezTo>
                    <a:pt x="15" y="465"/>
                    <a:pt x="0" y="405"/>
                    <a:pt x="0" y="345"/>
                  </a:cubicBezTo>
                  <a:lnTo>
                    <a:pt x="0" y="345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6" name="path 166"/>
            <p:cNvSpPr/>
            <p:nvPr/>
          </p:nvSpPr>
          <p:spPr>
            <a:xfrm>
              <a:off x="0" y="0"/>
              <a:ext cx="451435" cy="451435"/>
            </a:xfrm>
            <a:custGeom>
              <a:avLst/>
              <a:gdLst/>
              <a:ahLst/>
              <a:cxnLst/>
              <a:rect l="0" t="0" r="0" b="0"/>
              <a:pathLst>
                <a:path w="710" h="710">
                  <a:moveTo>
                    <a:pt x="9" y="355"/>
                  </a:moveTo>
                  <a:lnTo>
                    <a:pt x="9" y="355"/>
                  </a:lnTo>
                  <a:cubicBezTo>
                    <a:pt x="9" y="294"/>
                    <a:pt x="25" y="235"/>
                    <a:pt x="56" y="182"/>
                  </a:cubicBezTo>
                  <a:cubicBezTo>
                    <a:pt x="86" y="130"/>
                    <a:pt x="130" y="86"/>
                    <a:pt x="182" y="55"/>
                  </a:cubicBezTo>
                  <a:cubicBezTo>
                    <a:pt x="234" y="25"/>
                    <a:pt x="295" y="9"/>
                    <a:pt x="355" y="9"/>
                  </a:cubicBezTo>
                  <a:lnTo>
                    <a:pt x="355" y="9"/>
                  </a:lnTo>
                  <a:cubicBezTo>
                    <a:pt x="415" y="9"/>
                    <a:pt x="475" y="25"/>
                    <a:pt x="528" y="55"/>
                  </a:cubicBezTo>
                  <a:cubicBezTo>
                    <a:pt x="580" y="86"/>
                    <a:pt x="624" y="130"/>
                    <a:pt x="654" y="182"/>
                  </a:cubicBezTo>
                  <a:cubicBezTo>
                    <a:pt x="685" y="235"/>
                    <a:pt x="701" y="294"/>
                    <a:pt x="701" y="355"/>
                  </a:cubicBezTo>
                  <a:lnTo>
                    <a:pt x="701" y="355"/>
                  </a:lnTo>
                  <a:lnTo>
                    <a:pt x="701" y="355"/>
                  </a:lnTo>
                  <a:cubicBezTo>
                    <a:pt x="701" y="415"/>
                    <a:pt x="685" y="475"/>
                    <a:pt x="654" y="528"/>
                  </a:cubicBezTo>
                  <a:cubicBezTo>
                    <a:pt x="624" y="580"/>
                    <a:pt x="580" y="623"/>
                    <a:pt x="528" y="654"/>
                  </a:cubicBezTo>
                  <a:cubicBezTo>
                    <a:pt x="475" y="684"/>
                    <a:pt x="415" y="701"/>
                    <a:pt x="355" y="701"/>
                  </a:cubicBezTo>
                  <a:lnTo>
                    <a:pt x="355" y="701"/>
                  </a:lnTo>
                  <a:cubicBezTo>
                    <a:pt x="295" y="701"/>
                    <a:pt x="234" y="684"/>
                    <a:pt x="182" y="654"/>
                  </a:cubicBezTo>
                  <a:cubicBezTo>
                    <a:pt x="130" y="623"/>
                    <a:pt x="86" y="580"/>
                    <a:pt x="56" y="528"/>
                  </a:cubicBezTo>
                  <a:cubicBezTo>
                    <a:pt x="25" y="475"/>
                    <a:pt x="9" y="415"/>
                    <a:pt x="9" y="355"/>
                  </a:cubicBezTo>
                </a:path>
              </a:pathLst>
            </a:custGeom>
            <a:noFill/>
            <a:ln w="1259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8" name="textbox 168"/>
          <p:cNvSpPr/>
          <p:nvPr/>
        </p:nvSpPr>
        <p:spPr>
          <a:xfrm>
            <a:off x="3028364" y="4374561"/>
            <a:ext cx="1113789" cy="63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200" b="1" kern="0" spc="5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在线状态重建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4528615" y="1831504"/>
            <a:ext cx="927100" cy="305434"/>
          </a:xfrm>
          <a:prstGeom prst="rect">
            <a:avLst/>
          </a:prstGeom>
          <a:solidFill>
            <a:srgbClr val="785E9C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80034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 </a:t>
            </a: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624420" y="1831504"/>
            <a:ext cx="927100" cy="305434"/>
          </a:xfrm>
          <a:prstGeom prst="rect">
            <a:avLst/>
          </a:prstGeom>
          <a:solidFill>
            <a:srgbClr val="2365A3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 </a:t>
            </a: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8433180" y="1831504"/>
            <a:ext cx="927100" cy="305434"/>
          </a:xfrm>
          <a:prstGeom prst="rect">
            <a:avLst/>
          </a:prstGeom>
          <a:solidFill>
            <a:srgbClr val="218C9F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80034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 </a:t>
            </a:r>
            <a:r>
              <a:rPr sz="10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5778712" y="4433760"/>
            <a:ext cx="1335243" cy="75603"/>
            <a:chOff x="0" y="0"/>
            <a:chExt cx="1335243" cy="75603"/>
          </a:xfrm>
        </p:grpSpPr>
        <p:sp>
          <p:nvSpPr>
            <p:cNvPr id="184" name="path 184"/>
            <p:cNvSpPr/>
            <p:nvPr/>
          </p:nvSpPr>
          <p:spPr>
            <a:xfrm>
              <a:off x="0" y="25380"/>
              <a:ext cx="1264685" cy="24475"/>
            </a:xfrm>
            <a:custGeom>
              <a:avLst/>
              <a:gdLst/>
              <a:ahLst/>
              <a:cxnLst/>
              <a:rect l="0" t="0" r="0" b="0"/>
              <a:pathLst>
                <a:path w="1991" h="38">
                  <a:moveTo>
                    <a:pt x="0" y="18"/>
                  </a:moveTo>
                  <a:lnTo>
                    <a:pt x="1991" y="19"/>
                  </a:lnTo>
                </a:path>
              </a:pathLst>
            </a:custGeom>
            <a:noFill/>
            <a:ln w="24119" cap="flat">
              <a:solidFill>
                <a:srgbClr val="8AA0B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6" name="path 186"/>
            <p:cNvSpPr/>
            <p:nvPr/>
          </p:nvSpPr>
          <p:spPr>
            <a:xfrm>
              <a:off x="1259653" y="0"/>
              <a:ext cx="75589" cy="75603"/>
            </a:xfrm>
            <a:custGeom>
              <a:avLst/>
              <a:gdLst/>
              <a:ahLst/>
              <a:cxnLst/>
              <a:rect l="0" t="0" r="0" b="0"/>
              <a:pathLst>
                <a:path w="119" h="119">
                  <a:moveTo>
                    <a:pt x="119" y="5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119" y="59"/>
                  </a:lnTo>
                  <a:close/>
                </a:path>
              </a:pathLst>
            </a:custGeom>
            <a:solidFill>
              <a:srgbClr val="8AA0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8128796" y="4433760"/>
            <a:ext cx="1335243" cy="75603"/>
            <a:chOff x="0" y="0"/>
            <a:chExt cx="1335243" cy="75603"/>
          </a:xfrm>
        </p:grpSpPr>
        <p:sp>
          <p:nvSpPr>
            <p:cNvPr id="188" name="path 188"/>
            <p:cNvSpPr/>
            <p:nvPr/>
          </p:nvSpPr>
          <p:spPr>
            <a:xfrm>
              <a:off x="0" y="25380"/>
              <a:ext cx="1264684" cy="24475"/>
            </a:xfrm>
            <a:custGeom>
              <a:avLst/>
              <a:gdLst/>
              <a:ahLst/>
              <a:cxnLst/>
              <a:rect l="0" t="0" r="0" b="0"/>
              <a:pathLst>
                <a:path w="1991" h="38">
                  <a:moveTo>
                    <a:pt x="0" y="18"/>
                  </a:moveTo>
                  <a:lnTo>
                    <a:pt x="1991" y="19"/>
                  </a:lnTo>
                </a:path>
              </a:pathLst>
            </a:custGeom>
            <a:noFill/>
            <a:ln w="24119" cap="flat">
              <a:solidFill>
                <a:srgbClr val="8AA0B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" name="path 190"/>
            <p:cNvSpPr/>
            <p:nvPr/>
          </p:nvSpPr>
          <p:spPr>
            <a:xfrm>
              <a:off x="1259640" y="0"/>
              <a:ext cx="75603" cy="75603"/>
            </a:xfrm>
            <a:custGeom>
              <a:avLst/>
              <a:gdLst/>
              <a:ahLst/>
              <a:cxnLst/>
              <a:rect l="0" t="0" r="0" b="0"/>
              <a:pathLst>
                <a:path w="119" h="119">
                  <a:moveTo>
                    <a:pt x="119" y="5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119" y="59"/>
                  </a:lnTo>
                  <a:close/>
                </a:path>
              </a:pathLst>
            </a:custGeom>
            <a:solidFill>
              <a:srgbClr val="8AA0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3428996" y="4433760"/>
            <a:ext cx="1334887" cy="75603"/>
            <a:chOff x="0" y="0"/>
            <a:chExt cx="1334887" cy="75603"/>
          </a:xfrm>
        </p:grpSpPr>
        <p:sp>
          <p:nvSpPr>
            <p:cNvPr id="192" name="path 192"/>
            <p:cNvSpPr/>
            <p:nvPr/>
          </p:nvSpPr>
          <p:spPr>
            <a:xfrm>
              <a:off x="0" y="25380"/>
              <a:ext cx="1264329" cy="24475"/>
            </a:xfrm>
            <a:custGeom>
              <a:avLst/>
              <a:gdLst/>
              <a:ahLst/>
              <a:cxnLst/>
              <a:rect l="0" t="0" r="0" b="0"/>
              <a:pathLst>
                <a:path w="1991" h="38">
                  <a:moveTo>
                    <a:pt x="0" y="18"/>
                  </a:moveTo>
                  <a:lnTo>
                    <a:pt x="1991" y="19"/>
                  </a:lnTo>
                </a:path>
              </a:pathLst>
            </a:custGeom>
            <a:noFill/>
            <a:ln w="24119" cap="flat">
              <a:solidFill>
                <a:srgbClr val="8AA0B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" name="path 194"/>
            <p:cNvSpPr/>
            <p:nvPr/>
          </p:nvSpPr>
          <p:spPr>
            <a:xfrm>
              <a:off x="1259284" y="0"/>
              <a:ext cx="75603" cy="75603"/>
            </a:xfrm>
            <a:custGeom>
              <a:avLst/>
              <a:gdLst/>
              <a:ahLst/>
              <a:cxnLst/>
              <a:rect l="0" t="0" r="0" b="0"/>
              <a:pathLst>
                <a:path w="119" h="119">
                  <a:moveTo>
                    <a:pt x="119" y="5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119" y="59"/>
                  </a:lnTo>
                  <a:close/>
                </a:path>
              </a:pathLst>
            </a:custGeom>
            <a:solidFill>
              <a:srgbClr val="8AA0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 rot="21600000">
            <a:off x="1078912" y="4433760"/>
            <a:ext cx="1334887" cy="75603"/>
            <a:chOff x="0" y="0"/>
            <a:chExt cx="1334887" cy="75603"/>
          </a:xfrm>
        </p:grpSpPr>
        <p:sp>
          <p:nvSpPr>
            <p:cNvPr id="196" name="path 196"/>
            <p:cNvSpPr/>
            <p:nvPr/>
          </p:nvSpPr>
          <p:spPr>
            <a:xfrm>
              <a:off x="0" y="25380"/>
              <a:ext cx="1264329" cy="24475"/>
            </a:xfrm>
            <a:custGeom>
              <a:avLst/>
              <a:gdLst/>
              <a:ahLst/>
              <a:cxnLst/>
              <a:rect l="0" t="0" r="0" b="0"/>
              <a:pathLst>
                <a:path w="1991" h="38">
                  <a:moveTo>
                    <a:pt x="0" y="18"/>
                  </a:moveTo>
                  <a:lnTo>
                    <a:pt x="1991" y="19"/>
                  </a:lnTo>
                </a:path>
              </a:pathLst>
            </a:custGeom>
            <a:noFill/>
            <a:ln w="24119" cap="flat">
              <a:solidFill>
                <a:srgbClr val="8AA0B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" name="path 198"/>
            <p:cNvSpPr/>
            <p:nvPr/>
          </p:nvSpPr>
          <p:spPr>
            <a:xfrm>
              <a:off x="1259284" y="0"/>
              <a:ext cx="75603" cy="75603"/>
            </a:xfrm>
            <a:custGeom>
              <a:avLst/>
              <a:gdLst/>
              <a:ahLst/>
              <a:cxnLst/>
              <a:rect l="0" t="0" r="0" b="0"/>
              <a:pathLst>
                <a:path w="119" h="119">
                  <a:moveTo>
                    <a:pt x="119" y="5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119" y="59"/>
                  </a:lnTo>
                  <a:close/>
                </a:path>
              </a:pathLst>
            </a:custGeom>
            <a:solidFill>
              <a:srgbClr val="8AA0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00" name="picture 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7845451" y="2569324"/>
            <a:ext cx="374788" cy="110159"/>
            <a:chOff x="0" y="0"/>
            <a:chExt cx="374788" cy="110159"/>
          </a:xfrm>
        </p:grpSpPr>
        <p:sp>
          <p:nvSpPr>
            <p:cNvPr id="202" name="path 202"/>
            <p:cNvSpPr/>
            <p:nvPr/>
          </p:nvSpPr>
          <p:spPr>
            <a:xfrm>
              <a:off x="0" y="36352"/>
              <a:ext cx="271853" cy="37087"/>
            </a:xfrm>
            <a:custGeom>
              <a:avLst/>
              <a:gdLst/>
              <a:ahLst/>
              <a:cxnLst/>
              <a:rect l="0" t="0" r="0" b="0"/>
              <a:pathLst>
                <a:path w="428" h="58">
                  <a:moveTo>
                    <a:pt x="0" y="28"/>
                  </a:moveTo>
                  <a:lnTo>
                    <a:pt x="428" y="29"/>
                  </a:lnTo>
                </a:path>
              </a:pathLst>
            </a:custGeom>
            <a:noFill/>
            <a:ln w="3671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" name="path 204"/>
            <p:cNvSpPr/>
            <p:nvPr/>
          </p:nvSpPr>
          <p:spPr>
            <a:xfrm>
              <a:off x="264628" y="0"/>
              <a:ext cx="110159" cy="110159"/>
            </a:xfrm>
            <a:custGeom>
              <a:avLst/>
              <a:gdLst/>
              <a:ahLst/>
              <a:cxnLst/>
              <a:rect l="0" t="0" r="0" b="0"/>
              <a:pathLst>
                <a:path w="173" h="173">
                  <a:moveTo>
                    <a:pt x="173" y="86"/>
                  </a:moveTo>
                  <a:lnTo>
                    <a:pt x="0" y="173"/>
                  </a:lnTo>
                  <a:lnTo>
                    <a:pt x="0" y="0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 rot="21600000">
            <a:off x="3940899" y="2569324"/>
            <a:ext cx="374776" cy="110159"/>
            <a:chOff x="0" y="0"/>
            <a:chExt cx="374776" cy="110159"/>
          </a:xfrm>
        </p:grpSpPr>
        <p:sp>
          <p:nvSpPr>
            <p:cNvPr id="206" name="path 206"/>
            <p:cNvSpPr/>
            <p:nvPr/>
          </p:nvSpPr>
          <p:spPr>
            <a:xfrm>
              <a:off x="0" y="36352"/>
              <a:ext cx="271842" cy="37087"/>
            </a:xfrm>
            <a:custGeom>
              <a:avLst/>
              <a:gdLst/>
              <a:ahLst/>
              <a:cxnLst/>
              <a:rect l="0" t="0" r="0" b="0"/>
              <a:pathLst>
                <a:path w="428" h="58">
                  <a:moveTo>
                    <a:pt x="0" y="28"/>
                  </a:moveTo>
                  <a:lnTo>
                    <a:pt x="428" y="29"/>
                  </a:lnTo>
                </a:path>
              </a:pathLst>
            </a:custGeom>
            <a:noFill/>
            <a:ln w="3671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" name="path 208"/>
            <p:cNvSpPr/>
            <p:nvPr/>
          </p:nvSpPr>
          <p:spPr>
            <a:xfrm>
              <a:off x="264616" y="0"/>
              <a:ext cx="110159" cy="110159"/>
            </a:xfrm>
            <a:custGeom>
              <a:avLst/>
              <a:gdLst/>
              <a:ahLst/>
              <a:cxnLst/>
              <a:rect l="0" t="0" r="0" b="0"/>
              <a:pathLst>
                <a:path w="173" h="173">
                  <a:moveTo>
                    <a:pt x="173" y="86"/>
                  </a:moveTo>
                  <a:lnTo>
                    <a:pt x="0" y="173"/>
                  </a:lnTo>
                  <a:lnTo>
                    <a:pt x="0" y="0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table 212"/>
          <p:cNvGraphicFramePr>
            <a:graphicFrameLocks noGrp="1"/>
          </p:cNvGraphicFramePr>
          <p:nvPr/>
        </p:nvGraphicFramePr>
        <p:xfrm>
          <a:off x="413096" y="1437300"/>
          <a:ext cx="5701665" cy="4283709"/>
        </p:xfrm>
        <a:graphic>
          <a:graphicData uri="http://schemas.openxmlformats.org/drawingml/2006/table">
            <a:tbl>
              <a:tblPr/>
              <a:tblGrid>
                <a:gridCol w="570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837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研究区域与管网空间分布（源自手稿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Fig</a:t>
                      </a:r>
                      <a:r>
                        <a:rPr sz="1000" kern="0" spc="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1000" kern="0" spc="-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3D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3D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3D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3D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4359" y="1608835"/>
            <a:ext cx="5348884" cy="3748684"/>
          </a:xfrm>
          <a:prstGeom prst="rect">
            <a:avLst/>
          </a:prstGeom>
        </p:spPr>
      </p:pic>
      <p:graphicFrame>
        <p:nvGraphicFramePr>
          <p:cNvPr id="216" name="table 216"/>
          <p:cNvGraphicFramePr>
            <a:graphicFrameLocks noGrp="1"/>
          </p:cNvGraphicFramePr>
          <p:nvPr/>
        </p:nvGraphicFramePr>
        <p:xfrm>
          <a:off x="6375060" y="4198864"/>
          <a:ext cx="5088890" cy="1622425"/>
        </p:xfrm>
        <a:graphic>
          <a:graphicData uri="http://schemas.openxmlformats.org/drawingml/2006/table">
            <a:tbl>
              <a:tblPr/>
              <a:tblGrid>
                <a:gridCol w="5088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2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对照策略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56210" algn="l" rtl="0" eaLnBrk="0">
                        <a:lnSpc>
                          <a:spcPts val="1203"/>
                        </a:lnSpc>
                        <a:spcBef>
                          <a:spcPts val="982"/>
                        </a:spcBef>
                        <a:tabLst/>
                      </a:pPr>
                      <a:r>
                        <a:rPr sz="2000" kern="0" spc="110" dirty="0">
                          <a:solidFill>
                            <a:srgbClr val="4676B7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0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Internal</a:t>
                      </a:r>
                      <a:r>
                        <a:rPr sz="1000" b="1" kern="0" spc="1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RTC</a:t>
                      </a:r>
                      <a:r>
                        <a:rPr sz="1000" b="1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900" kern="0" spc="1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现有静态规则        </a:t>
                      </a:r>
                      <a:r>
                        <a:rPr sz="900" kern="0" spc="10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2000" kern="0" spc="100" dirty="0">
                          <a:solidFill>
                            <a:srgbClr val="4676B7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0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</a:t>
                      </a:r>
                      <a:r>
                        <a:rPr sz="1000" b="1" kern="0" spc="10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0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RBC</a:t>
                      </a:r>
                      <a:r>
                        <a:rPr sz="1000" b="1" kern="0" spc="10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900" kern="0" spc="10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动态规则控制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9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210" algn="l" rtl="0" eaLnBrk="0">
                        <a:lnSpc>
                          <a:spcPts val="1288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70" dirty="0">
                          <a:solidFill>
                            <a:srgbClr val="4676B7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0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EFD</a:t>
                      </a:r>
                      <a:r>
                        <a:rPr sz="1000" b="1" kern="0" spc="7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</a:t>
                      </a:r>
                      <a:r>
                        <a:rPr sz="900" kern="0" spc="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存储均衡控制              </a:t>
                      </a:r>
                      <a:r>
                        <a:rPr sz="2000" kern="0" spc="7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0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  <a:r>
                        <a:rPr sz="1000" b="1" kern="0" spc="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RTC</a:t>
                      </a:r>
                      <a:r>
                        <a:rPr sz="1000" b="1" kern="0" spc="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本研究方法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2" name="group 42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218" name="rect 218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0" name="textbox 220"/>
            <p:cNvSpPr/>
            <p:nvPr/>
          </p:nvSpPr>
          <p:spPr>
            <a:xfrm>
              <a:off x="277822" y="154105"/>
              <a:ext cx="6821805" cy="3486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研究对象与实验设计：</a:t>
              </a:r>
              <a:r>
                <a:rPr sz="2400" b="1" kern="0" spc="-4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武汉大型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SWMM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排水网络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22" name="picture 2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224" name="table 224"/>
          <p:cNvGraphicFramePr>
            <a:graphicFrameLocks noGrp="1"/>
          </p:cNvGraphicFramePr>
          <p:nvPr/>
        </p:nvGraphicFramePr>
        <p:xfrm>
          <a:off x="6374704" y="2790180"/>
          <a:ext cx="2446019" cy="1146810"/>
        </p:xfrm>
        <a:graphic>
          <a:graphicData uri="http://schemas.openxmlformats.org/drawingml/2006/table">
            <a:tbl>
              <a:tblPr/>
              <a:tblGrid>
                <a:gridCol w="2446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6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853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900" b="1" kern="0" spc="4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89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监测节点（</a:t>
                      </a:r>
                      <a:r>
                        <a:rPr sz="1200" b="1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9.55%</a:t>
                      </a:r>
                      <a:r>
                        <a:rPr sz="1200" b="1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1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6" name="table 226"/>
          <p:cNvGraphicFramePr>
            <a:graphicFrameLocks noGrp="1"/>
          </p:cNvGraphicFramePr>
          <p:nvPr/>
        </p:nvGraphicFramePr>
        <p:xfrm>
          <a:off x="9008100" y="2790180"/>
          <a:ext cx="2446019" cy="1146810"/>
        </p:xfrm>
        <a:graphic>
          <a:graphicData uri="http://schemas.openxmlformats.org/drawingml/2006/table">
            <a:tbl>
              <a:tblPr/>
              <a:tblGrid>
                <a:gridCol w="2446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6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853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900" b="1" kern="0" spc="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82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454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可控设施通道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table 228"/>
          <p:cNvGraphicFramePr>
            <a:graphicFrameLocks noGrp="1"/>
          </p:cNvGraphicFramePr>
          <p:nvPr/>
        </p:nvGraphicFramePr>
        <p:xfrm>
          <a:off x="6374704" y="1455296"/>
          <a:ext cx="2446019" cy="1146809"/>
        </p:xfrm>
        <a:graphic>
          <a:graphicData uri="http://schemas.openxmlformats.org/drawingml/2006/table">
            <a:tbl>
              <a:tblPr/>
              <a:tblGrid>
                <a:gridCol w="2446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6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868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900" b="1" kern="0" spc="6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932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630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水力节点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9008100" y="1455296"/>
          <a:ext cx="2446019" cy="1146809"/>
        </p:xfrm>
        <a:graphic>
          <a:graphicData uri="http://schemas.openxmlformats.org/drawingml/2006/table">
            <a:tbl>
              <a:tblPr/>
              <a:tblGrid>
                <a:gridCol w="2446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6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025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900" b="1" kern="0" spc="5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1167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40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200" b="1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连接管段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2" name="rect 232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" name="textbox 234"/>
          <p:cNvSpPr/>
          <p:nvPr/>
        </p:nvSpPr>
        <p:spPr>
          <a:xfrm>
            <a:off x="386900" y="971344"/>
            <a:ext cx="5681345" cy="26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374650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案例研究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统一物理模型、统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一降雨与统一控制约束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2917324" y="6019670"/>
            <a:ext cx="618172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400" b="1" kern="0" spc="10" dirty="0">
                <a:solidFill>
                  <a:srgbClr val="C96E6D">
                    <a:alpha val="100000"/>
                  </a:srgbClr>
                </a:solidFill>
                <a:latin typeface="Arial"/>
                <a:ea typeface="Arial"/>
                <a:cs typeface="Arial"/>
              </a:rPr>
              <a:t>12 </a:t>
            </a:r>
            <a:r>
              <a:rPr sz="1400" b="1" kern="0" spc="10" dirty="0">
                <a:solidFill>
                  <a:srgbClr val="C96E6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</a:t>
            </a:r>
            <a:r>
              <a:rPr sz="1400" b="1" kern="0" spc="330" dirty="0">
                <a:solidFill>
                  <a:srgbClr val="C96E6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10" dirty="0">
                <a:solidFill>
                  <a:srgbClr val="C96E6D">
                    <a:alpha val="100000"/>
                  </a:srgbClr>
                </a:solidFill>
                <a:latin typeface="Arial"/>
                <a:ea typeface="Arial"/>
                <a:cs typeface="Arial"/>
              </a:rPr>
              <a:t>5–100 </a:t>
            </a:r>
            <a:r>
              <a:rPr sz="1400" b="1" kern="0" spc="10" dirty="0">
                <a:solidFill>
                  <a:srgbClr val="C96E6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年一遇的回顾性</a:t>
            </a:r>
            <a:r>
              <a:rPr sz="1400" b="1" kern="0" spc="0" dirty="0">
                <a:solidFill>
                  <a:srgbClr val="C96E6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暴雨评估；并非完全独立的未见降雨泛化测试。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table 250"/>
          <p:cNvGraphicFramePr>
            <a:graphicFrameLocks noGrp="1"/>
          </p:cNvGraphicFramePr>
          <p:nvPr/>
        </p:nvGraphicFramePr>
        <p:xfrm>
          <a:off x="431104" y="1501384"/>
          <a:ext cx="3909060" cy="4118609"/>
        </p:xfrm>
        <a:graphic>
          <a:graphicData uri="http://schemas.openxmlformats.org/drawingml/2006/table">
            <a:tbl>
              <a:tblPr/>
              <a:tblGrid>
                <a:gridCol w="390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86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056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物理排水网络与稀疏监</a:t>
                      </a: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5445" algn="l" rtl="0" eaLnBrk="0">
                        <a:lnSpc>
                          <a:spcPts val="1247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kern="0" spc="1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2400" kern="0" spc="-2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已监测</a:t>
                      </a:r>
                      <a:r>
                        <a:rPr sz="1000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</a:t>
                      </a:r>
                      <a:r>
                        <a:rPr sz="2400" kern="0" spc="140" dirty="0">
                          <a:solidFill>
                            <a:srgbClr val="C7D3E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2400" kern="0" spc="-250" dirty="0">
                          <a:solidFill>
                            <a:srgbClr val="C7D3E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未监测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" name="table 252"/>
          <p:cNvGraphicFramePr>
            <a:graphicFrameLocks noGrp="1"/>
          </p:cNvGraphicFramePr>
          <p:nvPr/>
        </p:nvGraphicFramePr>
        <p:xfrm>
          <a:off x="8313295" y="1958216"/>
          <a:ext cx="3434080" cy="3103879"/>
        </p:xfrm>
        <a:graphic>
          <a:graphicData uri="http://schemas.openxmlformats.org/drawingml/2006/table">
            <a:tbl>
              <a:tblPr/>
              <a:tblGrid>
                <a:gridCol w="343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0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统一全网水力状态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775" algn="l" rtl="0" eaLnBrk="0">
                        <a:lnSpc>
                          <a:spcPct val="87000"/>
                        </a:lnSpc>
                        <a:spcBef>
                          <a:spcPts val="392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供后续候选动作生成与价值</a:t>
                      </a:r>
                      <a:r>
                        <a:rPr sz="13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评估使用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1705" algn="l" rtl="0" eaLnBrk="0">
                        <a:lnSpc>
                          <a:spcPct val="74000"/>
                        </a:lnSpc>
                        <a:spcBef>
                          <a:spcPts val="760"/>
                        </a:spcBef>
                        <a:tabLst/>
                      </a:pPr>
                      <a:r>
                        <a:rPr sz="2500" b="1" kern="0" spc="-3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NSE  0.924</a:t>
                      </a:r>
                      <a:endParaRPr sz="2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5825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 </a:t>
                      </a: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组独立雨组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000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未监测节点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4966744" y="1958584"/>
          <a:ext cx="2794000" cy="3131819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6" name="group 46"/>
          <p:cNvGrpSpPr/>
          <p:nvPr/>
        </p:nvGrpSpPr>
        <p:grpSpPr>
          <a:xfrm rot="21600000">
            <a:off x="779944" y="2298064"/>
            <a:ext cx="2801519" cy="2572551"/>
            <a:chOff x="0" y="0"/>
            <a:chExt cx="2801519" cy="2572551"/>
          </a:xfrm>
        </p:grpSpPr>
        <p:sp>
          <p:nvSpPr>
            <p:cNvPr id="256" name="path 256"/>
            <p:cNvSpPr/>
            <p:nvPr/>
          </p:nvSpPr>
          <p:spPr>
            <a:xfrm>
              <a:off x="79070" y="80350"/>
              <a:ext cx="2643841" cy="2414254"/>
            </a:xfrm>
            <a:custGeom>
              <a:avLst/>
              <a:gdLst/>
              <a:ahLst/>
              <a:cxnLst/>
              <a:rect l="0" t="0" r="0" b="0"/>
              <a:pathLst>
                <a:path w="4163" h="3801">
                  <a:moveTo>
                    <a:pt x="15" y="790"/>
                  </a:moveTo>
                  <a:lnTo>
                    <a:pt x="951" y="12"/>
                  </a:lnTo>
                  <a:moveTo>
                    <a:pt x="951" y="12"/>
                  </a:moveTo>
                  <a:lnTo>
                    <a:pt x="1786" y="934"/>
                  </a:lnTo>
                  <a:moveTo>
                    <a:pt x="1786" y="934"/>
                  </a:moveTo>
                  <a:lnTo>
                    <a:pt x="2751" y="26"/>
                  </a:lnTo>
                  <a:moveTo>
                    <a:pt x="2751" y="26"/>
                  </a:moveTo>
                  <a:lnTo>
                    <a:pt x="3802" y="689"/>
                  </a:lnTo>
                  <a:moveTo>
                    <a:pt x="15" y="790"/>
                  </a:moveTo>
                  <a:lnTo>
                    <a:pt x="591" y="2201"/>
                  </a:lnTo>
                  <a:moveTo>
                    <a:pt x="951" y="12"/>
                  </a:moveTo>
                  <a:lnTo>
                    <a:pt x="591" y="2201"/>
                  </a:lnTo>
                  <a:moveTo>
                    <a:pt x="1786" y="934"/>
                  </a:moveTo>
                  <a:lnTo>
                    <a:pt x="1627" y="2431"/>
                  </a:lnTo>
                  <a:moveTo>
                    <a:pt x="1786" y="934"/>
                  </a:moveTo>
                  <a:lnTo>
                    <a:pt x="2693" y="2014"/>
                  </a:lnTo>
                  <a:moveTo>
                    <a:pt x="2751" y="26"/>
                  </a:moveTo>
                  <a:lnTo>
                    <a:pt x="2693" y="2014"/>
                  </a:lnTo>
                  <a:moveTo>
                    <a:pt x="3802" y="689"/>
                  </a:moveTo>
                  <a:lnTo>
                    <a:pt x="4147" y="2100"/>
                  </a:lnTo>
                  <a:moveTo>
                    <a:pt x="591" y="2201"/>
                  </a:moveTo>
                  <a:lnTo>
                    <a:pt x="1627" y="2431"/>
                  </a:lnTo>
                  <a:moveTo>
                    <a:pt x="1627" y="2431"/>
                  </a:moveTo>
                  <a:lnTo>
                    <a:pt x="2693" y="2014"/>
                  </a:lnTo>
                  <a:moveTo>
                    <a:pt x="2693" y="2014"/>
                  </a:moveTo>
                  <a:lnTo>
                    <a:pt x="4147" y="2100"/>
                  </a:lnTo>
                  <a:moveTo>
                    <a:pt x="2693" y="2014"/>
                  </a:moveTo>
                  <a:lnTo>
                    <a:pt x="3413" y="3180"/>
                  </a:lnTo>
                  <a:moveTo>
                    <a:pt x="3413" y="3180"/>
                  </a:moveTo>
                  <a:lnTo>
                    <a:pt x="1887" y="3785"/>
                  </a:lnTo>
                  <a:moveTo>
                    <a:pt x="591" y="2201"/>
                  </a:moveTo>
                  <a:lnTo>
                    <a:pt x="245" y="3727"/>
                  </a:lnTo>
                  <a:moveTo>
                    <a:pt x="245" y="3727"/>
                  </a:moveTo>
                  <a:lnTo>
                    <a:pt x="1887" y="3785"/>
                  </a:lnTo>
                </a:path>
              </a:pathLst>
            </a:custGeom>
            <a:noFill/>
            <a:ln w="20879" cap="flat">
              <a:solidFill>
                <a:srgbClr val="8FA8C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8" name="path 258"/>
            <p:cNvSpPr/>
            <p:nvPr/>
          </p:nvSpPr>
          <p:spPr>
            <a:xfrm>
              <a:off x="6299" y="499859"/>
              <a:ext cx="164515" cy="164515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7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7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0" name="path 260"/>
            <p:cNvSpPr/>
            <p:nvPr/>
          </p:nvSpPr>
          <p:spPr>
            <a:xfrm>
              <a:off x="0" y="493559"/>
              <a:ext cx="177115" cy="177115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2" name="path 262"/>
            <p:cNvSpPr/>
            <p:nvPr/>
          </p:nvSpPr>
          <p:spPr>
            <a:xfrm>
              <a:off x="600659" y="6300"/>
              <a:ext cx="164515" cy="164160"/>
            </a:xfrm>
            <a:custGeom>
              <a:avLst/>
              <a:gdLst/>
              <a:ahLst/>
              <a:cxnLst/>
              <a:rect l="0" t="0" r="0" b="0"/>
              <a:pathLst>
                <a:path w="259" h="258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6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6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8"/>
                    <a:pt x="129" y="258"/>
                  </a:cubicBezTo>
                  <a:lnTo>
                    <a:pt x="129" y="258"/>
                  </a:lnTo>
                  <a:cubicBezTo>
                    <a:pt x="106" y="258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4" name="path 264"/>
            <p:cNvSpPr/>
            <p:nvPr/>
          </p:nvSpPr>
          <p:spPr>
            <a:xfrm>
              <a:off x="594359" y="0"/>
              <a:ext cx="177115" cy="176760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8"/>
                    <a:pt x="139" y="268"/>
                  </a:cubicBezTo>
                  <a:lnTo>
                    <a:pt x="139" y="268"/>
                  </a:lnTo>
                  <a:cubicBezTo>
                    <a:pt x="116" y="268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6" name="path 266"/>
            <p:cNvSpPr/>
            <p:nvPr/>
          </p:nvSpPr>
          <p:spPr>
            <a:xfrm>
              <a:off x="1131291" y="591299"/>
              <a:ext cx="164528" cy="164515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6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6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8" name="path 268"/>
            <p:cNvSpPr/>
            <p:nvPr/>
          </p:nvSpPr>
          <p:spPr>
            <a:xfrm>
              <a:off x="1124991" y="584999"/>
              <a:ext cx="177127" cy="177115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0" name="path 270"/>
            <p:cNvSpPr/>
            <p:nvPr/>
          </p:nvSpPr>
          <p:spPr>
            <a:xfrm>
              <a:off x="1743659" y="14935"/>
              <a:ext cx="164515" cy="164515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7"/>
                    <a:pt x="6" y="84"/>
                    <a:pt x="17" y="65"/>
                  </a:cubicBezTo>
                  <a:cubicBezTo>
                    <a:pt x="28" y="45"/>
                    <a:pt x="45" y="28"/>
                    <a:pt x="64" y="17"/>
                  </a:cubicBezTo>
                  <a:cubicBezTo>
                    <a:pt x="84" y="6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6"/>
                    <a:pt x="194" y="17"/>
                  </a:cubicBezTo>
                  <a:cubicBezTo>
                    <a:pt x="213" y="28"/>
                    <a:pt x="230" y="45"/>
                    <a:pt x="241" y="65"/>
                  </a:cubicBezTo>
                  <a:cubicBezTo>
                    <a:pt x="252" y="84"/>
                    <a:pt x="259" y="107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2"/>
                    <a:pt x="252" y="175"/>
                    <a:pt x="241" y="194"/>
                  </a:cubicBezTo>
                  <a:cubicBezTo>
                    <a:pt x="230" y="214"/>
                    <a:pt x="213" y="230"/>
                    <a:pt x="194" y="242"/>
                  </a:cubicBezTo>
                  <a:cubicBezTo>
                    <a:pt x="174" y="253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3"/>
                    <a:pt x="64" y="242"/>
                  </a:cubicBezTo>
                  <a:cubicBezTo>
                    <a:pt x="45" y="230"/>
                    <a:pt x="28" y="214"/>
                    <a:pt x="17" y="194"/>
                  </a:cubicBezTo>
                  <a:cubicBezTo>
                    <a:pt x="6" y="175"/>
                    <a:pt x="0" y="152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2" name="path 272"/>
            <p:cNvSpPr/>
            <p:nvPr/>
          </p:nvSpPr>
          <p:spPr>
            <a:xfrm>
              <a:off x="1737360" y="8635"/>
              <a:ext cx="177115" cy="177115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7"/>
                    <a:pt x="16" y="94"/>
                    <a:pt x="27" y="75"/>
                  </a:cubicBezTo>
                  <a:cubicBezTo>
                    <a:pt x="38" y="55"/>
                    <a:pt x="55" y="38"/>
                    <a:pt x="74" y="27"/>
                  </a:cubicBezTo>
                  <a:cubicBezTo>
                    <a:pt x="94" y="16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6"/>
                    <a:pt x="204" y="27"/>
                  </a:cubicBezTo>
                  <a:cubicBezTo>
                    <a:pt x="223" y="38"/>
                    <a:pt x="240" y="55"/>
                    <a:pt x="251" y="75"/>
                  </a:cubicBezTo>
                  <a:cubicBezTo>
                    <a:pt x="262" y="94"/>
                    <a:pt x="269" y="117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2"/>
                    <a:pt x="262" y="185"/>
                    <a:pt x="251" y="204"/>
                  </a:cubicBezTo>
                  <a:cubicBezTo>
                    <a:pt x="240" y="224"/>
                    <a:pt x="223" y="240"/>
                    <a:pt x="204" y="252"/>
                  </a:cubicBezTo>
                  <a:cubicBezTo>
                    <a:pt x="184" y="263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3"/>
                    <a:pt x="74" y="252"/>
                  </a:cubicBezTo>
                  <a:cubicBezTo>
                    <a:pt x="55" y="240"/>
                    <a:pt x="38" y="224"/>
                    <a:pt x="27" y="204"/>
                  </a:cubicBezTo>
                  <a:cubicBezTo>
                    <a:pt x="16" y="185"/>
                    <a:pt x="9" y="162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4" name="path 274"/>
            <p:cNvSpPr/>
            <p:nvPr/>
          </p:nvSpPr>
          <p:spPr>
            <a:xfrm>
              <a:off x="2411451" y="436131"/>
              <a:ext cx="164528" cy="164528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7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7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6" name="path 276"/>
            <p:cNvSpPr/>
            <p:nvPr/>
          </p:nvSpPr>
          <p:spPr>
            <a:xfrm>
              <a:off x="2405151" y="429831"/>
              <a:ext cx="177128" cy="177128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8" name="path 278"/>
            <p:cNvSpPr/>
            <p:nvPr/>
          </p:nvSpPr>
          <p:spPr>
            <a:xfrm>
              <a:off x="372059" y="1396251"/>
              <a:ext cx="164515" cy="164528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7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7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0" name="path 280"/>
            <p:cNvSpPr/>
            <p:nvPr/>
          </p:nvSpPr>
          <p:spPr>
            <a:xfrm>
              <a:off x="365759" y="1389951"/>
              <a:ext cx="177115" cy="177128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2" name="path 282"/>
            <p:cNvSpPr/>
            <p:nvPr/>
          </p:nvSpPr>
          <p:spPr>
            <a:xfrm>
              <a:off x="1030491" y="1542415"/>
              <a:ext cx="164528" cy="164515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7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7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4" name="path 284"/>
            <p:cNvSpPr/>
            <p:nvPr/>
          </p:nvSpPr>
          <p:spPr>
            <a:xfrm>
              <a:off x="1024191" y="1536115"/>
              <a:ext cx="177128" cy="177115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6" name="path 286"/>
            <p:cNvSpPr/>
            <p:nvPr/>
          </p:nvSpPr>
          <p:spPr>
            <a:xfrm>
              <a:off x="1707299" y="1277099"/>
              <a:ext cx="164515" cy="164160"/>
            </a:xfrm>
            <a:custGeom>
              <a:avLst/>
              <a:gdLst/>
              <a:ahLst/>
              <a:cxnLst/>
              <a:rect l="0" t="0" r="0" b="0"/>
              <a:pathLst>
                <a:path w="259" h="258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6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6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8"/>
                    <a:pt x="129" y="258"/>
                  </a:cubicBezTo>
                  <a:lnTo>
                    <a:pt x="129" y="258"/>
                  </a:lnTo>
                  <a:cubicBezTo>
                    <a:pt x="106" y="258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8" name="path 288"/>
            <p:cNvSpPr/>
            <p:nvPr/>
          </p:nvSpPr>
          <p:spPr>
            <a:xfrm>
              <a:off x="1700999" y="1270799"/>
              <a:ext cx="177115" cy="176759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8"/>
                    <a:pt x="139" y="268"/>
                  </a:cubicBezTo>
                  <a:lnTo>
                    <a:pt x="139" y="268"/>
                  </a:lnTo>
                  <a:cubicBezTo>
                    <a:pt x="116" y="268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0" name="path 290"/>
            <p:cNvSpPr/>
            <p:nvPr/>
          </p:nvSpPr>
          <p:spPr>
            <a:xfrm>
              <a:off x="2630691" y="1332179"/>
              <a:ext cx="164528" cy="164515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7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7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2" name="path 292"/>
            <p:cNvSpPr/>
            <p:nvPr/>
          </p:nvSpPr>
          <p:spPr>
            <a:xfrm>
              <a:off x="2624391" y="1325879"/>
              <a:ext cx="177128" cy="177115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4" name="path 294"/>
            <p:cNvSpPr/>
            <p:nvPr/>
          </p:nvSpPr>
          <p:spPr>
            <a:xfrm>
              <a:off x="2164499" y="2017611"/>
              <a:ext cx="164515" cy="164528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7"/>
                    <a:pt x="6" y="84"/>
                    <a:pt x="17" y="65"/>
                  </a:cubicBezTo>
                  <a:cubicBezTo>
                    <a:pt x="28" y="45"/>
                    <a:pt x="45" y="28"/>
                    <a:pt x="64" y="17"/>
                  </a:cubicBezTo>
                  <a:cubicBezTo>
                    <a:pt x="84" y="6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6"/>
                    <a:pt x="194" y="17"/>
                  </a:cubicBezTo>
                  <a:cubicBezTo>
                    <a:pt x="213" y="28"/>
                    <a:pt x="230" y="45"/>
                    <a:pt x="241" y="65"/>
                  </a:cubicBezTo>
                  <a:cubicBezTo>
                    <a:pt x="252" y="84"/>
                    <a:pt x="259" y="107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2"/>
                    <a:pt x="252" y="175"/>
                    <a:pt x="241" y="194"/>
                  </a:cubicBezTo>
                  <a:cubicBezTo>
                    <a:pt x="230" y="214"/>
                    <a:pt x="213" y="230"/>
                    <a:pt x="194" y="242"/>
                  </a:cubicBezTo>
                  <a:cubicBezTo>
                    <a:pt x="174" y="253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3"/>
                    <a:pt x="64" y="242"/>
                  </a:cubicBezTo>
                  <a:cubicBezTo>
                    <a:pt x="45" y="230"/>
                    <a:pt x="28" y="214"/>
                    <a:pt x="17" y="194"/>
                  </a:cubicBezTo>
                  <a:cubicBezTo>
                    <a:pt x="6" y="175"/>
                    <a:pt x="0" y="152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6" name="path 296"/>
            <p:cNvSpPr/>
            <p:nvPr/>
          </p:nvSpPr>
          <p:spPr>
            <a:xfrm>
              <a:off x="2158199" y="2011311"/>
              <a:ext cx="177115" cy="177128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7"/>
                    <a:pt x="16" y="94"/>
                    <a:pt x="27" y="75"/>
                  </a:cubicBezTo>
                  <a:cubicBezTo>
                    <a:pt x="38" y="55"/>
                    <a:pt x="55" y="38"/>
                    <a:pt x="74" y="27"/>
                  </a:cubicBezTo>
                  <a:cubicBezTo>
                    <a:pt x="94" y="16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6"/>
                    <a:pt x="204" y="27"/>
                  </a:cubicBezTo>
                  <a:cubicBezTo>
                    <a:pt x="223" y="38"/>
                    <a:pt x="240" y="55"/>
                    <a:pt x="251" y="75"/>
                  </a:cubicBezTo>
                  <a:cubicBezTo>
                    <a:pt x="262" y="94"/>
                    <a:pt x="269" y="117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2"/>
                    <a:pt x="262" y="185"/>
                    <a:pt x="251" y="204"/>
                  </a:cubicBezTo>
                  <a:cubicBezTo>
                    <a:pt x="240" y="224"/>
                    <a:pt x="223" y="240"/>
                    <a:pt x="204" y="252"/>
                  </a:cubicBezTo>
                  <a:cubicBezTo>
                    <a:pt x="184" y="263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3"/>
                    <a:pt x="74" y="252"/>
                  </a:cubicBezTo>
                  <a:cubicBezTo>
                    <a:pt x="55" y="240"/>
                    <a:pt x="38" y="224"/>
                    <a:pt x="27" y="204"/>
                  </a:cubicBezTo>
                  <a:cubicBezTo>
                    <a:pt x="16" y="185"/>
                    <a:pt x="9" y="162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" name="path 298"/>
            <p:cNvSpPr/>
            <p:nvPr/>
          </p:nvSpPr>
          <p:spPr>
            <a:xfrm>
              <a:off x="1195019" y="2401735"/>
              <a:ext cx="164515" cy="164515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7"/>
                    <a:pt x="6" y="84"/>
                    <a:pt x="17" y="65"/>
                  </a:cubicBezTo>
                  <a:cubicBezTo>
                    <a:pt x="28" y="45"/>
                    <a:pt x="45" y="28"/>
                    <a:pt x="64" y="17"/>
                  </a:cubicBezTo>
                  <a:cubicBezTo>
                    <a:pt x="84" y="6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6"/>
                    <a:pt x="194" y="17"/>
                  </a:cubicBezTo>
                  <a:cubicBezTo>
                    <a:pt x="213" y="28"/>
                    <a:pt x="230" y="45"/>
                    <a:pt x="241" y="65"/>
                  </a:cubicBezTo>
                  <a:cubicBezTo>
                    <a:pt x="252" y="84"/>
                    <a:pt x="259" y="107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2"/>
                    <a:pt x="252" y="175"/>
                    <a:pt x="241" y="194"/>
                  </a:cubicBezTo>
                  <a:cubicBezTo>
                    <a:pt x="230" y="214"/>
                    <a:pt x="213" y="230"/>
                    <a:pt x="194" y="242"/>
                  </a:cubicBezTo>
                  <a:cubicBezTo>
                    <a:pt x="174" y="253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3"/>
                    <a:pt x="64" y="242"/>
                  </a:cubicBezTo>
                  <a:cubicBezTo>
                    <a:pt x="45" y="230"/>
                    <a:pt x="28" y="214"/>
                    <a:pt x="17" y="194"/>
                  </a:cubicBezTo>
                  <a:cubicBezTo>
                    <a:pt x="6" y="175"/>
                    <a:pt x="0" y="152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0" name="path 300"/>
            <p:cNvSpPr/>
            <p:nvPr/>
          </p:nvSpPr>
          <p:spPr>
            <a:xfrm>
              <a:off x="1188720" y="2395435"/>
              <a:ext cx="177115" cy="177115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7"/>
                    <a:pt x="16" y="94"/>
                    <a:pt x="27" y="75"/>
                  </a:cubicBezTo>
                  <a:cubicBezTo>
                    <a:pt x="38" y="55"/>
                    <a:pt x="55" y="38"/>
                    <a:pt x="74" y="27"/>
                  </a:cubicBezTo>
                  <a:cubicBezTo>
                    <a:pt x="94" y="16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6"/>
                    <a:pt x="204" y="27"/>
                  </a:cubicBezTo>
                  <a:cubicBezTo>
                    <a:pt x="223" y="38"/>
                    <a:pt x="240" y="55"/>
                    <a:pt x="251" y="75"/>
                  </a:cubicBezTo>
                  <a:cubicBezTo>
                    <a:pt x="262" y="94"/>
                    <a:pt x="269" y="117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2"/>
                    <a:pt x="262" y="185"/>
                    <a:pt x="251" y="204"/>
                  </a:cubicBezTo>
                  <a:cubicBezTo>
                    <a:pt x="240" y="224"/>
                    <a:pt x="223" y="240"/>
                    <a:pt x="204" y="252"/>
                  </a:cubicBezTo>
                  <a:cubicBezTo>
                    <a:pt x="184" y="263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3"/>
                    <a:pt x="74" y="252"/>
                  </a:cubicBezTo>
                  <a:cubicBezTo>
                    <a:pt x="55" y="240"/>
                    <a:pt x="38" y="224"/>
                    <a:pt x="27" y="204"/>
                  </a:cubicBezTo>
                  <a:cubicBezTo>
                    <a:pt x="16" y="185"/>
                    <a:pt x="9" y="162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2" name="path 302"/>
            <p:cNvSpPr/>
            <p:nvPr/>
          </p:nvSpPr>
          <p:spPr>
            <a:xfrm>
              <a:off x="152819" y="2365375"/>
              <a:ext cx="164515" cy="164515"/>
            </a:xfrm>
            <a:custGeom>
              <a:avLst/>
              <a:gdLst/>
              <a:ahLst/>
              <a:cxnLst/>
              <a:rect l="0" t="0" r="0" b="0"/>
              <a:pathLst>
                <a:path w="259" h="259">
                  <a:moveTo>
                    <a:pt x="0" y="129"/>
                  </a:moveTo>
                  <a:lnTo>
                    <a:pt x="0" y="129"/>
                  </a:lnTo>
                  <a:cubicBezTo>
                    <a:pt x="0" y="106"/>
                    <a:pt x="6" y="83"/>
                    <a:pt x="17" y="64"/>
                  </a:cubicBezTo>
                  <a:cubicBezTo>
                    <a:pt x="28" y="44"/>
                    <a:pt x="45" y="28"/>
                    <a:pt x="64" y="17"/>
                  </a:cubicBezTo>
                  <a:cubicBezTo>
                    <a:pt x="84" y="5"/>
                    <a:pt x="106" y="0"/>
                    <a:pt x="129" y="0"/>
                  </a:cubicBezTo>
                  <a:lnTo>
                    <a:pt x="129" y="0"/>
                  </a:lnTo>
                  <a:cubicBezTo>
                    <a:pt x="152" y="0"/>
                    <a:pt x="174" y="5"/>
                    <a:pt x="194" y="17"/>
                  </a:cubicBezTo>
                  <a:cubicBezTo>
                    <a:pt x="213" y="28"/>
                    <a:pt x="230" y="44"/>
                    <a:pt x="241" y="64"/>
                  </a:cubicBezTo>
                  <a:cubicBezTo>
                    <a:pt x="252" y="83"/>
                    <a:pt x="259" y="106"/>
                    <a:pt x="259" y="129"/>
                  </a:cubicBezTo>
                  <a:lnTo>
                    <a:pt x="259" y="129"/>
                  </a:lnTo>
                  <a:lnTo>
                    <a:pt x="259" y="129"/>
                  </a:lnTo>
                  <a:cubicBezTo>
                    <a:pt x="259" y="151"/>
                    <a:pt x="252" y="174"/>
                    <a:pt x="241" y="193"/>
                  </a:cubicBezTo>
                  <a:cubicBezTo>
                    <a:pt x="230" y="213"/>
                    <a:pt x="213" y="230"/>
                    <a:pt x="194" y="241"/>
                  </a:cubicBezTo>
                  <a:cubicBezTo>
                    <a:pt x="174" y="252"/>
                    <a:pt x="152" y="259"/>
                    <a:pt x="129" y="259"/>
                  </a:cubicBezTo>
                  <a:lnTo>
                    <a:pt x="129" y="259"/>
                  </a:lnTo>
                  <a:cubicBezTo>
                    <a:pt x="106" y="259"/>
                    <a:pt x="84" y="252"/>
                    <a:pt x="64" y="241"/>
                  </a:cubicBezTo>
                  <a:cubicBezTo>
                    <a:pt x="45" y="230"/>
                    <a:pt x="28" y="213"/>
                    <a:pt x="17" y="193"/>
                  </a:cubicBezTo>
                  <a:cubicBezTo>
                    <a:pt x="6" y="174"/>
                    <a:pt x="0" y="151"/>
                    <a:pt x="0" y="129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7D3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4" name="path 304"/>
            <p:cNvSpPr/>
            <p:nvPr/>
          </p:nvSpPr>
          <p:spPr>
            <a:xfrm>
              <a:off x="146519" y="2359075"/>
              <a:ext cx="177115" cy="177115"/>
            </a:xfrm>
            <a:custGeom>
              <a:avLst/>
              <a:gdLst/>
              <a:ahLst/>
              <a:cxnLst/>
              <a:rect l="0" t="0" r="0" b="0"/>
              <a:pathLst>
                <a:path w="278" h="278">
                  <a:moveTo>
                    <a:pt x="9" y="139"/>
                  </a:moveTo>
                  <a:lnTo>
                    <a:pt x="9" y="139"/>
                  </a:lnTo>
                  <a:cubicBezTo>
                    <a:pt x="9" y="116"/>
                    <a:pt x="16" y="93"/>
                    <a:pt x="27" y="74"/>
                  </a:cubicBezTo>
                  <a:cubicBezTo>
                    <a:pt x="38" y="54"/>
                    <a:pt x="55" y="38"/>
                    <a:pt x="74" y="26"/>
                  </a:cubicBezTo>
                  <a:cubicBezTo>
                    <a:pt x="94" y="15"/>
                    <a:pt x="116" y="9"/>
                    <a:pt x="139" y="9"/>
                  </a:cubicBezTo>
                  <a:lnTo>
                    <a:pt x="139" y="9"/>
                  </a:lnTo>
                  <a:cubicBezTo>
                    <a:pt x="162" y="9"/>
                    <a:pt x="184" y="15"/>
                    <a:pt x="204" y="26"/>
                  </a:cubicBezTo>
                  <a:cubicBezTo>
                    <a:pt x="223" y="38"/>
                    <a:pt x="240" y="54"/>
                    <a:pt x="251" y="74"/>
                  </a:cubicBezTo>
                  <a:cubicBezTo>
                    <a:pt x="262" y="93"/>
                    <a:pt x="269" y="116"/>
                    <a:pt x="269" y="139"/>
                  </a:cubicBezTo>
                  <a:lnTo>
                    <a:pt x="269" y="139"/>
                  </a:lnTo>
                  <a:lnTo>
                    <a:pt x="269" y="139"/>
                  </a:lnTo>
                  <a:cubicBezTo>
                    <a:pt x="269" y="161"/>
                    <a:pt x="262" y="184"/>
                    <a:pt x="251" y="203"/>
                  </a:cubicBezTo>
                  <a:cubicBezTo>
                    <a:pt x="240" y="223"/>
                    <a:pt x="223" y="240"/>
                    <a:pt x="204" y="251"/>
                  </a:cubicBezTo>
                  <a:cubicBezTo>
                    <a:pt x="184" y="262"/>
                    <a:pt x="162" y="269"/>
                    <a:pt x="139" y="269"/>
                  </a:cubicBezTo>
                  <a:lnTo>
                    <a:pt x="139" y="269"/>
                  </a:lnTo>
                  <a:cubicBezTo>
                    <a:pt x="116" y="269"/>
                    <a:pt x="94" y="262"/>
                    <a:pt x="74" y="251"/>
                  </a:cubicBezTo>
                  <a:cubicBezTo>
                    <a:pt x="55" y="240"/>
                    <a:pt x="38" y="223"/>
                    <a:pt x="27" y="203"/>
                  </a:cubicBezTo>
                  <a:cubicBezTo>
                    <a:pt x="16" y="184"/>
                    <a:pt x="9" y="161"/>
                    <a:pt x="9" y="139"/>
                  </a:cubicBezTo>
                </a:path>
              </a:pathLst>
            </a:custGeom>
            <a:noFill/>
            <a:ln w="12599" cap="flat">
              <a:solidFill>
                <a:srgbClr val="C7D3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group 48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306" name="rect 306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8" name="textbox 308"/>
            <p:cNvSpPr/>
            <p:nvPr/>
          </p:nvSpPr>
          <p:spPr>
            <a:xfrm>
              <a:off x="276578" y="154105"/>
              <a:ext cx="6242684" cy="3486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20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4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模块 </a:t>
              </a:r>
              <a:r>
                <a:rPr sz="2400" b="1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2400" b="1" kern="0" spc="2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4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：有限监测条件下的全</a:t>
              </a:r>
              <a:r>
                <a:rPr sz="24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网水力状态重建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10" name="picture 3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312" name="table 312"/>
          <p:cNvGraphicFramePr>
            <a:graphicFrameLocks noGrp="1"/>
          </p:cNvGraphicFramePr>
          <p:nvPr/>
        </p:nvGraphicFramePr>
        <p:xfrm>
          <a:off x="1007456" y="5762336"/>
          <a:ext cx="10145394" cy="470534"/>
        </p:xfrm>
        <a:graphic>
          <a:graphicData uri="http://schemas.openxmlformats.org/drawingml/2006/table">
            <a:tbl>
              <a:tblPr>
                <a:solidFill>
                  <a:srgbClr val="EFF4F9"/>
                </a:solidFill>
              </a:tblPr>
              <a:tblGrid>
                <a:gridCol w="10145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923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300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关键约束：观测掩码区分“未监测”与“实测为零”；  线上不使用未来降雨或真实未来水力状</a:t>
                      </a:r>
                      <a:r>
                        <a:rPr sz="1300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态。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0" name="group 50"/>
          <p:cNvGrpSpPr/>
          <p:nvPr/>
        </p:nvGrpSpPr>
        <p:grpSpPr>
          <a:xfrm rot="21600000">
            <a:off x="5285155" y="2614676"/>
            <a:ext cx="2148840" cy="1006208"/>
            <a:chOff x="0" y="0"/>
            <a:chExt cx="2148840" cy="1006208"/>
          </a:xfrm>
        </p:grpSpPr>
        <p:sp>
          <p:nvSpPr>
            <p:cNvPr id="314" name="path 314"/>
            <p:cNvSpPr/>
            <p:nvPr/>
          </p:nvSpPr>
          <p:spPr>
            <a:xfrm>
              <a:off x="0" y="0"/>
              <a:ext cx="2148840" cy="429843"/>
            </a:xfrm>
            <a:custGeom>
              <a:avLst/>
              <a:gdLst/>
              <a:ahLst/>
              <a:cxnLst/>
              <a:rect l="0" t="0" r="0" b="0"/>
              <a:pathLst>
                <a:path w="3384" h="676">
                  <a:moveTo>
                    <a:pt x="0" y="86"/>
                  </a:moveTo>
                  <a:lnTo>
                    <a:pt x="0" y="86"/>
                  </a:lnTo>
                  <a:cubicBezTo>
                    <a:pt x="0" y="70"/>
                    <a:pt x="3" y="56"/>
                    <a:pt x="11" y="43"/>
                  </a:cubicBezTo>
                  <a:cubicBezTo>
                    <a:pt x="19" y="30"/>
                    <a:pt x="30" y="18"/>
                    <a:pt x="43" y="11"/>
                  </a:cubicBezTo>
                  <a:cubicBezTo>
                    <a:pt x="56" y="3"/>
                    <a:pt x="71" y="0"/>
                    <a:pt x="86" y="0"/>
                  </a:cubicBezTo>
                  <a:lnTo>
                    <a:pt x="3297" y="0"/>
                  </a:lnTo>
                  <a:lnTo>
                    <a:pt x="3297" y="0"/>
                  </a:lnTo>
                  <a:cubicBezTo>
                    <a:pt x="3312" y="0"/>
                    <a:pt x="3327" y="3"/>
                    <a:pt x="3340" y="11"/>
                  </a:cubicBezTo>
                  <a:cubicBezTo>
                    <a:pt x="3353" y="19"/>
                    <a:pt x="3364" y="30"/>
                    <a:pt x="3372" y="43"/>
                  </a:cubicBezTo>
                  <a:cubicBezTo>
                    <a:pt x="3379" y="56"/>
                    <a:pt x="3383" y="71"/>
                    <a:pt x="3383" y="86"/>
                  </a:cubicBezTo>
                  <a:lnTo>
                    <a:pt x="3383" y="86"/>
                  </a:lnTo>
                  <a:lnTo>
                    <a:pt x="3384" y="590"/>
                  </a:lnTo>
                  <a:lnTo>
                    <a:pt x="3384" y="590"/>
                  </a:lnTo>
                  <a:cubicBezTo>
                    <a:pt x="3384" y="605"/>
                    <a:pt x="3380" y="620"/>
                    <a:pt x="3372" y="633"/>
                  </a:cubicBezTo>
                  <a:cubicBezTo>
                    <a:pt x="3364" y="646"/>
                    <a:pt x="3353" y="657"/>
                    <a:pt x="3340" y="665"/>
                  </a:cubicBezTo>
                  <a:cubicBezTo>
                    <a:pt x="3327" y="672"/>
                    <a:pt x="3312" y="676"/>
                    <a:pt x="3297" y="676"/>
                  </a:cubicBezTo>
                  <a:lnTo>
                    <a:pt x="86" y="676"/>
                  </a:lnTo>
                  <a:lnTo>
                    <a:pt x="86" y="676"/>
                  </a:lnTo>
                  <a:cubicBezTo>
                    <a:pt x="70" y="676"/>
                    <a:pt x="56" y="672"/>
                    <a:pt x="43" y="665"/>
                  </a:cubicBezTo>
                  <a:cubicBezTo>
                    <a:pt x="30" y="657"/>
                    <a:pt x="18" y="646"/>
                    <a:pt x="11" y="633"/>
                  </a:cubicBezTo>
                  <a:cubicBezTo>
                    <a:pt x="3" y="620"/>
                    <a:pt x="0" y="605"/>
                    <a:pt x="0" y="590"/>
                  </a:cubicBezTo>
                  <a:lnTo>
                    <a:pt x="0" y="86"/>
                  </a:lnTo>
                  <a:close/>
                </a:path>
              </a:pathLst>
            </a:custGeom>
            <a:solidFill>
              <a:srgbClr val="EDF2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6" name="path 316"/>
            <p:cNvSpPr/>
            <p:nvPr/>
          </p:nvSpPr>
          <p:spPr>
            <a:xfrm>
              <a:off x="1022768" y="464401"/>
              <a:ext cx="75590" cy="75602"/>
            </a:xfrm>
            <a:custGeom>
              <a:avLst/>
              <a:gdLst/>
              <a:ahLst/>
              <a:cxnLst/>
              <a:rect l="0" t="0" r="0" b="0"/>
              <a:pathLst>
                <a:path w="119" h="119">
                  <a:moveTo>
                    <a:pt x="60" y="119"/>
                  </a:moveTo>
                  <a:lnTo>
                    <a:pt x="0" y="0"/>
                  </a:lnTo>
                  <a:lnTo>
                    <a:pt x="119" y="0"/>
                  </a:lnTo>
                  <a:lnTo>
                    <a:pt x="60" y="119"/>
                  </a:lnTo>
                  <a:close/>
                </a:path>
              </a:pathLst>
            </a:custGeom>
            <a:solidFill>
              <a:srgbClr val="8494B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8" name="path 318"/>
            <p:cNvSpPr/>
            <p:nvPr/>
          </p:nvSpPr>
          <p:spPr>
            <a:xfrm>
              <a:off x="0" y="576364"/>
              <a:ext cx="2148840" cy="429844"/>
            </a:xfrm>
            <a:custGeom>
              <a:avLst/>
              <a:gdLst/>
              <a:ahLst/>
              <a:cxnLst/>
              <a:rect l="0" t="0" r="0" b="0"/>
              <a:pathLst>
                <a:path w="3384" h="676">
                  <a:moveTo>
                    <a:pt x="0" y="86"/>
                  </a:moveTo>
                  <a:lnTo>
                    <a:pt x="0" y="86"/>
                  </a:lnTo>
                  <a:cubicBezTo>
                    <a:pt x="0" y="70"/>
                    <a:pt x="3" y="56"/>
                    <a:pt x="11" y="43"/>
                  </a:cubicBezTo>
                  <a:cubicBezTo>
                    <a:pt x="19" y="30"/>
                    <a:pt x="30" y="18"/>
                    <a:pt x="43" y="11"/>
                  </a:cubicBezTo>
                  <a:cubicBezTo>
                    <a:pt x="56" y="3"/>
                    <a:pt x="71" y="0"/>
                    <a:pt x="86" y="0"/>
                  </a:cubicBezTo>
                  <a:lnTo>
                    <a:pt x="3297" y="0"/>
                  </a:lnTo>
                  <a:lnTo>
                    <a:pt x="3297" y="0"/>
                  </a:lnTo>
                  <a:cubicBezTo>
                    <a:pt x="3312" y="0"/>
                    <a:pt x="3327" y="3"/>
                    <a:pt x="3340" y="11"/>
                  </a:cubicBezTo>
                  <a:cubicBezTo>
                    <a:pt x="3353" y="19"/>
                    <a:pt x="3364" y="30"/>
                    <a:pt x="3372" y="43"/>
                  </a:cubicBezTo>
                  <a:cubicBezTo>
                    <a:pt x="3379" y="56"/>
                    <a:pt x="3383" y="71"/>
                    <a:pt x="3383" y="86"/>
                  </a:cubicBezTo>
                  <a:lnTo>
                    <a:pt x="3383" y="86"/>
                  </a:lnTo>
                  <a:lnTo>
                    <a:pt x="3384" y="590"/>
                  </a:lnTo>
                  <a:lnTo>
                    <a:pt x="3384" y="590"/>
                  </a:lnTo>
                  <a:cubicBezTo>
                    <a:pt x="3384" y="605"/>
                    <a:pt x="3380" y="620"/>
                    <a:pt x="3372" y="633"/>
                  </a:cubicBezTo>
                  <a:cubicBezTo>
                    <a:pt x="3364" y="646"/>
                    <a:pt x="3353" y="657"/>
                    <a:pt x="3340" y="665"/>
                  </a:cubicBezTo>
                  <a:cubicBezTo>
                    <a:pt x="3327" y="672"/>
                    <a:pt x="3312" y="676"/>
                    <a:pt x="3297" y="676"/>
                  </a:cubicBezTo>
                  <a:lnTo>
                    <a:pt x="86" y="676"/>
                  </a:lnTo>
                  <a:lnTo>
                    <a:pt x="86" y="676"/>
                  </a:lnTo>
                  <a:cubicBezTo>
                    <a:pt x="70" y="676"/>
                    <a:pt x="56" y="672"/>
                    <a:pt x="43" y="665"/>
                  </a:cubicBezTo>
                  <a:cubicBezTo>
                    <a:pt x="30" y="657"/>
                    <a:pt x="18" y="646"/>
                    <a:pt x="11" y="633"/>
                  </a:cubicBezTo>
                  <a:cubicBezTo>
                    <a:pt x="3" y="620"/>
                    <a:pt x="0" y="605"/>
                    <a:pt x="0" y="590"/>
                  </a:cubicBezTo>
                  <a:lnTo>
                    <a:pt x="0" y="86"/>
                  </a:lnTo>
                  <a:close/>
                </a:path>
              </a:pathLst>
            </a:custGeom>
            <a:solidFill>
              <a:srgbClr val="EDF2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0" name="rect 320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" name="textbox 322"/>
          <p:cNvSpPr/>
          <p:nvPr/>
        </p:nvSpPr>
        <p:spPr>
          <a:xfrm>
            <a:off x="386900" y="971344"/>
            <a:ext cx="7883525" cy="26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303529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方法创新①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8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GRU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时间记忆与图信息传播联合建模，仅使用因果可观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测输入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324" name="table 324"/>
          <p:cNvGraphicFramePr>
            <a:graphicFrameLocks noGrp="1"/>
          </p:cNvGraphicFramePr>
          <p:nvPr/>
        </p:nvGraphicFramePr>
        <p:xfrm>
          <a:off x="5280655" y="2610175"/>
          <a:ext cx="2157729" cy="422909"/>
        </p:xfrm>
        <a:graphic>
          <a:graphicData uri="http://schemas.openxmlformats.org/drawingml/2006/table">
            <a:tbl>
              <a:tblPr/>
              <a:tblGrid>
                <a:gridCol w="2157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1675" indent="-879475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降雨</a:t>
                      </a:r>
                      <a:r>
                        <a:rPr sz="700" kern="0" spc="1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700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7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水深</a:t>
                      </a:r>
                      <a:r>
                        <a:rPr sz="700" kern="0" spc="1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7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7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设施状</a:t>
                      </a:r>
                      <a:r>
                        <a:rPr sz="7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态</a:t>
                      </a:r>
                      <a:endParaRPr sz="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6" name="table 326"/>
          <p:cNvGraphicFramePr>
            <a:graphicFrameLocks noGrp="1"/>
          </p:cNvGraphicFramePr>
          <p:nvPr/>
        </p:nvGraphicFramePr>
        <p:xfrm>
          <a:off x="5280655" y="3186539"/>
          <a:ext cx="2157729" cy="419735"/>
        </p:xfrm>
        <a:graphic>
          <a:graphicData uri="http://schemas.openxmlformats.org/drawingml/2006/table">
            <a:tbl>
              <a:tblPr/>
              <a:tblGrid>
                <a:gridCol w="2157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7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0" baseline="-2893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GRU</a:t>
                      </a:r>
                      <a:r>
                        <a:rPr sz="11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</a:t>
                      </a:r>
                      <a:r>
                        <a:rPr sz="9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编码局地时序变化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8" name="table 328"/>
          <p:cNvGraphicFramePr>
            <a:graphicFrameLocks noGrp="1"/>
          </p:cNvGraphicFramePr>
          <p:nvPr/>
        </p:nvGraphicFramePr>
        <p:xfrm>
          <a:off x="5280655" y="3762535"/>
          <a:ext cx="2157729" cy="419735"/>
        </p:xfrm>
        <a:graphic>
          <a:graphicData uri="http://schemas.openxmlformats.org/drawingml/2006/table">
            <a:tbl>
              <a:tblPr>
                <a:solidFill>
                  <a:srgbClr val="EDF2F9"/>
                </a:solidFill>
              </a:tblPr>
              <a:tblGrid>
                <a:gridCol w="2157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7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图神经网络</a:t>
                      </a:r>
                      <a:r>
                        <a:rPr sz="11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9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邻域双向信息传播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0" name="table 330"/>
          <p:cNvGraphicFramePr>
            <a:graphicFrameLocks noGrp="1"/>
          </p:cNvGraphicFramePr>
          <p:nvPr/>
        </p:nvGraphicFramePr>
        <p:xfrm>
          <a:off x="5280655" y="4338544"/>
          <a:ext cx="2157729" cy="419735"/>
        </p:xfrm>
        <a:graphic>
          <a:graphicData uri="http://schemas.openxmlformats.org/drawingml/2006/table">
            <a:tbl>
              <a:tblPr>
                <a:solidFill>
                  <a:srgbClr val="E2F1F5"/>
                </a:solidFill>
              </a:tblPr>
              <a:tblGrid>
                <a:gridCol w="2157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7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805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输出映射</a:t>
                      </a:r>
                      <a:r>
                        <a:rPr sz="11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</a:t>
                      </a:r>
                      <a:r>
                        <a:rPr sz="700" kern="0" spc="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重建各节点水深与水头</a:t>
                      </a:r>
                      <a:endParaRPr sz="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D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2" name="textbox 332"/>
          <p:cNvSpPr/>
          <p:nvPr/>
        </p:nvSpPr>
        <p:spPr>
          <a:xfrm>
            <a:off x="5278500" y="2160904"/>
            <a:ext cx="2152650" cy="305434"/>
          </a:xfrm>
          <a:prstGeom prst="rect">
            <a:avLst/>
          </a:prstGeom>
          <a:solidFill>
            <a:srgbClr val="2365A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20394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0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时空联合估计器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5358254" y="2701312"/>
            <a:ext cx="726440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1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历史 </a:t>
            </a:r>
            <a:r>
              <a:rPr sz="1100" b="1" kern="0" spc="4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1100" b="1" kern="0" spc="10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帧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 rot="21600000">
            <a:off x="4425463" y="3597122"/>
            <a:ext cx="457216" cy="102603"/>
            <a:chOff x="0" y="0"/>
            <a:chExt cx="457216" cy="102603"/>
          </a:xfrm>
        </p:grpSpPr>
        <p:sp>
          <p:nvSpPr>
            <p:cNvPr id="346" name="path 346"/>
            <p:cNvSpPr/>
            <p:nvPr/>
          </p:nvSpPr>
          <p:spPr>
            <a:xfrm>
              <a:off x="0" y="34018"/>
              <a:ext cx="361475" cy="34555"/>
            </a:xfrm>
            <a:custGeom>
              <a:avLst/>
              <a:gdLst/>
              <a:ahLst/>
              <a:cxnLst/>
              <a:rect l="0" t="0" r="0" b="0"/>
              <a:pathLst>
                <a:path w="569" h="54">
                  <a:moveTo>
                    <a:pt x="0" y="26"/>
                  </a:moveTo>
                  <a:lnTo>
                    <a:pt x="569" y="27"/>
                  </a:lnTo>
                </a:path>
              </a:pathLst>
            </a:custGeom>
            <a:noFill/>
            <a:ln w="3419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8" name="path 348"/>
            <p:cNvSpPr/>
            <p:nvPr/>
          </p:nvSpPr>
          <p:spPr>
            <a:xfrm>
              <a:off x="354613" y="0"/>
              <a:ext cx="102603" cy="102603"/>
            </a:xfrm>
            <a:custGeom>
              <a:avLst/>
              <a:gdLst/>
              <a:ahLst/>
              <a:cxnLst/>
              <a:rect l="0" t="0" r="0" b="0"/>
              <a:pathLst>
                <a:path w="161" h="161">
                  <a:moveTo>
                    <a:pt x="161" y="81"/>
                  </a:moveTo>
                  <a:lnTo>
                    <a:pt x="0" y="161"/>
                  </a:lnTo>
                  <a:lnTo>
                    <a:pt x="0" y="0"/>
                  </a:lnTo>
                  <a:lnTo>
                    <a:pt x="161" y="81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group 56"/>
          <p:cNvGrpSpPr/>
          <p:nvPr/>
        </p:nvGrpSpPr>
        <p:grpSpPr>
          <a:xfrm rot="21600000">
            <a:off x="7836098" y="3597122"/>
            <a:ext cx="429861" cy="102603"/>
            <a:chOff x="0" y="0"/>
            <a:chExt cx="429861" cy="102603"/>
          </a:xfrm>
        </p:grpSpPr>
        <p:sp>
          <p:nvSpPr>
            <p:cNvPr id="350" name="path 350"/>
            <p:cNvSpPr/>
            <p:nvPr/>
          </p:nvSpPr>
          <p:spPr>
            <a:xfrm>
              <a:off x="0" y="34018"/>
              <a:ext cx="334121" cy="34555"/>
            </a:xfrm>
            <a:custGeom>
              <a:avLst/>
              <a:gdLst/>
              <a:ahLst/>
              <a:cxnLst/>
              <a:rect l="0" t="0" r="0" b="0"/>
              <a:pathLst>
                <a:path w="526" h="54">
                  <a:moveTo>
                    <a:pt x="0" y="26"/>
                  </a:moveTo>
                  <a:lnTo>
                    <a:pt x="526" y="27"/>
                  </a:lnTo>
                </a:path>
              </a:pathLst>
            </a:custGeom>
            <a:noFill/>
            <a:ln w="3419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2" name="path 352"/>
            <p:cNvSpPr/>
            <p:nvPr/>
          </p:nvSpPr>
          <p:spPr>
            <a:xfrm>
              <a:off x="327259" y="0"/>
              <a:ext cx="102602" cy="102603"/>
            </a:xfrm>
            <a:custGeom>
              <a:avLst/>
              <a:gdLst/>
              <a:ahLst/>
              <a:cxnLst/>
              <a:rect l="0" t="0" r="0" b="0"/>
              <a:pathLst>
                <a:path w="161" h="161">
                  <a:moveTo>
                    <a:pt x="161" y="81"/>
                  </a:moveTo>
                  <a:lnTo>
                    <a:pt x="0" y="161"/>
                  </a:lnTo>
                  <a:lnTo>
                    <a:pt x="0" y="0"/>
                  </a:lnTo>
                  <a:lnTo>
                    <a:pt x="161" y="81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54" name="path 354"/>
          <p:cNvSpPr/>
          <p:nvPr/>
        </p:nvSpPr>
        <p:spPr>
          <a:xfrm>
            <a:off x="8759875" y="3660304"/>
            <a:ext cx="2523605" cy="12955"/>
          </a:xfrm>
          <a:custGeom>
            <a:avLst/>
            <a:gdLst/>
            <a:ahLst/>
            <a:cxnLst/>
            <a:rect l="0" t="0" r="0" b="0"/>
            <a:pathLst>
              <a:path w="3974" h="20">
                <a:moveTo>
                  <a:pt x="0" y="9"/>
                </a:moveTo>
                <a:lnTo>
                  <a:pt x="3974" y="10"/>
                </a:lnTo>
              </a:path>
            </a:pathLst>
          </a:custGeom>
          <a:noFill/>
          <a:ln w="12599" cap="flat">
            <a:solidFill>
              <a:srgbClr val="C6D8E4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8" name="group 58"/>
          <p:cNvGrpSpPr/>
          <p:nvPr/>
        </p:nvGrpSpPr>
        <p:grpSpPr>
          <a:xfrm rot="21600000">
            <a:off x="6307924" y="3620884"/>
            <a:ext cx="75590" cy="109791"/>
            <a:chOff x="0" y="0"/>
            <a:chExt cx="75590" cy="109791"/>
          </a:xfrm>
        </p:grpSpPr>
        <p:sp>
          <p:nvSpPr>
            <p:cNvPr id="358" name="path 358"/>
            <p:cNvSpPr/>
            <p:nvPr/>
          </p:nvSpPr>
          <p:spPr>
            <a:xfrm>
              <a:off x="28255" y="0"/>
              <a:ext cx="19079" cy="39230"/>
            </a:xfrm>
            <a:custGeom>
              <a:avLst/>
              <a:gdLst/>
              <a:ahLst/>
              <a:cxnLst/>
              <a:rect l="0" t="0" r="0" b="0"/>
              <a:pathLst>
                <a:path w="30" h="61">
                  <a:moveTo>
                    <a:pt x="15" y="0"/>
                  </a:moveTo>
                  <a:lnTo>
                    <a:pt x="15" y="61"/>
                  </a:lnTo>
                </a:path>
              </a:pathLst>
            </a:custGeom>
            <a:noFill/>
            <a:ln w="19079" cap="flat">
              <a:solidFill>
                <a:srgbClr val="8494B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" name="path 360"/>
            <p:cNvSpPr/>
            <p:nvPr/>
          </p:nvSpPr>
          <p:spPr>
            <a:xfrm>
              <a:off x="0" y="34201"/>
              <a:ext cx="75590" cy="75590"/>
            </a:xfrm>
            <a:custGeom>
              <a:avLst/>
              <a:gdLst/>
              <a:ahLst/>
              <a:cxnLst/>
              <a:rect l="0" t="0" r="0" b="0"/>
              <a:pathLst>
                <a:path w="119" h="119">
                  <a:moveTo>
                    <a:pt x="60" y="119"/>
                  </a:moveTo>
                  <a:lnTo>
                    <a:pt x="0" y="0"/>
                  </a:lnTo>
                  <a:lnTo>
                    <a:pt x="119" y="0"/>
                  </a:lnTo>
                  <a:lnTo>
                    <a:pt x="60" y="119"/>
                  </a:lnTo>
                  <a:close/>
                </a:path>
              </a:pathLst>
            </a:custGeom>
            <a:solidFill>
              <a:srgbClr val="8494B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62" name="path 362"/>
          <p:cNvSpPr/>
          <p:nvPr/>
        </p:nvSpPr>
        <p:spPr>
          <a:xfrm>
            <a:off x="6336180" y="4196880"/>
            <a:ext cx="19079" cy="39243"/>
          </a:xfrm>
          <a:custGeom>
            <a:avLst/>
            <a:gdLst/>
            <a:ahLst/>
            <a:cxnLst/>
            <a:rect l="0" t="0" r="0" b="0"/>
            <a:pathLst>
              <a:path w="30" h="61">
                <a:moveTo>
                  <a:pt x="15" y="0"/>
                </a:moveTo>
                <a:lnTo>
                  <a:pt x="15" y="61"/>
                </a:lnTo>
              </a:path>
            </a:pathLst>
          </a:custGeom>
          <a:noFill/>
          <a:ln w="19079" cap="flat">
            <a:solidFill>
              <a:srgbClr val="8494B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" name="path 364"/>
          <p:cNvSpPr/>
          <p:nvPr/>
        </p:nvSpPr>
        <p:spPr>
          <a:xfrm>
            <a:off x="6307924" y="4231081"/>
            <a:ext cx="75590" cy="75602"/>
          </a:xfrm>
          <a:custGeom>
            <a:avLst/>
            <a:gdLst/>
            <a:ahLst/>
            <a:cxnLst/>
            <a:rect l="0" t="0" r="0" b="0"/>
            <a:pathLst>
              <a:path w="119" h="119">
                <a:moveTo>
                  <a:pt x="60" y="119"/>
                </a:moveTo>
                <a:lnTo>
                  <a:pt x="0" y="0"/>
                </a:lnTo>
                <a:lnTo>
                  <a:pt x="119" y="0"/>
                </a:lnTo>
                <a:lnTo>
                  <a:pt x="60" y="119"/>
                </a:lnTo>
                <a:close/>
              </a:path>
            </a:pathLst>
          </a:custGeom>
          <a:solidFill>
            <a:srgbClr val="8494B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" name="path 366"/>
          <p:cNvSpPr/>
          <p:nvPr/>
        </p:nvSpPr>
        <p:spPr>
          <a:xfrm>
            <a:off x="6336180" y="3044875"/>
            <a:ext cx="19079" cy="39243"/>
          </a:xfrm>
          <a:custGeom>
            <a:avLst/>
            <a:gdLst/>
            <a:ahLst/>
            <a:cxnLst/>
            <a:rect l="0" t="0" r="0" b="0"/>
            <a:pathLst>
              <a:path w="30" h="61">
                <a:moveTo>
                  <a:pt x="15" y="0"/>
                </a:moveTo>
                <a:lnTo>
                  <a:pt x="15" y="61"/>
                </a:lnTo>
              </a:path>
            </a:pathLst>
          </a:custGeom>
          <a:noFill/>
          <a:ln w="19079" cap="flat">
            <a:solidFill>
              <a:srgbClr val="8494B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60"/>
          <p:cNvGrpSpPr/>
          <p:nvPr/>
        </p:nvGrpSpPr>
        <p:grpSpPr>
          <a:xfrm rot="21600000">
            <a:off x="12015905" y="1572844"/>
            <a:ext cx="24478" cy="1568331"/>
            <a:chOff x="0" y="0"/>
            <a:chExt cx="24478" cy="1568331"/>
          </a:xfrm>
        </p:grpSpPr>
        <p:sp>
          <p:nvSpPr>
            <p:cNvPr id="368" name="path 368"/>
            <p:cNvSpPr/>
            <p:nvPr/>
          </p:nvSpPr>
          <p:spPr>
            <a:xfrm>
              <a:off x="0" y="31855"/>
              <a:ext cx="24478" cy="1536476"/>
            </a:xfrm>
            <a:custGeom>
              <a:avLst/>
              <a:gdLst/>
              <a:ahLst/>
              <a:cxnLst/>
              <a:rect l="0" t="0" r="0" b="0"/>
              <a:pathLst>
                <a:path w="38" h="2419">
                  <a:moveTo>
                    <a:pt x="11" y="11"/>
                  </a:moveTo>
                  <a:cubicBezTo>
                    <a:pt x="21" y="29"/>
                    <a:pt x="27" y="50"/>
                    <a:pt x="27" y="72"/>
                  </a:cubicBezTo>
                  <a:lnTo>
                    <a:pt x="27" y="72"/>
                  </a:lnTo>
                  <a:lnTo>
                    <a:pt x="27" y="2347"/>
                  </a:lnTo>
                  <a:lnTo>
                    <a:pt x="27" y="2347"/>
                  </a:lnTo>
                  <a:cubicBezTo>
                    <a:pt x="27" y="2368"/>
                    <a:pt x="21" y="2389"/>
                    <a:pt x="11" y="2408"/>
                  </a:cubicBezTo>
                </a:path>
              </a:pathLst>
            </a:custGeom>
            <a:noFill/>
            <a:ln w="14039" cap="flat">
              <a:solidFill>
                <a:srgbClr val="69789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0" name="path 370"/>
            <p:cNvSpPr/>
            <p:nvPr/>
          </p:nvSpPr>
          <p:spPr>
            <a:xfrm>
              <a:off x="10791" y="0"/>
              <a:ext cx="12599" cy="68389"/>
            </a:xfrm>
            <a:custGeom>
              <a:avLst/>
              <a:gdLst/>
              <a:ahLst/>
              <a:cxnLst/>
              <a:rect l="0" t="0" r="0" b="0"/>
              <a:pathLst>
                <a:path w="19" h="107">
                  <a:moveTo>
                    <a:pt x="9" y="0"/>
                  </a:moveTo>
                  <a:lnTo>
                    <a:pt x="9" y="107"/>
                  </a:lnTo>
                </a:path>
              </a:pathLst>
            </a:custGeom>
            <a:noFill/>
            <a:ln w="12599" cap="flat">
              <a:solidFill>
                <a:srgbClr val="69789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440820" y="1565456"/>
            <a:ext cx="11592176" cy="3927963"/>
            <a:chOff x="0" y="0"/>
            <a:chExt cx="11592176" cy="3927963"/>
          </a:xfrm>
        </p:grpSpPr>
        <p:grpSp>
          <p:nvGrpSpPr>
            <p:cNvPr id="64" name="group 64"/>
            <p:cNvGrpSpPr/>
            <p:nvPr/>
          </p:nvGrpSpPr>
          <p:grpSpPr>
            <a:xfrm rot="21600000">
              <a:off x="0" y="0"/>
              <a:ext cx="11592176" cy="3927963"/>
              <a:chOff x="0" y="0"/>
              <a:chExt cx="11592176" cy="3927963"/>
            </a:xfrm>
          </p:grpSpPr>
          <p:sp>
            <p:nvSpPr>
              <p:cNvPr id="372" name="path 372"/>
              <p:cNvSpPr/>
              <p:nvPr/>
            </p:nvSpPr>
            <p:spPr>
              <a:xfrm>
                <a:off x="0" y="0"/>
                <a:ext cx="2163235" cy="1614607"/>
              </a:xfrm>
              <a:custGeom>
                <a:avLst/>
                <a:gdLst/>
                <a:ahLst/>
                <a:cxnLst/>
                <a:rect l="0" t="0" r="0" b="0"/>
                <a:pathLst>
                  <a:path w="3406" h="2542">
                    <a:moveTo>
                      <a:pt x="11" y="133"/>
                    </a:moveTo>
                    <a:lnTo>
                      <a:pt x="11" y="133"/>
                    </a:lnTo>
                    <a:cubicBezTo>
                      <a:pt x="11" y="111"/>
                      <a:pt x="17" y="90"/>
                      <a:pt x="28" y="72"/>
                    </a:cubicBezTo>
                    <a:cubicBezTo>
                      <a:pt x="38" y="53"/>
                      <a:pt x="54" y="38"/>
                      <a:pt x="72" y="27"/>
                    </a:cubicBezTo>
                    <a:cubicBezTo>
                      <a:pt x="91" y="16"/>
                      <a:pt x="112" y="11"/>
                      <a:pt x="134" y="11"/>
                    </a:cubicBezTo>
                    <a:lnTo>
                      <a:pt x="3273" y="11"/>
                    </a:lnTo>
                    <a:lnTo>
                      <a:pt x="3273" y="11"/>
                    </a:lnTo>
                    <a:cubicBezTo>
                      <a:pt x="3294" y="11"/>
                      <a:pt x="3315" y="17"/>
                      <a:pt x="3334" y="28"/>
                    </a:cubicBezTo>
                    <a:cubicBezTo>
                      <a:pt x="3353" y="38"/>
                      <a:pt x="3368" y="54"/>
                      <a:pt x="3379" y="72"/>
                    </a:cubicBezTo>
                    <a:cubicBezTo>
                      <a:pt x="3389" y="91"/>
                      <a:pt x="3395" y="112"/>
                      <a:pt x="3395" y="134"/>
                    </a:cubicBezTo>
                    <a:lnTo>
                      <a:pt x="3395" y="134"/>
                    </a:lnTo>
                    <a:lnTo>
                      <a:pt x="3395" y="2409"/>
                    </a:lnTo>
                    <a:lnTo>
                      <a:pt x="3395" y="2409"/>
                    </a:lnTo>
                    <a:cubicBezTo>
                      <a:pt x="3395" y="2430"/>
                      <a:pt x="3389" y="2451"/>
                      <a:pt x="3379" y="2470"/>
                    </a:cubicBezTo>
                    <a:cubicBezTo>
                      <a:pt x="3368" y="2489"/>
                      <a:pt x="3353" y="2504"/>
                      <a:pt x="3334" y="2515"/>
                    </a:cubicBezTo>
                    <a:cubicBezTo>
                      <a:pt x="3315" y="2525"/>
                      <a:pt x="3294" y="2531"/>
                      <a:pt x="3273" y="2531"/>
                    </a:cubicBezTo>
                    <a:lnTo>
                      <a:pt x="133" y="2531"/>
                    </a:lnTo>
                    <a:lnTo>
                      <a:pt x="133" y="2531"/>
                    </a:lnTo>
                    <a:cubicBezTo>
                      <a:pt x="111" y="2531"/>
                      <a:pt x="90" y="2525"/>
                      <a:pt x="72" y="2515"/>
                    </a:cubicBezTo>
                    <a:cubicBezTo>
                      <a:pt x="53" y="2504"/>
                      <a:pt x="38" y="2489"/>
                      <a:pt x="27" y="2470"/>
                    </a:cubicBezTo>
                    <a:cubicBezTo>
                      <a:pt x="16" y="2451"/>
                      <a:pt x="11" y="2430"/>
                      <a:pt x="11" y="2409"/>
                    </a:cubicBezTo>
                    <a:lnTo>
                      <a:pt x="11" y="133"/>
                    </a:lnTo>
                    <a:close/>
                  </a:path>
                </a:pathLst>
              </a:custGeom>
              <a:noFill/>
              <a:ln w="1403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" name="path 374"/>
              <p:cNvSpPr/>
              <p:nvPr/>
            </p:nvSpPr>
            <p:spPr>
              <a:xfrm>
                <a:off x="7375" y="7387"/>
                <a:ext cx="2148484" cy="68389"/>
              </a:xfrm>
              <a:custGeom>
                <a:avLst/>
                <a:gdLst/>
                <a:ahLst/>
                <a:cxnLst/>
                <a:rect l="0" t="0" r="0" b="0"/>
                <a:pathLst>
                  <a:path w="3383" h="107">
                    <a:moveTo>
                      <a:pt x="1691" y="107"/>
                    </a:moveTo>
                    <a:lnTo>
                      <a:pt x="0" y="107"/>
                    </a:lnTo>
                    <a:lnTo>
                      <a:pt x="0" y="0"/>
                    </a:lnTo>
                    <a:lnTo>
                      <a:pt x="3383" y="0"/>
                    </a:lnTo>
                    <a:lnTo>
                      <a:pt x="3383" y="107"/>
                    </a:lnTo>
                    <a:lnTo>
                      <a:pt x="1691" y="107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" name="path 376"/>
              <p:cNvSpPr/>
              <p:nvPr/>
            </p:nvSpPr>
            <p:spPr>
              <a:xfrm>
                <a:off x="1075" y="1087"/>
                <a:ext cx="2161083" cy="80989"/>
              </a:xfrm>
              <a:custGeom>
                <a:avLst/>
                <a:gdLst/>
                <a:ahLst/>
                <a:cxnLst/>
                <a:rect l="0" t="0" r="0" b="0"/>
                <a:pathLst>
                  <a:path w="3403" h="127">
                    <a:moveTo>
                      <a:pt x="1701" y="117"/>
                    </a:moveTo>
                    <a:lnTo>
                      <a:pt x="9" y="117"/>
                    </a:lnTo>
                    <a:lnTo>
                      <a:pt x="9" y="9"/>
                    </a:lnTo>
                    <a:lnTo>
                      <a:pt x="3393" y="9"/>
                    </a:lnTo>
                    <a:lnTo>
                      <a:pt x="3393" y="117"/>
                    </a:lnTo>
                    <a:lnTo>
                      <a:pt x="1701" y="11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path 378"/>
              <p:cNvSpPr/>
              <p:nvPr/>
            </p:nvSpPr>
            <p:spPr>
              <a:xfrm>
                <a:off x="2359075" y="0"/>
                <a:ext cx="2163248" cy="1614607"/>
              </a:xfrm>
              <a:custGeom>
                <a:avLst/>
                <a:gdLst/>
                <a:ahLst/>
                <a:cxnLst/>
                <a:rect l="0" t="0" r="0" b="0"/>
                <a:pathLst>
                  <a:path w="3406" h="2542">
                    <a:moveTo>
                      <a:pt x="11" y="133"/>
                    </a:moveTo>
                    <a:lnTo>
                      <a:pt x="11" y="133"/>
                    </a:lnTo>
                    <a:cubicBezTo>
                      <a:pt x="11" y="111"/>
                      <a:pt x="17" y="90"/>
                      <a:pt x="28" y="72"/>
                    </a:cubicBezTo>
                    <a:cubicBezTo>
                      <a:pt x="38" y="53"/>
                      <a:pt x="54" y="38"/>
                      <a:pt x="72" y="27"/>
                    </a:cubicBezTo>
                    <a:cubicBezTo>
                      <a:pt x="91" y="16"/>
                      <a:pt x="112" y="11"/>
                      <a:pt x="134" y="11"/>
                    </a:cubicBezTo>
                    <a:lnTo>
                      <a:pt x="3273" y="11"/>
                    </a:lnTo>
                    <a:lnTo>
                      <a:pt x="3273" y="11"/>
                    </a:lnTo>
                    <a:cubicBezTo>
                      <a:pt x="3294" y="11"/>
                      <a:pt x="3315" y="17"/>
                      <a:pt x="3334" y="28"/>
                    </a:cubicBezTo>
                    <a:cubicBezTo>
                      <a:pt x="3353" y="38"/>
                      <a:pt x="3368" y="54"/>
                      <a:pt x="3379" y="72"/>
                    </a:cubicBezTo>
                    <a:cubicBezTo>
                      <a:pt x="3389" y="91"/>
                      <a:pt x="3395" y="112"/>
                      <a:pt x="3395" y="134"/>
                    </a:cubicBezTo>
                    <a:lnTo>
                      <a:pt x="3395" y="134"/>
                    </a:lnTo>
                    <a:lnTo>
                      <a:pt x="3395" y="2409"/>
                    </a:lnTo>
                    <a:lnTo>
                      <a:pt x="3395" y="2409"/>
                    </a:lnTo>
                    <a:cubicBezTo>
                      <a:pt x="3395" y="2430"/>
                      <a:pt x="3389" y="2451"/>
                      <a:pt x="3379" y="2470"/>
                    </a:cubicBezTo>
                    <a:cubicBezTo>
                      <a:pt x="3368" y="2489"/>
                      <a:pt x="3353" y="2504"/>
                      <a:pt x="3334" y="2515"/>
                    </a:cubicBezTo>
                    <a:cubicBezTo>
                      <a:pt x="3315" y="2525"/>
                      <a:pt x="3294" y="2531"/>
                      <a:pt x="3273" y="2531"/>
                    </a:cubicBezTo>
                    <a:lnTo>
                      <a:pt x="133" y="2531"/>
                    </a:lnTo>
                    <a:lnTo>
                      <a:pt x="133" y="2531"/>
                    </a:lnTo>
                    <a:cubicBezTo>
                      <a:pt x="111" y="2531"/>
                      <a:pt x="90" y="2525"/>
                      <a:pt x="72" y="2515"/>
                    </a:cubicBezTo>
                    <a:cubicBezTo>
                      <a:pt x="53" y="2504"/>
                      <a:pt x="38" y="2489"/>
                      <a:pt x="27" y="2470"/>
                    </a:cubicBezTo>
                    <a:cubicBezTo>
                      <a:pt x="16" y="2451"/>
                      <a:pt x="11" y="2430"/>
                      <a:pt x="11" y="2409"/>
                    </a:cubicBezTo>
                    <a:lnTo>
                      <a:pt x="11" y="133"/>
                    </a:lnTo>
                    <a:close/>
                  </a:path>
                </a:pathLst>
              </a:custGeom>
              <a:noFill/>
              <a:ln w="1403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" name="path 380"/>
              <p:cNvSpPr/>
              <p:nvPr/>
            </p:nvSpPr>
            <p:spPr>
              <a:xfrm>
                <a:off x="2366463" y="7387"/>
                <a:ext cx="2148471" cy="68389"/>
              </a:xfrm>
              <a:custGeom>
                <a:avLst/>
                <a:gdLst/>
                <a:ahLst/>
                <a:cxnLst/>
                <a:rect l="0" t="0" r="0" b="0"/>
                <a:pathLst>
                  <a:path w="3383" h="107">
                    <a:moveTo>
                      <a:pt x="1691" y="107"/>
                    </a:moveTo>
                    <a:lnTo>
                      <a:pt x="0" y="107"/>
                    </a:lnTo>
                    <a:lnTo>
                      <a:pt x="0" y="0"/>
                    </a:lnTo>
                    <a:lnTo>
                      <a:pt x="3383" y="0"/>
                    </a:lnTo>
                    <a:lnTo>
                      <a:pt x="3383" y="107"/>
                    </a:lnTo>
                    <a:lnTo>
                      <a:pt x="1691" y="107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" name="path 382"/>
              <p:cNvSpPr/>
              <p:nvPr/>
            </p:nvSpPr>
            <p:spPr>
              <a:xfrm>
                <a:off x="2360164" y="1087"/>
                <a:ext cx="2161071" cy="80989"/>
              </a:xfrm>
              <a:custGeom>
                <a:avLst/>
                <a:gdLst/>
                <a:ahLst/>
                <a:cxnLst/>
                <a:rect l="0" t="0" r="0" b="0"/>
                <a:pathLst>
                  <a:path w="3403" h="127">
                    <a:moveTo>
                      <a:pt x="1701" y="117"/>
                    </a:moveTo>
                    <a:lnTo>
                      <a:pt x="9" y="117"/>
                    </a:lnTo>
                    <a:lnTo>
                      <a:pt x="9" y="9"/>
                    </a:lnTo>
                    <a:lnTo>
                      <a:pt x="3393" y="9"/>
                    </a:lnTo>
                    <a:lnTo>
                      <a:pt x="3393" y="117"/>
                    </a:lnTo>
                    <a:lnTo>
                      <a:pt x="1701" y="11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" name="path 384"/>
              <p:cNvSpPr/>
              <p:nvPr/>
            </p:nvSpPr>
            <p:spPr>
              <a:xfrm>
                <a:off x="4718164" y="0"/>
                <a:ext cx="2163234" cy="1614607"/>
              </a:xfrm>
              <a:custGeom>
                <a:avLst/>
                <a:gdLst/>
                <a:ahLst/>
                <a:cxnLst/>
                <a:rect l="0" t="0" r="0" b="0"/>
                <a:pathLst>
                  <a:path w="3406" h="2542">
                    <a:moveTo>
                      <a:pt x="11" y="133"/>
                    </a:moveTo>
                    <a:lnTo>
                      <a:pt x="11" y="133"/>
                    </a:lnTo>
                    <a:cubicBezTo>
                      <a:pt x="11" y="111"/>
                      <a:pt x="17" y="90"/>
                      <a:pt x="28" y="72"/>
                    </a:cubicBezTo>
                    <a:cubicBezTo>
                      <a:pt x="38" y="53"/>
                      <a:pt x="54" y="38"/>
                      <a:pt x="72" y="27"/>
                    </a:cubicBezTo>
                    <a:cubicBezTo>
                      <a:pt x="91" y="16"/>
                      <a:pt x="112" y="11"/>
                      <a:pt x="134" y="11"/>
                    </a:cubicBezTo>
                    <a:lnTo>
                      <a:pt x="3273" y="11"/>
                    </a:lnTo>
                    <a:lnTo>
                      <a:pt x="3273" y="11"/>
                    </a:lnTo>
                    <a:cubicBezTo>
                      <a:pt x="3294" y="11"/>
                      <a:pt x="3315" y="17"/>
                      <a:pt x="3334" y="28"/>
                    </a:cubicBezTo>
                    <a:cubicBezTo>
                      <a:pt x="3353" y="38"/>
                      <a:pt x="3368" y="54"/>
                      <a:pt x="3379" y="72"/>
                    </a:cubicBezTo>
                    <a:cubicBezTo>
                      <a:pt x="3389" y="91"/>
                      <a:pt x="3395" y="112"/>
                      <a:pt x="3395" y="134"/>
                    </a:cubicBezTo>
                    <a:lnTo>
                      <a:pt x="3395" y="134"/>
                    </a:lnTo>
                    <a:lnTo>
                      <a:pt x="3395" y="2409"/>
                    </a:lnTo>
                    <a:lnTo>
                      <a:pt x="3395" y="2409"/>
                    </a:lnTo>
                    <a:cubicBezTo>
                      <a:pt x="3395" y="2430"/>
                      <a:pt x="3389" y="2451"/>
                      <a:pt x="3379" y="2470"/>
                    </a:cubicBezTo>
                    <a:cubicBezTo>
                      <a:pt x="3368" y="2489"/>
                      <a:pt x="3353" y="2504"/>
                      <a:pt x="3334" y="2515"/>
                    </a:cubicBezTo>
                    <a:cubicBezTo>
                      <a:pt x="3315" y="2525"/>
                      <a:pt x="3294" y="2531"/>
                      <a:pt x="3273" y="2531"/>
                    </a:cubicBezTo>
                    <a:lnTo>
                      <a:pt x="133" y="2531"/>
                    </a:lnTo>
                    <a:lnTo>
                      <a:pt x="133" y="2531"/>
                    </a:lnTo>
                    <a:cubicBezTo>
                      <a:pt x="111" y="2531"/>
                      <a:pt x="90" y="2525"/>
                      <a:pt x="72" y="2515"/>
                    </a:cubicBezTo>
                    <a:cubicBezTo>
                      <a:pt x="53" y="2504"/>
                      <a:pt x="38" y="2489"/>
                      <a:pt x="27" y="2470"/>
                    </a:cubicBezTo>
                    <a:cubicBezTo>
                      <a:pt x="16" y="2451"/>
                      <a:pt x="11" y="2430"/>
                      <a:pt x="11" y="2409"/>
                    </a:cubicBezTo>
                    <a:lnTo>
                      <a:pt x="11" y="133"/>
                    </a:lnTo>
                    <a:close/>
                  </a:path>
                </a:pathLst>
              </a:custGeom>
              <a:noFill/>
              <a:ln w="14039" cap="flat">
                <a:solidFill>
                  <a:srgbClr val="218C9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" name="path 386"/>
              <p:cNvSpPr/>
              <p:nvPr/>
            </p:nvSpPr>
            <p:spPr>
              <a:xfrm>
                <a:off x="4725539" y="7387"/>
                <a:ext cx="2148485" cy="68389"/>
              </a:xfrm>
              <a:custGeom>
                <a:avLst/>
                <a:gdLst/>
                <a:ahLst/>
                <a:cxnLst/>
                <a:rect l="0" t="0" r="0" b="0"/>
                <a:pathLst>
                  <a:path w="3383" h="107">
                    <a:moveTo>
                      <a:pt x="1691" y="107"/>
                    </a:moveTo>
                    <a:lnTo>
                      <a:pt x="0" y="107"/>
                    </a:lnTo>
                    <a:lnTo>
                      <a:pt x="0" y="0"/>
                    </a:lnTo>
                    <a:lnTo>
                      <a:pt x="3383" y="0"/>
                    </a:lnTo>
                    <a:lnTo>
                      <a:pt x="3383" y="107"/>
                    </a:lnTo>
                    <a:lnTo>
                      <a:pt x="1691" y="107"/>
                    </a:lnTo>
                    <a:close/>
                  </a:path>
                </a:pathLst>
              </a:custGeom>
              <a:solidFill>
                <a:srgbClr val="218C9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8" name="path 388"/>
              <p:cNvSpPr/>
              <p:nvPr/>
            </p:nvSpPr>
            <p:spPr>
              <a:xfrm>
                <a:off x="4719239" y="1087"/>
                <a:ext cx="2161084" cy="80989"/>
              </a:xfrm>
              <a:custGeom>
                <a:avLst/>
                <a:gdLst/>
                <a:ahLst/>
                <a:cxnLst/>
                <a:rect l="0" t="0" r="0" b="0"/>
                <a:pathLst>
                  <a:path w="3403" h="127">
                    <a:moveTo>
                      <a:pt x="1701" y="117"/>
                    </a:moveTo>
                    <a:lnTo>
                      <a:pt x="9" y="117"/>
                    </a:lnTo>
                    <a:lnTo>
                      <a:pt x="9" y="9"/>
                    </a:lnTo>
                    <a:lnTo>
                      <a:pt x="3393" y="9"/>
                    </a:lnTo>
                    <a:lnTo>
                      <a:pt x="3393" y="117"/>
                    </a:lnTo>
                    <a:lnTo>
                      <a:pt x="1701" y="11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18C9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" name="path 390"/>
              <p:cNvSpPr/>
              <p:nvPr/>
            </p:nvSpPr>
            <p:spPr>
              <a:xfrm>
                <a:off x="7077240" y="0"/>
                <a:ext cx="2163235" cy="1614607"/>
              </a:xfrm>
              <a:custGeom>
                <a:avLst/>
                <a:gdLst/>
                <a:ahLst/>
                <a:cxnLst/>
                <a:rect l="0" t="0" r="0" b="0"/>
                <a:pathLst>
                  <a:path w="3406" h="2542">
                    <a:moveTo>
                      <a:pt x="11" y="133"/>
                    </a:moveTo>
                    <a:lnTo>
                      <a:pt x="11" y="133"/>
                    </a:lnTo>
                    <a:cubicBezTo>
                      <a:pt x="11" y="111"/>
                      <a:pt x="17" y="90"/>
                      <a:pt x="28" y="72"/>
                    </a:cubicBezTo>
                    <a:cubicBezTo>
                      <a:pt x="38" y="53"/>
                      <a:pt x="54" y="38"/>
                      <a:pt x="72" y="27"/>
                    </a:cubicBezTo>
                    <a:cubicBezTo>
                      <a:pt x="91" y="16"/>
                      <a:pt x="112" y="11"/>
                      <a:pt x="134" y="11"/>
                    </a:cubicBezTo>
                    <a:lnTo>
                      <a:pt x="3273" y="11"/>
                    </a:lnTo>
                    <a:lnTo>
                      <a:pt x="3273" y="11"/>
                    </a:lnTo>
                    <a:cubicBezTo>
                      <a:pt x="3294" y="11"/>
                      <a:pt x="3315" y="17"/>
                      <a:pt x="3334" y="28"/>
                    </a:cubicBezTo>
                    <a:cubicBezTo>
                      <a:pt x="3353" y="38"/>
                      <a:pt x="3368" y="54"/>
                      <a:pt x="3379" y="72"/>
                    </a:cubicBezTo>
                    <a:cubicBezTo>
                      <a:pt x="3389" y="91"/>
                      <a:pt x="3395" y="112"/>
                      <a:pt x="3395" y="134"/>
                    </a:cubicBezTo>
                    <a:lnTo>
                      <a:pt x="3395" y="134"/>
                    </a:lnTo>
                    <a:lnTo>
                      <a:pt x="3395" y="2409"/>
                    </a:lnTo>
                    <a:lnTo>
                      <a:pt x="3395" y="2409"/>
                    </a:lnTo>
                    <a:cubicBezTo>
                      <a:pt x="3395" y="2430"/>
                      <a:pt x="3389" y="2451"/>
                      <a:pt x="3379" y="2470"/>
                    </a:cubicBezTo>
                    <a:cubicBezTo>
                      <a:pt x="3368" y="2489"/>
                      <a:pt x="3353" y="2504"/>
                      <a:pt x="3334" y="2515"/>
                    </a:cubicBezTo>
                    <a:cubicBezTo>
                      <a:pt x="3315" y="2525"/>
                      <a:pt x="3294" y="2531"/>
                      <a:pt x="3273" y="2531"/>
                    </a:cubicBezTo>
                    <a:lnTo>
                      <a:pt x="133" y="2531"/>
                    </a:lnTo>
                    <a:lnTo>
                      <a:pt x="133" y="2531"/>
                    </a:lnTo>
                    <a:cubicBezTo>
                      <a:pt x="111" y="2531"/>
                      <a:pt x="90" y="2525"/>
                      <a:pt x="72" y="2515"/>
                    </a:cubicBezTo>
                    <a:cubicBezTo>
                      <a:pt x="53" y="2504"/>
                      <a:pt x="38" y="2489"/>
                      <a:pt x="27" y="2470"/>
                    </a:cubicBezTo>
                    <a:cubicBezTo>
                      <a:pt x="16" y="2451"/>
                      <a:pt x="11" y="2430"/>
                      <a:pt x="11" y="2409"/>
                    </a:cubicBezTo>
                    <a:lnTo>
                      <a:pt x="11" y="133"/>
                    </a:lnTo>
                    <a:close/>
                  </a:path>
                </a:pathLst>
              </a:custGeom>
              <a:noFill/>
              <a:ln w="14039" cap="flat">
                <a:solidFill>
                  <a:srgbClr val="785E9C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" name="path 392"/>
              <p:cNvSpPr/>
              <p:nvPr/>
            </p:nvSpPr>
            <p:spPr>
              <a:xfrm>
                <a:off x="7084615" y="7387"/>
                <a:ext cx="2148484" cy="68389"/>
              </a:xfrm>
              <a:custGeom>
                <a:avLst/>
                <a:gdLst/>
                <a:ahLst/>
                <a:cxnLst/>
                <a:rect l="0" t="0" r="0" b="0"/>
                <a:pathLst>
                  <a:path w="3383" h="107">
                    <a:moveTo>
                      <a:pt x="1691" y="107"/>
                    </a:moveTo>
                    <a:lnTo>
                      <a:pt x="0" y="107"/>
                    </a:lnTo>
                    <a:lnTo>
                      <a:pt x="0" y="0"/>
                    </a:lnTo>
                    <a:lnTo>
                      <a:pt x="3383" y="0"/>
                    </a:lnTo>
                    <a:lnTo>
                      <a:pt x="3383" y="107"/>
                    </a:lnTo>
                    <a:lnTo>
                      <a:pt x="1691" y="107"/>
                    </a:lnTo>
                    <a:close/>
                  </a:path>
                </a:pathLst>
              </a:custGeom>
              <a:solidFill>
                <a:srgbClr val="785E9C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" name="path 394"/>
              <p:cNvSpPr/>
              <p:nvPr/>
            </p:nvSpPr>
            <p:spPr>
              <a:xfrm>
                <a:off x="7078316" y="1087"/>
                <a:ext cx="2161083" cy="80989"/>
              </a:xfrm>
              <a:custGeom>
                <a:avLst/>
                <a:gdLst/>
                <a:ahLst/>
                <a:cxnLst/>
                <a:rect l="0" t="0" r="0" b="0"/>
                <a:pathLst>
                  <a:path w="3403" h="127">
                    <a:moveTo>
                      <a:pt x="1701" y="117"/>
                    </a:moveTo>
                    <a:lnTo>
                      <a:pt x="9" y="117"/>
                    </a:lnTo>
                    <a:lnTo>
                      <a:pt x="9" y="9"/>
                    </a:lnTo>
                    <a:lnTo>
                      <a:pt x="3393" y="9"/>
                    </a:lnTo>
                    <a:lnTo>
                      <a:pt x="3393" y="117"/>
                    </a:lnTo>
                    <a:lnTo>
                      <a:pt x="1701" y="11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785E9C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" name="path 396"/>
              <p:cNvSpPr/>
              <p:nvPr/>
            </p:nvSpPr>
            <p:spPr>
              <a:xfrm>
                <a:off x="9436316" y="0"/>
                <a:ext cx="2152808" cy="1614607"/>
              </a:xfrm>
              <a:custGeom>
                <a:avLst/>
                <a:gdLst/>
                <a:ahLst/>
                <a:cxnLst/>
                <a:rect l="0" t="0" r="0" b="0"/>
                <a:pathLst>
                  <a:path w="3390" h="2542">
                    <a:moveTo>
                      <a:pt x="11" y="133"/>
                    </a:moveTo>
                    <a:cubicBezTo>
                      <a:pt x="11" y="111"/>
                      <a:pt x="17" y="90"/>
                      <a:pt x="28" y="72"/>
                    </a:cubicBezTo>
                    <a:cubicBezTo>
                      <a:pt x="38" y="53"/>
                      <a:pt x="54" y="38"/>
                      <a:pt x="72" y="27"/>
                    </a:cubicBezTo>
                    <a:cubicBezTo>
                      <a:pt x="91" y="16"/>
                      <a:pt x="112" y="11"/>
                      <a:pt x="134" y="11"/>
                    </a:cubicBezTo>
                    <a:lnTo>
                      <a:pt x="3273" y="11"/>
                    </a:lnTo>
                    <a:lnTo>
                      <a:pt x="3273" y="11"/>
                    </a:lnTo>
                    <a:cubicBezTo>
                      <a:pt x="3294" y="11"/>
                      <a:pt x="3315" y="17"/>
                      <a:pt x="3334" y="28"/>
                    </a:cubicBezTo>
                    <a:cubicBezTo>
                      <a:pt x="3353" y="38"/>
                      <a:pt x="3368" y="54"/>
                      <a:pt x="3379" y="72"/>
                    </a:cubicBezTo>
                    <a:moveTo>
                      <a:pt x="3379" y="2470"/>
                    </a:moveTo>
                    <a:cubicBezTo>
                      <a:pt x="3368" y="2489"/>
                      <a:pt x="3353" y="2504"/>
                      <a:pt x="3334" y="2515"/>
                    </a:cubicBezTo>
                    <a:cubicBezTo>
                      <a:pt x="3315" y="2525"/>
                      <a:pt x="3294" y="2531"/>
                      <a:pt x="3273" y="2531"/>
                    </a:cubicBezTo>
                    <a:lnTo>
                      <a:pt x="133" y="2531"/>
                    </a:lnTo>
                    <a:lnTo>
                      <a:pt x="133" y="2531"/>
                    </a:lnTo>
                    <a:cubicBezTo>
                      <a:pt x="111" y="2531"/>
                      <a:pt x="90" y="2525"/>
                      <a:pt x="72" y="2515"/>
                    </a:cubicBezTo>
                    <a:cubicBezTo>
                      <a:pt x="53" y="2504"/>
                      <a:pt x="38" y="2489"/>
                      <a:pt x="27" y="2470"/>
                    </a:cubicBezTo>
                    <a:cubicBezTo>
                      <a:pt x="16" y="2451"/>
                      <a:pt x="11" y="2430"/>
                      <a:pt x="11" y="2409"/>
                    </a:cubicBezTo>
                    <a:lnTo>
                      <a:pt x="11" y="133"/>
                    </a:lnTo>
                  </a:path>
                </a:pathLst>
              </a:custGeom>
              <a:noFill/>
              <a:ln w="14039" cap="flat">
                <a:solidFill>
                  <a:srgbClr val="697891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" name="path 398"/>
              <p:cNvSpPr/>
              <p:nvPr/>
            </p:nvSpPr>
            <p:spPr>
              <a:xfrm>
                <a:off x="9443703" y="7387"/>
                <a:ext cx="2148472" cy="68389"/>
              </a:xfrm>
              <a:custGeom>
                <a:avLst/>
                <a:gdLst/>
                <a:ahLst/>
                <a:cxnLst/>
                <a:rect l="0" t="0" r="0" b="0"/>
                <a:pathLst>
                  <a:path w="3383" h="107">
                    <a:moveTo>
                      <a:pt x="1691" y="107"/>
                    </a:moveTo>
                    <a:lnTo>
                      <a:pt x="0" y="107"/>
                    </a:lnTo>
                    <a:lnTo>
                      <a:pt x="0" y="0"/>
                    </a:lnTo>
                    <a:lnTo>
                      <a:pt x="3383" y="0"/>
                    </a:lnTo>
                    <a:lnTo>
                      <a:pt x="3383" y="107"/>
                    </a:lnTo>
                    <a:lnTo>
                      <a:pt x="1691" y="107"/>
                    </a:lnTo>
                    <a:close/>
                  </a:path>
                </a:pathLst>
              </a:custGeom>
              <a:solidFill>
                <a:srgbClr val="69789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" name="path 400"/>
              <p:cNvSpPr/>
              <p:nvPr/>
            </p:nvSpPr>
            <p:spPr>
              <a:xfrm>
                <a:off x="9437403" y="1087"/>
                <a:ext cx="2154772" cy="80989"/>
              </a:xfrm>
              <a:custGeom>
                <a:avLst/>
                <a:gdLst/>
                <a:ahLst/>
                <a:cxnLst/>
                <a:rect l="0" t="0" r="0" b="0"/>
                <a:pathLst>
                  <a:path w="3393" h="127">
                    <a:moveTo>
                      <a:pt x="1701" y="117"/>
                    </a:moveTo>
                    <a:lnTo>
                      <a:pt x="9" y="117"/>
                    </a:lnTo>
                    <a:lnTo>
                      <a:pt x="9" y="9"/>
                    </a:lnTo>
                    <a:lnTo>
                      <a:pt x="3393" y="9"/>
                    </a:lnTo>
                    <a:moveTo>
                      <a:pt x="3393" y="117"/>
                    </a:moveTo>
                    <a:lnTo>
                      <a:pt x="1701" y="117"/>
                    </a:lnTo>
                  </a:path>
                </a:pathLst>
              </a:custGeom>
              <a:noFill/>
              <a:ln w="12599" cap="flat">
                <a:solidFill>
                  <a:srgbClr val="697891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" name="path 402"/>
              <p:cNvSpPr/>
              <p:nvPr/>
            </p:nvSpPr>
            <p:spPr>
              <a:xfrm>
                <a:off x="5658479" y="1753717"/>
                <a:ext cx="35995" cy="293451"/>
              </a:xfrm>
              <a:custGeom>
                <a:avLst/>
                <a:gdLst/>
                <a:ahLst/>
                <a:cxnLst/>
                <a:rect l="0" t="0" r="0" b="0"/>
                <a:pathLst>
                  <a:path w="56" h="462">
                    <a:moveTo>
                      <a:pt x="28" y="0"/>
                    </a:moveTo>
                    <a:lnTo>
                      <a:pt x="28" y="462"/>
                    </a:lnTo>
                  </a:path>
                </a:pathLst>
              </a:custGeom>
              <a:noFill/>
              <a:ln w="35639" cap="flat">
                <a:solidFill>
                  <a:srgbClr val="293D8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path 404"/>
              <p:cNvSpPr/>
              <p:nvPr/>
            </p:nvSpPr>
            <p:spPr>
              <a:xfrm>
                <a:off x="5623023" y="2039946"/>
                <a:ext cx="106920" cy="106921"/>
              </a:xfrm>
              <a:custGeom>
                <a:avLst/>
                <a:gdLst/>
                <a:ahLst/>
                <a:cxnLst/>
                <a:rect l="0" t="0" r="0" b="0"/>
                <a:pathLst>
                  <a:path w="168" h="168">
                    <a:moveTo>
                      <a:pt x="84" y="168"/>
                    </a:moveTo>
                    <a:lnTo>
                      <a:pt x="0" y="0"/>
                    </a:lnTo>
                    <a:lnTo>
                      <a:pt x="168" y="0"/>
                    </a:lnTo>
                    <a:lnTo>
                      <a:pt x="84" y="168"/>
                    </a:lnTo>
                    <a:close/>
                  </a:path>
                </a:pathLst>
              </a:custGeom>
              <a:solidFill>
                <a:srgbClr val="293D8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path 406"/>
              <p:cNvSpPr/>
              <p:nvPr/>
            </p:nvSpPr>
            <p:spPr>
              <a:xfrm>
                <a:off x="8636" y="2249283"/>
                <a:ext cx="5317928" cy="1678679"/>
              </a:xfrm>
              <a:custGeom>
                <a:avLst/>
                <a:gdLst/>
                <a:ahLst/>
                <a:cxnLst/>
                <a:rect l="0" t="0" r="0" b="0"/>
                <a:pathLst>
                  <a:path w="8374" h="2643">
                    <a:moveTo>
                      <a:pt x="11" y="133"/>
                    </a:moveTo>
                    <a:lnTo>
                      <a:pt x="11" y="133"/>
                    </a:lnTo>
                    <a:cubicBezTo>
                      <a:pt x="11" y="111"/>
                      <a:pt x="17" y="90"/>
                      <a:pt x="28" y="72"/>
                    </a:cubicBezTo>
                    <a:cubicBezTo>
                      <a:pt x="38" y="53"/>
                      <a:pt x="54" y="38"/>
                      <a:pt x="72" y="27"/>
                    </a:cubicBezTo>
                    <a:cubicBezTo>
                      <a:pt x="91" y="16"/>
                      <a:pt x="112" y="11"/>
                      <a:pt x="134" y="11"/>
                    </a:cubicBezTo>
                    <a:lnTo>
                      <a:pt x="8241" y="11"/>
                    </a:lnTo>
                    <a:lnTo>
                      <a:pt x="8241" y="11"/>
                    </a:lnTo>
                    <a:cubicBezTo>
                      <a:pt x="8262" y="11"/>
                      <a:pt x="8283" y="17"/>
                      <a:pt x="8302" y="28"/>
                    </a:cubicBezTo>
                    <a:cubicBezTo>
                      <a:pt x="8321" y="38"/>
                      <a:pt x="8336" y="54"/>
                      <a:pt x="8347" y="72"/>
                    </a:cubicBezTo>
                    <a:cubicBezTo>
                      <a:pt x="8357" y="91"/>
                      <a:pt x="8363" y="112"/>
                      <a:pt x="8363" y="134"/>
                    </a:cubicBezTo>
                    <a:lnTo>
                      <a:pt x="8363" y="134"/>
                    </a:lnTo>
                    <a:lnTo>
                      <a:pt x="8363" y="2510"/>
                    </a:lnTo>
                    <a:lnTo>
                      <a:pt x="8363" y="2510"/>
                    </a:lnTo>
                    <a:cubicBezTo>
                      <a:pt x="8363" y="2531"/>
                      <a:pt x="8357" y="2552"/>
                      <a:pt x="8347" y="2571"/>
                    </a:cubicBezTo>
                    <a:cubicBezTo>
                      <a:pt x="8336" y="2590"/>
                      <a:pt x="8321" y="2605"/>
                      <a:pt x="8302" y="2616"/>
                    </a:cubicBezTo>
                    <a:cubicBezTo>
                      <a:pt x="8283" y="2626"/>
                      <a:pt x="8262" y="2632"/>
                      <a:pt x="8241" y="2632"/>
                    </a:cubicBezTo>
                    <a:lnTo>
                      <a:pt x="133" y="2632"/>
                    </a:lnTo>
                    <a:lnTo>
                      <a:pt x="133" y="2632"/>
                    </a:lnTo>
                    <a:cubicBezTo>
                      <a:pt x="111" y="2632"/>
                      <a:pt x="90" y="2626"/>
                      <a:pt x="72" y="2616"/>
                    </a:cubicBezTo>
                    <a:cubicBezTo>
                      <a:pt x="53" y="2605"/>
                      <a:pt x="38" y="2590"/>
                      <a:pt x="27" y="2571"/>
                    </a:cubicBezTo>
                    <a:cubicBezTo>
                      <a:pt x="16" y="2552"/>
                      <a:pt x="11" y="2531"/>
                      <a:pt x="11" y="2510"/>
                    </a:cubicBezTo>
                    <a:lnTo>
                      <a:pt x="11" y="133"/>
                    </a:lnTo>
                    <a:close/>
                  </a:path>
                </a:pathLst>
              </a:custGeom>
              <a:noFill/>
              <a:ln w="14039" cap="flat">
                <a:solidFill>
                  <a:srgbClr val="D5DCE8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path 408"/>
              <p:cNvSpPr/>
              <p:nvPr/>
            </p:nvSpPr>
            <p:spPr>
              <a:xfrm>
                <a:off x="199259" y="2439539"/>
                <a:ext cx="1929244" cy="292684"/>
              </a:xfrm>
              <a:custGeom>
                <a:avLst/>
                <a:gdLst/>
                <a:ahLst/>
                <a:cxnLst/>
                <a:rect l="0" t="0" r="0" b="0"/>
                <a:pathLst>
                  <a:path w="3038" h="460">
                    <a:moveTo>
                      <a:pt x="0" y="115"/>
                    </a:moveTo>
                    <a:lnTo>
                      <a:pt x="0" y="115"/>
                    </a:lnTo>
                    <a:cubicBezTo>
                      <a:pt x="0" y="94"/>
                      <a:pt x="5" y="74"/>
                      <a:pt x="15" y="57"/>
                    </a:cubicBezTo>
                    <a:cubicBezTo>
                      <a:pt x="25" y="39"/>
                      <a:pt x="40" y="25"/>
                      <a:pt x="57" y="15"/>
                    </a:cubicBezTo>
                    <a:cubicBezTo>
                      <a:pt x="75" y="5"/>
                      <a:pt x="95" y="0"/>
                      <a:pt x="115" y="0"/>
                    </a:cubicBezTo>
                    <a:lnTo>
                      <a:pt x="2922" y="0"/>
                    </a:lnTo>
                    <a:lnTo>
                      <a:pt x="2922" y="0"/>
                    </a:lnTo>
                    <a:cubicBezTo>
                      <a:pt x="2942" y="0"/>
                      <a:pt x="2962" y="5"/>
                      <a:pt x="2980" y="15"/>
                    </a:cubicBezTo>
                    <a:cubicBezTo>
                      <a:pt x="2997" y="25"/>
                      <a:pt x="3012" y="40"/>
                      <a:pt x="3022" y="57"/>
                    </a:cubicBezTo>
                    <a:cubicBezTo>
                      <a:pt x="3032" y="75"/>
                      <a:pt x="3037" y="95"/>
                      <a:pt x="3037" y="115"/>
                    </a:cubicBezTo>
                    <a:lnTo>
                      <a:pt x="3037" y="115"/>
                    </a:lnTo>
                    <a:lnTo>
                      <a:pt x="3038" y="345"/>
                    </a:lnTo>
                    <a:lnTo>
                      <a:pt x="3038" y="345"/>
                    </a:lnTo>
                    <a:cubicBezTo>
                      <a:pt x="3038" y="365"/>
                      <a:pt x="3033" y="385"/>
                      <a:pt x="3022" y="403"/>
                    </a:cubicBezTo>
                    <a:cubicBezTo>
                      <a:pt x="3012" y="420"/>
                      <a:pt x="2997" y="434"/>
                      <a:pt x="2980" y="445"/>
                    </a:cubicBezTo>
                    <a:cubicBezTo>
                      <a:pt x="2962" y="455"/>
                      <a:pt x="2942" y="460"/>
                      <a:pt x="2923" y="460"/>
                    </a:cubicBezTo>
                    <a:lnTo>
                      <a:pt x="115" y="460"/>
                    </a:lnTo>
                    <a:lnTo>
                      <a:pt x="115" y="460"/>
                    </a:lnTo>
                    <a:cubicBezTo>
                      <a:pt x="94" y="460"/>
                      <a:pt x="74" y="455"/>
                      <a:pt x="57" y="445"/>
                    </a:cubicBezTo>
                    <a:cubicBezTo>
                      <a:pt x="39" y="435"/>
                      <a:pt x="25" y="420"/>
                      <a:pt x="15" y="403"/>
                    </a:cubicBezTo>
                    <a:cubicBezTo>
                      <a:pt x="5" y="385"/>
                      <a:pt x="0" y="365"/>
                      <a:pt x="0" y="345"/>
                    </a:cubicBezTo>
                    <a:lnTo>
                      <a:pt x="0" y="115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" name="path 410"/>
              <p:cNvSpPr/>
              <p:nvPr/>
            </p:nvSpPr>
            <p:spPr>
              <a:xfrm>
                <a:off x="192959" y="2433239"/>
                <a:ext cx="1941844" cy="305283"/>
              </a:xfrm>
              <a:custGeom>
                <a:avLst/>
                <a:gdLst/>
                <a:ahLst/>
                <a:cxnLst/>
                <a:rect l="0" t="0" r="0" b="0"/>
                <a:pathLst>
                  <a:path w="3058" h="480">
                    <a:moveTo>
                      <a:pt x="9" y="125"/>
                    </a:moveTo>
                    <a:lnTo>
                      <a:pt x="9" y="125"/>
                    </a:lnTo>
                    <a:cubicBezTo>
                      <a:pt x="9" y="104"/>
                      <a:pt x="15" y="84"/>
                      <a:pt x="25" y="67"/>
                    </a:cubicBezTo>
                    <a:cubicBezTo>
                      <a:pt x="35" y="49"/>
                      <a:pt x="50" y="35"/>
                      <a:pt x="67" y="25"/>
                    </a:cubicBezTo>
                    <a:cubicBezTo>
                      <a:pt x="85" y="15"/>
                      <a:pt x="105" y="9"/>
                      <a:pt x="125" y="9"/>
                    </a:cubicBezTo>
                    <a:lnTo>
                      <a:pt x="2932" y="9"/>
                    </a:lnTo>
                    <a:lnTo>
                      <a:pt x="2932" y="9"/>
                    </a:lnTo>
                    <a:cubicBezTo>
                      <a:pt x="2952" y="9"/>
                      <a:pt x="2972" y="15"/>
                      <a:pt x="2990" y="25"/>
                    </a:cubicBezTo>
                    <a:cubicBezTo>
                      <a:pt x="3007" y="35"/>
                      <a:pt x="3022" y="50"/>
                      <a:pt x="3032" y="67"/>
                    </a:cubicBezTo>
                    <a:cubicBezTo>
                      <a:pt x="3042" y="85"/>
                      <a:pt x="3047" y="105"/>
                      <a:pt x="3047" y="125"/>
                    </a:cubicBezTo>
                    <a:lnTo>
                      <a:pt x="3047" y="125"/>
                    </a:lnTo>
                    <a:lnTo>
                      <a:pt x="3048" y="355"/>
                    </a:lnTo>
                    <a:lnTo>
                      <a:pt x="3048" y="355"/>
                    </a:lnTo>
                    <a:cubicBezTo>
                      <a:pt x="3048" y="375"/>
                      <a:pt x="3043" y="395"/>
                      <a:pt x="3032" y="413"/>
                    </a:cubicBezTo>
                    <a:cubicBezTo>
                      <a:pt x="3022" y="430"/>
                      <a:pt x="3007" y="444"/>
                      <a:pt x="2990" y="454"/>
                    </a:cubicBezTo>
                    <a:cubicBezTo>
                      <a:pt x="2972" y="465"/>
                      <a:pt x="2952" y="470"/>
                      <a:pt x="2933" y="470"/>
                    </a:cubicBezTo>
                    <a:lnTo>
                      <a:pt x="125" y="470"/>
                    </a:lnTo>
                    <a:lnTo>
                      <a:pt x="125" y="470"/>
                    </a:lnTo>
                    <a:cubicBezTo>
                      <a:pt x="104" y="470"/>
                      <a:pt x="84" y="465"/>
                      <a:pt x="67" y="455"/>
                    </a:cubicBezTo>
                    <a:cubicBezTo>
                      <a:pt x="49" y="445"/>
                      <a:pt x="35" y="430"/>
                      <a:pt x="25" y="413"/>
                    </a:cubicBezTo>
                    <a:cubicBezTo>
                      <a:pt x="15" y="395"/>
                      <a:pt x="9" y="375"/>
                      <a:pt x="9" y="355"/>
                    </a:cubicBezTo>
                    <a:lnTo>
                      <a:pt x="9" y="125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" name="path 412"/>
              <p:cNvSpPr/>
              <p:nvPr/>
            </p:nvSpPr>
            <p:spPr>
              <a:xfrm>
                <a:off x="5595835" y="2249283"/>
                <a:ext cx="5702039" cy="1678679"/>
              </a:xfrm>
              <a:custGeom>
                <a:avLst/>
                <a:gdLst/>
                <a:ahLst/>
                <a:cxnLst/>
                <a:rect l="0" t="0" r="0" b="0"/>
                <a:pathLst>
                  <a:path w="8979" h="2643">
                    <a:moveTo>
                      <a:pt x="11" y="133"/>
                    </a:moveTo>
                    <a:lnTo>
                      <a:pt x="11" y="133"/>
                    </a:lnTo>
                    <a:cubicBezTo>
                      <a:pt x="11" y="111"/>
                      <a:pt x="17" y="90"/>
                      <a:pt x="28" y="72"/>
                    </a:cubicBezTo>
                    <a:cubicBezTo>
                      <a:pt x="38" y="53"/>
                      <a:pt x="54" y="38"/>
                      <a:pt x="72" y="27"/>
                    </a:cubicBezTo>
                    <a:cubicBezTo>
                      <a:pt x="91" y="16"/>
                      <a:pt x="112" y="11"/>
                      <a:pt x="134" y="11"/>
                    </a:cubicBezTo>
                    <a:lnTo>
                      <a:pt x="8846" y="11"/>
                    </a:lnTo>
                    <a:lnTo>
                      <a:pt x="8846" y="11"/>
                    </a:lnTo>
                    <a:cubicBezTo>
                      <a:pt x="8867" y="11"/>
                      <a:pt x="8888" y="17"/>
                      <a:pt x="8907" y="28"/>
                    </a:cubicBezTo>
                    <a:cubicBezTo>
                      <a:pt x="8926" y="38"/>
                      <a:pt x="8941" y="54"/>
                      <a:pt x="8952" y="72"/>
                    </a:cubicBezTo>
                    <a:cubicBezTo>
                      <a:pt x="8962" y="91"/>
                      <a:pt x="8968" y="112"/>
                      <a:pt x="8968" y="134"/>
                    </a:cubicBezTo>
                    <a:lnTo>
                      <a:pt x="8968" y="134"/>
                    </a:lnTo>
                    <a:lnTo>
                      <a:pt x="8968" y="2510"/>
                    </a:lnTo>
                    <a:lnTo>
                      <a:pt x="8968" y="2510"/>
                    </a:lnTo>
                    <a:cubicBezTo>
                      <a:pt x="8968" y="2531"/>
                      <a:pt x="8962" y="2552"/>
                      <a:pt x="8952" y="2571"/>
                    </a:cubicBezTo>
                    <a:cubicBezTo>
                      <a:pt x="8941" y="2590"/>
                      <a:pt x="8926" y="2605"/>
                      <a:pt x="8907" y="2616"/>
                    </a:cubicBezTo>
                    <a:cubicBezTo>
                      <a:pt x="8888" y="2626"/>
                      <a:pt x="8867" y="2632"/>
                      <a:pt x="8846" y="2632"/>
                    </a:cubicBezTo>
                    <a:lnTo>
                      <a:pt x="133" y="2632"/>
                    </a:lnTo>
                    <a:lnTo>
                      <a:pt x="133" y="2632"/>
                    </a:lnTo>
                    <a:cubicBezTo>
                      <a:pt x="111" y="2632"/>
                      <a:pt x="90" y="2626"/>
                      <a:pt x="72" y="2616"/>
                    </a:cubicBezTo>
                    <a:cubicBezTo>
                      <a:pt x="53" y="2605"/>
                      <a:pt x="38" y="2590"/>
                      <a:pt x="27" y="2571"/>
                    </a:cubicBezTo>
                    <a:cubicBezTo>
                      <a:pt x="16" y="2552"/>
                      <a:pt x="11" y="2531"/>
                      <a:pt x="11" y="2510"/>
                    </a:cubicBezTo>
                    <a:lnTo>
                      <a:pt x="11" y="133"/>
                    </a:lnTo>
                    <a:close/>
                  </a:path>
                </a:pathLst>
              </a:custGeom>
              <a:noFill/>
              <a:ln w="14039" cap="flat">
                <a:solidFill>
                  <a:srgbClr val="D5DCE8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" name="path 414"/>
              <p:cNvSpPr/>
              <p:nvPr/>
            </p:nvSpPr>
            <p:spPr>
              <a:xfrm>
                <a:off x="5785735" y="2439539"/>
                <a:ext cx="2587688" cy="292684"/>
              </a:xfrm>
              <a:custGeom>
                <a:avLst/>
                <a:gdLst/>
                <a:ahLst/>
                <a:cxnLst/>
                <a:rect l="0" t="0" r="0" b="0"/>
                <a:pathLst>
                  <a:path w="4075" h="460">
                    <a:moveTo>
                      <a:pt x="0" y="115"/>
                    </a:moveTo>
                    <a:lnTo>
                      <a:pt x="0" y="115"/>
                    </a:lnTo>
                    <a:cubicBezTo>
                      <a:pt x="0" y="94"/>
                      <a:pt x="5" y="74"/>
                      <a:pt x="15" y="57"/>
                    </a:cubicBezTo>
                    <a:cubicBezTo>
                      <a:pt x="25" y="39"/>
                      <a:pt x="40" y="25"/>
                      <a:pt x="57" y="15"/>
                    </a:cubicBezTo>
                    <a:cubicBezTo>
                      <a:pt x="75" y="5"/>
                      <a:pt x="95" y="0"/>
                      <a:pt x="115" y="0"/>
                    </a:cubicBezTo>
                    <a:lnTo>
                      <a:pt x="3959" y="0"/>
                    </a:lnTo>
                    <a:lnTo>
                      <a:pt x="3959" y="0"/>
                    </a:lnTo>
                    <a:cubicBezTo>
                      <a:pt x="3979" y="0"/>
                      <a:pt x="3999" y="5"/>
                      <a:pt x="4017" y="15"/>
                    </a:cubicBezTo>
                    <a:cubicBezTo>
                      <a:pt x="4034" y="25"/>
                      <a:pt x="4049" y="40"/>
                      <a:pt x="4059" y="57"/>
                    </a:cubicBezTo>
                    <a:cubicBezTo>
                      <a:pt x="4069" y="75"/>
                      <a:pt x="4074" y="95"/>
                      <a:pt x="4074" y="115"/>
                    </a:cubicBezTo>
                    <a:lnTo>
                      <a:pt x="4074" y="115"/>
                    </a:lnTo>
                    <a:lnTo>
                      <a:pt x="4075" y="345"/>
                    </a:lnTo>
                    <a:lnTo>
                      <a:pt x="4075" y="345"/>
                    </a:lnTo>
                    <a:cubicBezTo>
                      <a:pt x="4075" y="365"/>
                      <a:pt x="4070" y="385"/>
                      <a:pt x="4059" y="403"/>
                    </a:cubicBezTo>
                    <a:cubicBezTo>
                      <a:pt x="4049" y="420"/>
                      <a:pt x="4034" y="434"/>
                      <a:pt x="4017" y="445"/>
                    </a:cubicBezTo>
                    <a:cubicBezTo>
                      <a:pt x="3999" y="455"/>
                      <a:pt x="3979" y="460"/>
                      <a:pt x="3960" y="460"/>
                    </a:cubicBezTo>
                    <a:lnTo>
                      <a:pt x="115" y="460"/>
                    </a:lnTo>
                    <a:lnTo>
                      <a:pt x="115" y="460"/>
                    </a:lnTo>
                    <a:cubicBezTo>
                      <a:pt x="94" y="460"/>
                      <a:pt x="74" y="455"/>
                      <a:pt x="57" y="445"/>
                    </a:cubicBezTo>
                    <a:cubicBezTo>
                      <a:pt x="39" y="435"/>
                      <a:pt x="25" y="420"/>
                      <a:pt x="15" y="403"/>
                    </a:cubicBezTo>
                    <a:cubicBezTo>
                      <a:pt x="5" y="385"/>
                      <a:pt x="0" y="365"/>
                      <a:pt x="0" y="345"/>
                    </a:cubicBezTo>
                    <a:lnTo>
                      <a:pt x="0" y="115"/>
                    </a:lnTo>
                    <a:close/>
                  </a:path>
                </a:pathLst>
              </a:custGeom>
              <a:solidFill>
                <a:srgbClr val="218C9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" name="path 416"/>
              <p:cNvSpPr/>
              <p:nvPr/>
            </p:nvSpPr>
            <p:spPr>
              <a:xfrm>
                <a:off x="5779435" y="2433239"/>
                <a:ext cx="2600288" cy="305283"/>
              </a:xfrm>
              <a:custGeom>
                <a:avLst/>
                <a:gdLst/>
                <a:ahLst/>
                <a:cxnLst/>
                <a:rect l="0" t="0" r="0" b="0"/>
                <a:pathLst>
                  <a:path w="4094" h="480">
                    <a:moveTo>
                      <a:pt x="9" y="125"/>
                    </a:moveTo>
                    <a:lnTo>
                      <a:pt x="9" y="125"/>
                    </a:lnTo>
                    <a:cubicBezTo>
                      <a:pt x="9" y="104"/>
                      <a:pt x="15" y="84"/>
                      <a:pt x="25" y="67"/>
                    </a:cubicBezTo>
                    <a:cubicBezTo>
                      <a:pt x="35" y="49"/>
                      <a:pt x="50" y="35"/>
                      <a:pt x="67" y="25"/>
                    </a:cubicBezTo>
                    <a:cubicBezTo>
                      <a:pt x="85" y="15"/>
                      <a:pt x="105" y="9"/>
                      <a:pt x="125" y="9"/>
                    </a:cubicBezTo>
                    <a:lnTo>
                      <a:pt x="3969" y="9"/>
                    </a:lnTo>
                    <a:lnTo>
                      <a:pt x="3969" y="9"/>
                    </a:lnTo>
                    <a:cubicBezTo>
                      <a:pt x="3989" y="9"/>
                      <a:pt x="4009" y="15"/>
                      <a:pt x="4027" y="25"/>
                    </a:cubicBezTo>
                    <a:cubicBezTo>
                      <a:pt x="4044" y="35"/>
                      <a:pt x="4058" y="50"/>
                      <a:pt x="4069" y="67"/>
                    </a:cubicBezTo>
                    <a:cubicBezTo>
                      <a:pt x="4079" y="85"/>
                      <a:pt x="4084" y="105"/>
                      <a:pt x="4084" y="125"/>
                    </a:cubicBezTo>
                    <a:lnTo>
                      <a:pt x="4084" y="125"/>
                    </a:lnTo>
                    <a:lnTo>
                      <a:pt x="4085" y="355"/>
                    </a:lnTo>
                    <a:lnTo>
                      <a:pt x="4085" y="355"/>
                    </a:lnTo>
                    <a:cubicBezTo>
                      <a:pt x="4085" y="375"/>
                      <a:pt x="4079" y="395"/>
                      <a:pt x="4069" y="413"/>
                    </a:cubicBezTo>
                    <a:cubicBezTo>
                      <a:pt x="4059" y="430"/>
                      <a:pt x="4044" y="444"/>
                      <a:pt x="4027" y="454"/>
                    </a:cubicBezTo>
                    <a:cubicBezTo>
                      <a:pt x="4009" y="465"/>
                      <a:pt x="3989" y="470"/>
                      <a:pt x="3969" y="470"/>
                    </a:cubicBezTo>
                    <a:lnTo>
                      <a:pt x="125" y="470"/>
                    </a:lnTo>
                    <a:lnTo>
                      <a:pt x="125" y="470"/>
                    </a:lnTo>
                    <a:cubicBezTo>
                      <a:pt x="104" y="470"/>
                      <a:pt x="84" y="465"/>
                      <a:pt x="67" y="455"/>
                    </a:cubicBezTo>
                    <a:cubicBezTo>
                      <a:pt x="49" y="445"/>
                      <a:pt x="35" y="430"/>
                      <a:pt x="25" y="413"/>
                    </a:cubicBezTo>
                    <a:cubicBezTo>
                      <a:pt x="15" y="395"/>
                      <a:pt x="9" y="375"/>
                      <a:pt x="9" y="355"/>
                    </a:cubicBezTo>
                    <a:lnTo>
                      <a:pt x="9" y="125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18C9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8" name="textbox 418"/>
            <p:cNvSpPr/>
            <p:nvPr/>
          </p:nvSpPr>
          <p:spPr>
            <a:xfrm>
              <a:off x="360459" y="2504024"/>
              <a:ext cx="4573904" cy="1194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3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57809" algn="l" rtl="0" eaLnBrk="0">
                <a:lnSpc>
                  <a:spcPct val="92000"/>
                </a:lnSpc>
                <a:tabLst/>
              </a:pP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第 </a:t>
              </a: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 </a:t>
              </a: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层</a:t>
              </a:r>
              <a:r>
                <a:rPr sz="1000" b="1" kern="0" spc="2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1000" b="1" kern="0" spc="2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方向筛选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33144" algn="l" rtl="0" eaLnBrk="0">
                <a:lnSpc>
                  <a:spcPct val="94000"/>
                </a:lnSpc>
                <a:spcBef>
                  <a:spcPts val="454"/>
                </a:spcBef>
                <a:tabLst/>
              </a:pPr>
              <a:r>
                <a:rPr sz="1500" b="1" kern="0" spc="90" dirty="0">
                  <a:solidFill>
                    <a:srgbClr val="20285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代理模型仅预测首步边际效应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367"/>
                </a:spcBef>
                <a:tabLst/>
              </a:pPr>
              <a:r>
                <a:rPr sz="1200" kern="0" spc="3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保留潜在减涝方向</a:t>
              </a:r>
              <a:r>
                <a:rPr sz="1200" kern="0" spc="-19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3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，并限定候选干预幅度；并不以该预测</a:t>
              </a:r>
              <a:r>
                <a:rPr sz="1200" kern="0" spc="2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直接作最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975485" algn="l" rtl="0" eaLnBrk="0">
                <a:lnSpc>
                  <a:spcPct val="86000"/>
                </a:lnSpc>
                <a:spcBef>
                  <a:spcPts val="221"/>
                </a:spcBef>
                <a:tabLst/>
              </a:pPr>
              <a:r>
                <a:rPr sz="1200" kern="0" spc="1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终决策。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0" name="textbox 420"/>
            <p:cNvSpPr/>
            <p:nvPr/>
          </p:nvSpPr>
          <p:spPr>
            <a:xfrm>
              <a:off x="5993426" y="2504024"/>
              <a:ext cx="4730750" cy="1108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3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42265" algn="l" rtl="0" eaLnBrk="0">
                <a:lnSpc>
                  <a:spcPct val="92000"/>
                </a:lnSpc>
                <a:tabLst/>
              </a:pPr>
              <a:r>
                <a:rPr sz="1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第 </a:t>
              </a:r>
              <a:r>
                <a:rPr sz="1000" b="1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 </a:t>
              </a:r>
              <a:r>
                <a:rPr sz="1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层</a:t>
              </a:r>
              <a:r>
                <a:rPr sz="1000" b="1" kern="0" spc="2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b="1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0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工程可行性投影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44269" algn="l" rtl="0" eaLnBrk="0">
                <a:lnSpc>
                  <a:spcPct val="94000"/>
                </a:lnSpc>
                <a:spcBef>
                  <a:spcPts val="454"/>
                </a:spcBef>
                <a:tabLst/>
              </a:pPr>
              <a:r>
                <a:rPr sz="1500" b="1" kern="0" spc="90" dirty="0">
                  <a:solidFill>
                    <a:srgbClr val="20285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所有候选执行同一约束投影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spcBef>
                  <a:spcPts val="2"/>
                </a:spcBef>
                <a:tabLst/>
              </a:pPr>
              <a:r>
                <a:rPr sz="1100" kern="0" spc="6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设施权限</a:t>
              </a:r>
              <a:r>
                <a:rPr sz="1100" kern="0" spc="31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100" kern="0" spc="6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1100" kern="0" spc="1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100" kern="0" spc="6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物理上下界</a:t>
              </a:r>
              <a:r>
                <a:rPr sz="1100" kern="0" spc="32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100" kern="0" spc="6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  </a:t>
              </a:r>
              <a:r>
                <a:rPr sz="1100" kern="0" spc="6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单</a:t>
              </a:r>
              <a:r>
                <a:rPr sz="1100" kern="0" spc="5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步变化限幅</a:t>
              </a:r>
              <a:r>
                <a:rPr sz="1100" kern="0" spc="32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100" kern="0" spc="5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  </a:t>
              </a:r>
              <a:r>
                <a:rPr sz="1100" kern="0" spc="5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联动数量</a:t>
              </a:r>
              <a:r>
                <a:rPr sz="1100" kern="0" spc="32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100" kern="0" spc="5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  </a:t>
              </a:r>
              <a:r>
                <a:rPr sz="1100" kern="0" spc="5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训练动作支持域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2" name="textbox 422"/>
            <p:cNvSpPr/>
            <p:nvPr/>
          </p:nvSpPr>
          <p:spPr>
            <a:xfrm>
              <a:off x="7493571" y="415235"/>
              <a:ext cx="1336675" cy="8115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09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700" b="1" kern="0" spc="10" dirty="0">
                  <a:solidFill>
                    <a:srgbClr val="20285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规则经验候选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99694" algn="l" rtl="0" eaLnBrk="0">
                <a:lnSpc>
                  <a:spcPct val="88000"/>
                </a:lnSpc>
                <a:tabLst/>
              </a:pPr>
              <a:r>
                <a:rPr sz="1100" kern="0" spc="2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已有动态运行经验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4" name="textbox 424"/>
            <p:cNvSpPr/>
            <p:nvPr/>
          </p:nvSpPr>
          <p:spPr>
            <a:xfrm>
              <a:off x="5133837" y="418968"/>
              <a:ext cx="1336675" cy="808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9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10" dirty="0">
                  <a:solidFill>
                    <a:srgbClr val="20285C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水力机理候选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100" kern="0" spc="3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上下游压力与蓄满度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6" name="textbox 426"/>
            <p:cNvSpPr/>
            <p:nvPr/>
          </p:nvSpPr>
          <p:spPr>
            <a:xfrm>
              <a:off x="495182" y="441586"/>
              <a:ext cx="1177925" cy="7848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20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5250" algn="l" rtl="0" eaLnBrk="0">
                <a:lnSpc>
                  <a:spcPct val="75000"/>
                </a:lnSpc>
                <a:tabLst/>
              </a:pPr>
              <a:r>
                <a:rPr sz="1700" b="1" kern="0" spc="0" dirty="0">
                  <a:solidFill>
                    <a:srgbClr val="20285C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Probe</a:t>
              </a:r>
              <a:r>
                <a:rPr sz="1700" b="1" kern="0" spc="20" dirty="0">
                  <a:solidFill>
                    <a:srgbClr val="20285C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-0.5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2"/>
                </a:spcBef>
                <a:tabLst/>
              </a:pPr>
              <a:r>
                <a:rPr sz="1100" kern="0" spc="3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温和数据驱动扰动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8" name="textbox 428"/>
            <p:cNvSpPr/>
            <p:nvPr/>
          </p:nvSpPr>
          <p:spPr>
            <a:xfrm>
              <a:off x="2855482" y="441586"/>
              <a:ext cx="1177289" cy="7848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20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3980" algn="l" rtl="0" eaLnBrk="0">
                <a:lnSpc>
                  <a:spcPct val="75000"/>
                </a:lnSpc>
                <a:tabLst/>
              </a:pPr>
              <a:r>
                <a:rPr sz="1700" b="1" kern="0" spc="0" dirty="0">
                  <a:solidFill>
                    <a:srgbClr val="20285C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Probe</a:t>
              </a:r>
              <a:r>
                <a:rPr sz="1700" b="1" kern="0" spc="20" dirty="0">
                  <a:solidFill>
                    <a:srgbClr val="20285C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-1.0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2"/>
                </a:spcBef>
                <a:tabLst/>
              </a:pPr>
              <a:r>
                <a:rPr sz="1100" kern="0" spc="3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完整数据驱动扰动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30" name="textbox 430"/>
            <p:cNvSpPr/>
            <p:nvPr/>
          </p:nvSpPr>
          <p:spPr>
            <a:xfrm>
              <a:off x="9929683" y="449272"/>
              <a:ext cx="1180464" cy="7772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1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3370" algn="l" rtl="0" eaLnBrk="0">
                <a:lnSpc>
                  <a:spcPct val="75000"/>
                </a:lnSpc>
                <a:tabLst/>
              </a:pPr>
              <a:r>
                <a:rPr sz="1700" b="1" kern="0" spc="-10" dirty="0">
                  <a:solidFill>
                    <a:srgbClr val="20285C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HOLD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2"/>
                </a:spcBef>
                <a:tabLst/>
              </a:pPr>
              <a:r>
                <a:rPr sz="1100" kern="0" spc="3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保持当前设施目标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432" name="rect 432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4" name="textbox 434"/>
            <p:cNvSpPr/>
            <p:nvPr/>
          </p:nvSpPr>
          <p:spPr>
            <a:xfrm>
              <a:off x="276578" y="154105"/>
              <a:ext cx="5611495" cy="349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14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模块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2400" b="1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  <a:r>
                <a:rPr sz="2400" b="1" kern="0" spc="-5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多源控制知识压缩高维动作空间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36" name="picture 4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sp>
        <p:nvSpPr>
          <p:cNvPr id="438" name="rect 438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0" name="textbox 440"/>
          <p:cNvSpPr/>
          <p:nvPr/>
        </p:nvSpPr>
        <p:spPr>
          <a:xfrm>
            <a:off x="386900" y="967348"/>
            <a:ext cx="6933565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303529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3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方法创新②</a:t>
            </a:r>
            <a:r>
              <a:rPr sz="11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候选生成与候选评价分离</a:t>
            </a:r>
            <a:r>
              <a:rPr sz="1800" b="1" kern="0" spc="-17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 </a:t>
            </a:r>
            <a:r>
              <a:rPr sz="18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HOLD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作为显式竞争选项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3636004" y="5784844"/>
            <a:ext cx="4998084" cy="316865"/>
          </a:xfrm>
          <a:prstGeom prst="rect">
            <a:avLst/>
          </a:prstGeom>
          <a:solidFill>
            <a:srgbClr val="293D8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99210" algn="l" rtl="0" eaLnBrk="0">
              <a:lnSpc>
                <a:spcPct val="91000"/>
              </a:lnSpc>
              <a:spcBef>
                <a:spcPts val="4"/>
              </a:spcBef>
              <a:tabLst/>
            </a:pP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有限候选集合 → 统一</a:t>
            </a:r>
            <a:r>
              <a:rPr sz="11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长时域价值仲裁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52" name="picture 4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6" name="table 456"/>
          <p:cNvGraphicFramePr>
            <a:graphicFrameLocks noGrp="1"/>
          </p:cNvGraphicFramePr>
          <p:nvPr/>
        </p:nvGraphicFramePr>
        <p:xfrm>
          <a:off x="476824" y="1556096"/>
          <a:ext cx="6652260" cy="3488054"/>
        </p:xfrm>
        <a:graphic>
          <a:graphicData uri="http://schemas.openxmlformats.org/drawingml/2006/table">
            <a:tbl>
              <a:tblPr/>
              <a:tblGrid>
                <a:gridCol w="6652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88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2579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9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统一的候选价值定义</a:t>
                      </a:r>
                      <a:endParaRPr sz="1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5819" algn="l" rtl="0" eaLnBrk="0">
                        <a:lnSpc>
                          <a:spcPct val="89000"/>
                        </a:lnSpc>
                        <a:spcBef>
                          <a:spcPts val="423"/>
                        </a:spcBef>
                        <a:tabLst>
                          <a:tab pos="1009650" algn="l"/>
                        </a:tabLst>
                      </a:pPr>
                      <a:r>
                        <a:rPr sz="14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	ΔTFV &lt; 0</a:t>
                      </a:r>
                      <a:r>
                        <a:rPr sz="1400" b="1" kern="0" spc="20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：执</a:t>
                      </a:r>
                      <a:r>
                        <a:rPr sz="1400" b="1" kern="0" spc="-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行预测回报最优的候选动作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5819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>
                          <a:tab pos="1007744" algn="l"/>
                        </a:tabLst>
                      </a:pP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全部候选</a:t>
                      </a:r>
                      <a:r>
                        <a:rPr sz="1400" b="1" kern="0" spc="28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ΔTFV</a:t>
                      </a:r>
                      <a:r>
                        <a:rPr sz="1400" b="1" kern="0" spc="1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sz="1400" b="1" kern="0" spc="20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：保持原目标</a:t>
                      </a:r>
                      <a:r>
                        <a:rPr sz="14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4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HOLD </a:t>
                      </a:r>
                      <a:r>
                        <a:rPr sz="14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0" name="group 70"/>
          <p:cNvGrpSpPr/>
          <p:nvPr/>
        </p:nvGrpSpPr>
        <p:grpSpPr>
          <a:xfrm rot="21600000">
            <a:off x="1081975" y="4391824"/>
            <a:ext cx="241199" cy="241199"/>
            <a:chOff x="0" y="0"/>
            <a:chExt cx="241199" cy="241199"/>
          </a:xfrm>
        </p:grpSpPr>
        <p:sp>
          <p:nvSpPr>
            <p:cNvPr id="458" name="path 458"/>
            <p:cNvSpPr/>
            <p:nvPr/>
          </p:nvSpPr>
          <p:spPr>
            <a:xfrm>
              <a:off x="6299" y="6299"/>
              <a:ext cx="228600" cy="228600"/>
            </a:xfrm>
            <a:custGeom>
              <a:avLst/>
              <a:gdLst/>
              <a:ahLst/>
              <a:cxnLst/>
              <a:rect l="0" t="0" r="0" b="0"/>
              <a:pathLst>
                <a:path w="360" h="360">
                  <a:moveTo>
                    <a:pt x="0" y="179"/>
                  </a:moveTo>
                  <a:lnTo>
                    <a:pt x="0" y="179"/>
                  </a:lnTo>
                  <a:cubicBezTo>
                    <a:pt x="0" y="147"/>
                    <a:pt x="8" y="117"/>
                    <a:pt x="24" y="89"/>
                  </a:cubicBezTo>
                  <a:cubicBezTo>
                    <a:pt x="39" y="62"/>
                    <a:pt x="62" y="39"/>
                    <a:pt x="90" y="23"/>
                  </a:cubicBezTo>
                  <a:cubicBezTo>
                    <a:pt x="117" y="7"/>
                    <a:pt x="148" y="0"/>
                    <a:pt x="180" y="0"/>
                  </a:cubicBezTo>
                  <a:lnTo>
                    <a:pt x="180" y="0"/>
                  </a:lnTo>
                  <a:cubicBezTo>
                    <a:pt x="211" y="0"/>
                    <a:pt x="242" y="7"/>
                    <a:pt x="269" y="23"/>
                  </a:cubicBezTo>
                  <a:cubicBezTo>
                    <a:pt x="297" y="39"/>
                    <a:pt x="320" y="62"/>
                    <a:pt x="335" y="89"/>
                  </a:cubicBezTo>
                  <a:cubicBezTo>
                    <a:pt x="351" y="117"/>
                    <a:pt x="360" y="147"/>
                    <a:pt x="360" y="179"/>
                  </a:cubicBezTo>
                  <a:lnTo>
                    <a:pt x="360" y="179"/>
                  </a:lnTo>
                  <a:lnTo>
                    <a:pt x="360" y="179"/>
                  </a:lnTo>
                  <a:cubicBezTo>
                    <a:pt x="360" y="211"/>
                    <a:pt x="351" y="242"/>
                    <a:pt x="335" y="269"/>
                  </a:cubicBezTo>
                  <a:cubicBezTo>
                    <a:pt x="320" y="297"/>
                    <a:pt x="297" y="319"/>
                    <a:pt x="269" y="335"/>
                  </a:cubicBezTo>
                  <a:cubicBezTo>
                    <a:pt x="242" y="351"/>
                    <a:pt x="211" y="360"/>
                    <a:pt x="180" y="360"/>
                  </a:cubicBezTo>
                  <a:lnTo>
                    <a:pt x="180" y="360"/>
                  </a:lnTo>
                  <a:cubicBezTo>
                    <a:pt x="148" y="360"/>
                    <a:pt x="117" y="351"/>
                    <a:pt x="90" y="335"/>
                  </a:cubicBezTo>
                  <a:cubicBezTo>
                    <a:pt x="62" y="319"/>
                    <a:pt x="39" y="297"/>
                    <a:pt x="24" y="269"/>
                  </a:cubicBezTo>
                  <a:cubicBezTo>
                    <a:pt x="8" y="242"/>
                    <a:pt x="0" y="211"/>
                    <a:pt x="0" y="179"/>
                  </a:cubicBezTo>
                  <a:lnTo>
                    <a:pt x="0" y="179"/>
                  </a:lnTo>
                  <a:close/>
                </a:path>
              </a:pathLst>
            </a:custGeom>
            <a:solidFill>
              <a:srgbClr val="6978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0" name="path 460"/>
            <p:cNvSpPr/>
            <p:nvPr/>
          </p:nvSpPr>
          <p:spPr>
            <a:xfrm>
              <a:off x="0" y="0"/>
              <a:ext cx="241199" cy="241199"/>
            </a:xfrm>
            <a:custGeom>
              <a:avLst/>
              <a:gdLst/>
              <a:ahLst/>
              <a:cxnLst/>
              <a:rect l="0" t="0" r="0" b="0"/>
              <a:pathLst>
                <a:path w="379" h="379">
                  <a:moveTo>
                    <a:pt x="9" y="189"/>
                  </a:moveTo>
                  <a:lnTo>
                    <a:pt x="9" y="189"/>
                  </a:lnTo>
                  <a:cubicBezTo>
                    <a:pt x="9" y="157"/>
                    <a:pt x="18" y="127"/>
                    <a:pt x="34" y="99"/>
                  </a:cubicBezTo>
                  <a:cubicBezTo>
                    <a:pt x="49" y="72"/>
                    <a:pt x="72" y="49"/>
                    <a:pt x="100" y="33"/>
                  </a:cubicBezTo>
                  <a:cubicBezTo>
                    <a:pt x="127" y="17"/>
                    <a:pt x="158" y="9"/>
                    <a:pt x="190" y="9"/>
                  </a:cubicBezTo>
                  <a:lnTo>
                    <a:pt x="190" y="9"/>
                  </a:lnTo>
                  <a:cubicBezTo>
                    <a:pt x="221" y="9"/>
                    <a:pt x="252" y="17"/>
                    <a:pt x="279" y="33"/>
                  </a:cubicBezTo>
                  <a:cubicBezTo>
                    <a:pt x="307" y="49"/>
                    <a:pt x="330" y="72"/>
                    <a:pt x="345" y="99"/>
                  </a:cubicBezTo>
                  <a:cubicBezTo>
                    <a:pt x="361" y="127"/>
                    <a:pt x="369" y="157"/>
                    <a:pt x="369" y="189"/>
                  </a:cubicBezTo>
                  <a:lnTo>
                    <a:pt x="369" y="189"/>
                  </a:lnTo>
                  <a:lnTo>
                    <a:pt x="369" y="189"/>
                  </a:lnTo>
                  <a:cubicBezTo>
                    <a:pt x="369" y="221"/>
                    <a:pt x="361" y="252"/>
                    <a:pt x="345" y="279"/>
                  </a:cubicBezTo>
                  <a:cubicBezTo>
                    <a:pt x="330" y="306"/>
                    <a:pt x="307" y="329"/>
                    <a:pt x="279" y="345"/>
                  </a:cubicBezTo>
                  <a:cubicBezTo>
                    <a:pt x="252" y="361"/>
                    <a:pt x="221" y="369"/>
                    <a:pt x="190" y="369"/>
                  </a:cubicBezTo>
                  <a:lnTo>
                    <a:pt x="190" y="369"/>
                  </a:lnTo>
                  <a:cubicBezTo>
                    <a:pt x="158" y="369"/>
                    <a:pt x="127" y="361"/>
                    <a:pt x="100" y="345"/>
                  </a:cubicBezTo>
                  <a:cubicBezTo>
                    <a:pt x="72" y="329"/>
                    <a:pt x="49" y="306"/>
                    <a:pt x="34" y="279"/>
                  </a:cubicBezTo>
                  <a:cubicBezTo>
                    <a:pt x="18" y="252"/>
                    <a:pt x="9" y="221"/>
                    <a:pt x="9" y="189"/>
                  </a:cubicBezTo>
                </a:path>
              </a:pathLst>
            </a:custGeom>
            <a:noFill/>
            <a:ln w="12599" cap="flat">
              <a:solidFill>
                <a:srgbClr val="69789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72" name="group 72"/>
          <p:cNvGrpSpPr/>
          <p:nvPr/>
        </p:nvGrpSpPr>
        <p:grpSpPr>
          <a:xfrm rot="21600000">
            <a:off x="1081975" y="3916615"/>
            <a:ext cx="241199" cy="241199"/>
            <a:chOff x="0" y="0"/>
            <a:chExt cx="241199" cy="241199"/>
          </a:xfrm>
        </p:grpSpPr>
        <p:sp>
          <p:nvSpPr>
            <p:cNvPr id="462" name="path 462"/>
            <p:cNvSpPr/>
            <p:nvPr/>
          </p:nvSpPr>
          <p:spPr>
            <a:xfrm>
              <a:off x="6299" y="6299"/>
              <a:ext cx="228600" cy="228600"/>
            </a:xfrm>
            <a:custGeom>
              <a:avLst/>
              <a:gdLst/>
              <a:ahLst/>
              <a:cxnLst/>
              <a:rect l="0" t="0" r="0" b="0"/>
              <a:pathLst>
                <a:path w="360" h="360">
                  <a:moveTo>
                    <a:pt x="0" y="179"/>
                  </a:moveTo>
                  <a:lnTo>
                    <a:pt x="0" y="179"/>
                  </a:lnTo>
                  <a:cubicBezTo>
                    <a:pt x="0" y="147"/>
                    <a:pt x="8" y="117"/>
                    <a:pt x="24" y="89"/>
                  </a:cubicBezTo>
                  <a:cubicBezTo>
                    <a:pt x="39" y="62"/>
                    <a:pt x="62" y="39"/>
                    <a:pt x="90" y="23"/>
                  </a:cubicBezTo>
                  <a:cubicBezTo>
                    <a:pt x="117" y="7"/>
                    <a:pt x="148" y="0"/>
                    <a:pt x="180" y="0"/>
                  </a:cubicBezTo>
                  <a:lnTo>
                    <a:pt x="180" y="0"/>
                  </a:lnTo>
                  <a:cubicBezTo>
                    <a:pt x="211" y="0"/>
                    <a:pt x="242" y="7"/>
                    <a:pt x="269" y="23"/>
                  </a:cubicBezTo>
                  <a:cubicBezTo>
                    <a:pt x="297" y="39"/>
                    <a:pt x="320" y="62"/>
                    <a:pt x="335" y="89"/>
                  </a:cubicBezTo>
                  <a:cubicBezTo>
                    <a:pt x="351" y="117"/>
                    <a:pt x="360" y="147"/>
                    <a:pt x="360" y="179"/>
                  </a:cubicBezTo>
                  <a:lnTo>
                    <a:pt x="360" y="179"/>
                  </a:lnTo>
                  <a:lnTo>
                    <a:pt x="360" y="179"/>
                  </a:lnTo>
                  <a:cubicBezTo>
                    <a:pt x="360" y="211"/>
                    <a:pt x="351" y="242"/>
                    <a:pt x="335" y="269"/>
                  </a:cubicBezTo>
                  <a:cubicBezTo>
                    <a:pt x="320" y="297"/>
                    <a:pt x="297" y="319"/>
                    <a:pt x="269" y="335"/>
                  </a:cubicBezTo>
                  <a:cubicBezTo>
                    <a:pt x="242" y="351"/>
                    <a:pt x="211" y="360"/>
                    <a:pt x="180" y="360"/>
                  </a:cubicBezTo>
                  <a:lnTo>
                    <a:pt x="180" y="360"/>
                  </a:lnTo>
                  <a:cubicBezTo>
                    <a:pt x="148" y="360"/>
                    <a:pt x="117" y="351"/>
                    <a:pt x="90" y="335"/>
                  </a:cubicBezTo>
                  <a:cubicBezTo>
                    <a:pt x="62" y="319"/>
                    <a:pt x="39" y="297"/>
                    <a:pt x="24" y="269"/>
                  </a:cubicBezTo>
                  <a:cubicBezTo>
                    <a:pt x="8" y="242"/>
                    <a:pt x="0" y="211"/>
                    <a:pt x="0" y="179"/>
                  </a:cubicBezTo>
                  <a:lnTo>
                    <a:pt x="0" y="179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4" name="path 464"/>
            <p:cNvSpPr/>
            <p:nvPr/>
          </p:nvSpPr>
          <p:spPr>
            <a:xfrm>
              <a:off x="0" y="0"/>
              <a:ext cx="241199" cy="241199"/>
            </a:xfrm>
            <a:custGeom>
              <a:avLst/>
              <a:gdLst/>
              <a:ahLst/>
              <a:cxnLst/>
              <a:rect l="0" t="0" r="0" b="0"/>
              <a:pathLst>
                <a:path w="379" h="379">
                  <a:moveTo>
                    <a:pt x="9" y="189"/>
                  </a:moveTo>
                  <a:lnTo>
                    <a:pt x="9" y="189"/>
                  </a:lnTo>
                  <a:cubicBezTo>
                    <a:pt x="9" y="157"/>
                    <a:pt x="18" y="127"/>
                    <a:pt x="34" y="99"/>
                  </a:cubicBezTo>
                  <a:cubicBezTo>
                    <a:pt x="49" y="72"/>
                    <a:pt x="72" y="49"/>
                    <a:pt x="100" y="33"/>
                  </a:cubicBezTo>
                  <a:cubicBezTo>
                    <a:pt x="127" y="17"/>
                    <a:pt x="158" y="9"/>
                    <a:pt x="190" y="9"/>
                  </a:cubicBezTo>
                  <a:lnTo>
                    <a:pt x="190" y="9"/>
                  </a:lnTo>
                  <a:cubicBezTo>
                    <a:pt x="221" y="9"/>
                    <a:pt x="252" y="17"/>
                    <a:pt x="279" y="33"/>
                  </a:cubicBezTo>
                  <a:cubicBezTo>
                    <a:pt x="307" y="49"/>
                    <a:pt x="330" y="72"/>
                    <a:pt x="345" y="99"/>
                  </a:cubicBezTo>
                  <a:cubicBezTo>
                    <a:pt x="361" y="127"/>
                    <a:pt x="369" y="157"/>
                    <a:pt x="369" y="189"/>
                  </a:cubicBezTo>
                  <a:lnTo>
                    <a:pt x="369" y="189"/>
                  </a:lnTo>
                  <a:lnTo>
                    <a:pt x="369" y="189"/>
                  </a:lnTo>
                  <a:cubicBezTo>
                    <a:pt x="369" y="221"/>
                    <a:pt x="361" y="252"/>
                    <a:pt x="345" y="279"/>
                  </a:cubicBezTo>
                  <a:cubicBezTo>
                    <a:pt x="330" y="307"/>
                    <a:pt x="307" y="329"/>
                    <a:pt x="279" y="345"/>
                  </a:cubicBezTo>
                  <a:cubicBezTo>
                    <a:pt x="252" y="361"/>
                    <a:pt x="221" y="369"/>
                    <a:pt x="190" y="369"/>
                  </a:cubicBezTo>
                  <a:lnTo>
                    <a:pt x="190" y="369"/>
                  </a:lnTo>
                  <a:cubicBezTo>
                    <a:pt x="158" y="369"/>
                    <a:pt x="127" y="361"/>
                    <a:pt x="100" y="345"/>
                  </a:cubicBezTo>
                  <a:cubicBezTo>
                    <a:pt x="72" y="329"/>
                    <a:pt x="49" y="307"/>
                    <a:pt x="34" y="279"/>
                  </a:cubicBezTo>
                  <a:cubicBezTo>
                    <a:pt x="18" y="252"/>
                    <a:pt x="9" y="221"/>
                    <a:pt x="9" y="189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66" name="table 466"/>
          <p:cNvGraphicFramePr>
            <a:graphicFrameLocks noGrp="1"/>
          </p:cNvGraphicFramePr>
          <p:nvPr/>
        </p:nvGraphicFramePr>
        <p:xfrm>
          <a:off x="7380900" y="1556096"/>
          <a:ext cx="4320540" cy="3488054"/>
        </p:xfrm>
        <a:graphic>
          <a:graphicData uri="http://schemas.openxmlformats.org/drawingml/2006/table">
            <a:tbl>
              <a:tblPr/>
              <a:tblGrid>
                <a:gridCol w="432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88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2825"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9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离线学习与在线执行</a:t>
                      </a:r>
                      <a:endParaRPr sz="1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8" name="table 468"/>
          <p:cNvGraphicFramePr>
            <a:graphicFrameLocks noGrp="1"/>
          </p:cNvGraphicFramePr>
          <p:nvPr/>
        </p:nvGraphicFramePr>
        <p:xfrm>
          <a:off x="487260" y="5269496"/>
          <a:ext cx="11186794" cy="709930"/>
        </p:xfrm>
        <a:graphic>
          <a:graphicData uri="http://schemas.openxmlformats.org/drawingml/2006/table">
            <a:tbl>
              <a:tblPr>
                <a:solidFill>
                  <a:srgbClr val="EDF3F9"/>
                </a:solidFill>
              </a:tblPr>
              <a:tblGrid>
                <a:gridCol w="11186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99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2539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真正的创新不是固定混合多个控制算法，而是不同知识在每个运行</a:t>
                      </a:r>
                      <a:r>
                        <a:rPr sz="17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状态下竞争“执行权”。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CAD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AD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AD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AD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0" name="table 470"/>
          <p:cNvGraphicFramePr>
            <a:graphicFrameLocks noGrp="1"/>
          </p:cNvGraphicFramePr>
          <p:nvPr/>
        </p:nvGraphicFramePr>
        <p:xfrm>
          <a:off x="7708315" y="2399588"/>
          <a:ext cx="3575049" cy="2012314"/>
        </p:xfrm>
        <a:graphic>
          <a:graphicData uri="http://schemas.openxmlformats.org/drawingml/2006/table">
            <a:tbl>
              <a:tblPr/>
              <a:tblGrid>
                <a:gridCol w="1983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3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51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3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离线自由控制时域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8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803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400" b="1" kern="0" spc="10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120</a:t>
                      </a:r>
                      <a:r>
                        <a:rPr sz="1400" b="1" kern="0" spc="15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kern="0" spc="10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51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3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离线水力延续评估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4219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400" b="1" kern="0" spc="10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360</a:t>
                      </a:r>
                      <a:r>
                        <a:rPr sz="1400" b="1" kern="0" spc="18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kern="0" spc="10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3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在线观测刷新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389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400" b="1" kern="0" spc="19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</a:t>
                      </a:r>
                      <a:r>
                        <a:rPr sz="1400" b="1" kern="0" spc="33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19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sz="1400" b="1" kern="0" spc="14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3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在线滚动决策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9119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400" b="1" kern="0" spc="16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</a:t>
                      </a:r>
                      <a:r>
                        <a:rPr sz="1400" b="1" kern="0" spc="35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16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400" b="1" kern="0" spc="14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4" name="group 74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472" name="rect 472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4" name="textbox 474"/>
            <p:cNvSpPr/>
            <p:nvPr/>
          </p:nvSpPr>
          <p:spPr>
            <a:xfrm>
              <a:off x="276578" y="148818"/>
              <a:ext cx="6049645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模块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  <a:r>
                <a:rPr sz="2400" b="1" kern="0" spc="37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  <a:r>
                <a:rPr sz="2400" b="1" kern="0" spc="-5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HOLD </a:t>
              </a:r>
              <a:r>
                <a:rPr sz="2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为基准的长时域价</a:t>
              </a:r>
              <a:r>
                <a:rPr sz="2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值仲裁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476" name="picture 4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478" name="table 478"/>
          <p:cNvGraphicFramePr>
            <a:graphicFrameLocks noGrp="1"/>
          </p:cNvGraphicFramePr>
          <p:nvPr/>
        </p:nvGraphicFramePr>
        <p:xfrm>
          <a:off x="889024" y="2461856"/>
          <a:ext cx="5800725" cy="1090929"/>
        </p:xfrm>
        <a:graphic>
          <a:graphicData uri="http://schemas.openxmlformats.org/drawingml/2006/table">
            <a:tbl>
              <a:tblPr>
                <a:solidFill>
                  <a:srgbClr val="EDF3F9"/>
                </a:solidFill>
              </a:tblPr>
              <a:tblGrid>
                <a:gridCol w="58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09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0375" algn="l" rtl="0" eaLnBrk="0">
                        <a:lnSpc>
                          <a:spcPts val="2799"/>
                        </a:lnSpc>
                        <a:tabLst/>
                      </a:pPr>
                      <a:r>
                        <a:rPr sz="19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ΔTFV(a  |</a:t>
                      </a:r>
                      <a:r>
                        <a:rPr sz="1900" b="1" kern="0" spc="1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sₜ)</a:t>
                      </a:r>
                      <a:r>
                        <a:rPr sz="1900" b="1" kern="0" spc="1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 TFV( </a:t>
                      </a:r>
                      <a:r>
                        <a:rPr sz="19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先执行  </a:t>
                      </a:r>
                      <a:r>
                        <a:rPr sz="19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a)</a:t>
                      </a:r>
                      <a:r>
                        <a:rPr sz="1900" b="1" kern="0" spc="2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 </a:t>
                      </a:r>
                      <a:r>
                        <a:rPr sz="1900" b="1" kern="0" spc="-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TFV(HOLD)</a:t>
                      </a:r>
                      <a:endParaRPr sz="1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B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B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B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B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0" name="rect 480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2" name="textbox 482"/>
          <p:cNvSpPr/>
          <p:nvPr/>
        </p:nvSpPr>
        <p:spPr>
          <a:xfrm>
            <a:off x="386900" y="967348"/>
            <a:ext cx="8730615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303529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方法创新③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比较每个候选动作是否真正改善后续全网累计积水，</a:t>
            </a:r>
            <a:r>
              <a:rPr sz="1800" b="1" kern="0" spc="-40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而非局部短期水位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92" name="picture 4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6" name="table 496"/>
          <p:cNvGraphicFramePr>
            <a:graphicFrameLocks noGrp="1"/>
          </p:cNvGraphicFramePr>
          <p:nvPr/>
        </p:nvGraphicFramePr>
        <p:xfrm>
          <a:off x="404104" y="1464300"/>
          <a:ext cx="6524625" cy="4457700"/>
        </p:xfrm>
        <a:graphic>
          <a:graphicData uri="http://schemas.openxmlformats.org/drawingml/2006/table">
            <a:tbl>
              <a:tblPr/>
              <a:tblGrid>
                <a:gridCol w="618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7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147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8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未监测节点水深重建：六组</a:t>
                      </a:r>
                      <a:r>
                        <a:rPr sz="18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雨型的 </a:t>
                      </a:r>
                      <a:r>
                        <a:rPr sz="18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" name="table 498"/>
          <p:cNvGraphicFramePr>
            <a:graphicFrameLocks noGrp="1"/>
          </p:cNvGraphicFramePr>
          <p:nvPr/>
        </p:nvGraphicFramePr>
        <p:xfrm>
          <a:off x="7142940" y="1464300"/>
          <a:ext cx="4640579" cy="4457699"/>
        </p:xfrm>
        <a:graphic>
          <a:graphicData uri="http://schemas.openxmlformats.org/drawingml/2006/table">
            <a:tbl>
              <a:tblPr/>
              <a:tblGrid>
                <a:gridCol w="4640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1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6704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闭环控制计算开销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1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6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885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400" b="1" kern="0" spc="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0.479 s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8854" algn="l" rtl="0" eaLnBrk="0">
                        <a:lnSpc>
                          <a:spcPct val="74000"/>
                        </a:lnSpc>
                        <a:spcBef>
                          <a:spcPts val="425"/>
                        </a:spcBef>
                        <a:tabLst/>
                      </a:pPr>
                      <a:r>
                        <a:rPr sz="1400" b="1" kern="0" spc="1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0.951 s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3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1.748 s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8" name="group 78"/>
          <p:cNvGrpSpPr/>
          <p:nvPr/>
        </p:nvGrpSpPr>
        <p:grpSpPr>
          <a:xfrm rot="21600000">
            <a:off x="1604572" y="2299499"/>
            <a:ext cx="4703350" cy="3274989"/>
            <a:chOff x="0" y="0"/>
            <a:chExt cx="4703350" cy="3274989"/>
          </a:xfrm>
        </p:grpSpPr>
        <p:sp>
          <p:nvSpPr>
            <p:cNvPr id="500" name="textbox 500"/>
            <p:cNvSpPr/>
            <p:nvPr/>
          </p:nvSpPr>
          <p:spPr>
            <a:xfrm>
              <a:off x="-12700" y="-4706"/>
              <a:ext cx="4728845" cy="26854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tabLst/>
              </a:pP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年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·180</a:t>
              </a:r>
              <a:r>
                <a:rPr sz="1100" kern="0" spc="9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min</a:t>
              </a:r>
              <a:r>
                <a:rPr sz="1100" kern="0" spc="1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</a:t>
              </a:r>
              <a:r>
                <a:rPr sz="1100" b="1" kern="0" spc="4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</a:t>
              </a:r>
              <a:r>
                <a:rPr sz="1100" b="1" kern="0" spc="3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17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spcBef>
                  <a:spcPts val="340"/>
                </a:spcBef>
                <a:tabLst/>
              </a:pP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年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·300</a:t>
              </a:r>
              <a:r>
                <a:rPr sz="1100" kern="0" spc="9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min</a:t>
              </a:r>
              <a:r>
                <a:rPr sz="1100" kern="0" spc="1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</a:t>
              </a:r>
              <a:r>
                <a:rPr sz="1100" b="1" kern="0" spc="4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1100" b="1" kern="0" spc="3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.939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spcBef>
                  <a:spcPts val="340"/>
                </a:spcBef>
                <a:tabLst/>
              </a:pP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年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·60</a:t>
              </a:r>
              <a:r>
                <a:rPr sz="1100" kern="0" spc="9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min</a:t>
              </a:r>
              <a:r>
                <a:rPr sz="1100" kern="0" spc="1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</a:t>
              </a:r>
              <a:r>
                <a:rPr sz="1100" b="1" kern="0" spc="4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0.896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spcBef>
                  <a:spcPts val="340"/>
                </a:spcBef>
                <a:tabLst/>
              </a:pP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50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年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·240</a:t>
              </a:r>
              <a:r>
                <a:rPr sz="1100" kern="0" spc="9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min</a:t>
              </a:r>
              <a:r>
                <a:rPr sz="1100" kern="0" spc="1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</a:t>
              </a:r>
              <a:r>
                <a:rPr sz="1100" b="1" kern="0" spc="4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0.93</a:t>
              </a:r>
              <a:r>
                <a:rPr sz="1100" b="1" kern="0" spc="3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spcBef>
                  <a:spcPts val="340"/>
                </a:spcBef>
                <a:tabLst/>
              </a:pP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50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年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·360</a:t>
              </a:r>
              <a:r>
                <a:rPr sz="1100" kern="0" spc="9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min</a:t>
              </a:r>
              <a:r>
                <a:rPr sz="1100" kern="0" spc="1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</a:t>
              </a:r>
              <a:r>
                <a:rPr sz="1100" b="1" kern="0" spc="4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0.94</a:t>
              </a:r>
              <a:r>
                <a:rPr sz="1100" b="1" kern="0" spc="3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1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100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年 </a:t>
              </a:r>
              <a:r>
                <a:rPr sz="11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·120</a:t>
              </a:r>
              <a:r>
                <a:rPr sz="1100" kern="0" spc="8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min</a:t>
              </a:r>
              <a:r>
                <a:rPr sz="1100" kern="0" spc="1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</a:t>
              </a:r>
              <a:r>
                <a:rPr sz="11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</a:t>
              </a:r>
              <a:r>
                <a:rPr sz="1100" b="1" kern="0" spc="4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</a:t>
              </a:r>
              <a:r>
                <a:rPr sz="1100" b="1" kern="0" spc="30" dirty="0">
                  <a:solidFill>
                    <a:srgbClr val="2635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916</a:t>
              </a:r>
              <a:endParaRPr sz="1100" dirty="0"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80" name="group 80"/>
            <p:cNvGrpSpPr/>
            <p:nvPr/>
          </p:nvGrpSpPr>
          <p:grpSpPr>
            <a:xfrm rot="21600000">
              <a:off x="1205047" y="0"/>
              <a:ext cx="3002395" cy="2655355"/>
              <a:chOff x="0" y="0"/>
              <a:chExt cx="3002395" cy="2655355"/>
            </a:xfrm>
          </p:grpSpPr>
          <p:sp>
            <p:nvSpPr>
              <p:cNvPr id="502" name="path 502"/>
              <p:cNvSpPr/>
              <p:nvPr/>
            </p:nvSpPr>
            <p:spPr>
              <a:xfrm>
                <a:off x="6299" y="18543"/>
                <a:ext cx="2989795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4708" h="157">
                    <a:moveTo>
                      <a:pt x="2354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4708" y="0"/>
                    </a:lnTo>
                    <a:lnTo>
                      <a:pt x="4708" y="157"/>
                    </a:lnTo>
                    <a:lnTo>
                      <a:pt x="2354" y="157"/>
                    </a:lnTo>
                    <a:close/>
                  </a:path>
                </a:pathLst>
              </a:custGeom>
              <a:solidFill>
                <a:srgbClr val="E9EFF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4" name="path 504"/>
              <p:cNvSpPr/>
              <p:nvPr/>
            </p:nvSpPr>
            <p:spPr>
              <a:xfrm>
                <a:off x="0" y="12243"/>
                <a:ext cx="3002395" cy="112676"/>
              </a:xfrm>
              <a:custGeom>
                <a:avLst/>
                <a:gdLst/>
                <a:ahLst/>
                <a:cxnLst/>
                <a:rect l="0" t="0" r="0" b="0"/>
                <a:pathLst>
                  <a:path w="4728" h="177">
                    <a:moveTo>
                      <a:pt x="2364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4718" y="9"/>
                    </a:lnTo>
                    <a:lnTo>
                      <a:pt x="4718" y="167"/>
                    </a:lnTo>
                    <a:lnTo>
                      <a:pt x="2364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E9EFF5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6" name="path 506"/>
              <p:cNvSpPr/>
              <p:nvPr/>
            </p:nvSpPr>
            <p:spPr>
              <a:xfrm>
                <a:off x="6299" y="18543"/>
                <a:ext cx="1996922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3144" h="157">
                    <a:moveTo>
                      <a:pt x="1572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3144" y="0"/>
                    </a:lnTo>
                    <a:lnTo>
                      <a:pt x="3144" y="157"/>
                    </a:lnTo>
                    <a:lnTo>
                      <a:pt x="1572" y="157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path 508"/>
              <p:cNvSpPr/>
              <p:nvPr/>
            </p:nvSpPr>
            <p:spPr>
              <a:xfrm>
                <a:off x="0" y="12243"/>
                <a:ext cx="2009522" cy="112676"/>
              </a:xfrm>
              <a:custGeom>
                <a:avLst/>
                <a:gdLst/>
                <a:ahLst/>
                <a:cxnLst/>
                <a:rect l="0" t="0" r="0" b="0"/>
                <a:pathLst>
                  <a:path w="3164" h="177">
                    <a:moveTo>
                      <a:pt x="1582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3154" y="9"/>
                    </a:lnTo>
                    <a:lnTo>
                      <a:pt x="3154" y="167"/>
                    </a:lnTo>
                    <a:lnTo>
                      <a:pt x="1582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path 510"/>
              <p:cNvSpPr/>
              <p:nvPr/>
            </p:nvSpPr>
            <p:spPr>
              <a:xfrm>
                <a:off x="1943456" y="6300"/>
                <a:ext cx="128168" cy="128156"/>
              </a:xfrm>
              <a:custGeom>
                <a:avLst/>
                <a:gdLst/>
                <a:ahLst/>
                <a:cxnLst/>
                <a:rect l="0" t="0" r="0" b="0"/>
                <a:pathLst>
                  <a:path w="201" h="201">
                    <a:moveTo>
                      <a:pt x="0" y="100"/>
                    </a:moveTo>
                    <a:lnTo>
                      <a:pt x="0" y="100"/>
                    </a:lnTo>
                    <a:cubicBezTo>
                      <a:pt x="0" y="83"/>
                      <a:pt x="4" y="65"/>
                      <a:pt x="13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3" y="0"/>
                      <a:pt x="100" y="0"/>
                    </a:cubicBezTo>
                    <a:lnTo>
                      <a:pt x="100" y="0"/>
                    </a:lnTo>
                    <a:cubicBezTo>
                      <a:pt x="118" y="0"/>
                      <a:pt x="136" y="4"/>
                      <a:pt x="151" y="13"/>
                    </a:cubicBezTo>
                    <a:cubicBezTo>
                      <a:pt x="166" y="22"/>
                      <a:pt x="179" y="35"/>
                      <a:pt x="188" y="50"/>
                    </a:cubicBezTo>
                    <a:cubicBezTo>
                      <a:pt x="197" y="65"/>
                      <a:pt x="201" y="83"/>
                      <a:pt x="201" y="100"/>
                    </a:cubicBezTo>
                    <a:lnTo>
                      <a:pt x="201" y="100"/>
                    </a:lnTo>
                    <a:lnTo>
                      <a:pt x="201" y="100"/>
                    </a:lnTo>
                    <a:cubicBezTo>
                      <a:pt x="201" y="118"/>
                      <a:pt x="197" y="136"/>
                      <a:pt x="188" y="151"/>
                    </a:cubicBezTo>
                    <a:cubicBezTo>
                      <a:pt x="179" y="166"/>
                      <a:pt x="166" y="179"/>
                      <a:pt x="151" y="188"/>
                    </a:cubicBezTo>
                    <a:cubicBezTo>
                      <a:pt x="136" y="197"/>
                      <a:pt x="118" y="201"/>
                      <a:pt x="100" y="201"/>
                    </a:cubicBezTo>
                    <a:lnTo>
                      <a:pt x="100" y="201"/>
                    </a:lnTo>
                    <a:cubicBezTo>
                      <a:pt x="83" y="201"/>
                      <a:pt x="65" y="197"/>
                      <a:pt x="50" y="188"/>
                    </a:cubicBezTo>
                    <a:cubicBezTo>
                      <a:pt x="35" y="179"/>
                      <a:pt x="22" y="166"/>
                      <a:pt x="13" y="151"/>
                    </a:cubicBezTo>
                    <a:cubicBezTo>
                      <a:pt x="4" y="136"/>
                      <a:pt x="0" y="118"/>
                      <a:pt x="0" y="100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2" name="path 512"/>
              <p:cNvSpPr/>
              <p:nvPr/>
            </p:nvSpPr>
            <p:spPr>
              <a:xfrm>
                <a:off x="1937156" y="0"/>
                <a:ext cx="140768" cy="140756"/>
              </a:xfrm>
              <a:custGeom>
                <a:avLst/>
                <a:gdLst/>
                <a:ahLst/>
                <a:cxnLst/>
                <a:rect l="0" t="0" r="0" b="0"/>
                <a:pathLst>
                  <a:path w="221" h="221">
                    <a:moveTo>
                      <a:pt x="9" y="110"/>
                    </a:moveTo>
                    <a:lnTo>
                      <a:pt x="9" y="110"/>
                    </a:lnTo>
                    <a:cubicBezTo>
                      <a:pt x="9" y="93"/>
                      <a:pt x="14" y="75"/>
                      <a:pt x="23" y="60"/>
                    </a:cubicBezTo>
                    <a:cubicBezTo>
                      <a:pt x="32" y="45"/>
                      <a:pt x="45" y="32"/>
                      <a:pt x="60" y="23"/>
                    </a:cubicBezTo>
                    <a:cubicBezTo>
                      <a:pt x="75" y="14"/>
                      <a:pt x="93" y="9"/>
                      <a:pt x="110" y="9"/>
                    </a:cubicBezTo>
                    <a:lnTo>
                      <a:pt x="110" y="9"/>
                    </a:lnTo>
                    <a:cubicBezTo>
                      <a:pt x="128" y="9"/>
                      <a:pt x="145" y="14"/>
                      <a:pt x="161" y="23"/>
                    </a:cubicBezTo>
                    <a:cubicBezTo>
                      <a:pt x="176" y="32"/>
                      <a:pt x="189" y="45"/>
                      <a:pt x="198" y="60"/>
                    </a:cubicBezTo>
                    <a:cubicBezTo>
                      <a:pt x="207" y="75"/>
                      <a:pt x="211" y="93"/>
                      <a:pt x="211" y="110"/>
                    </a:cubicBezTo>
                    <a:lnTo>
                      <a:pt x="211" y="110"/>
                    </a:lnTo>
                    <a:lnTo>
                      <a:pt x="211" y="110"/>
                    </a:lnTo>
                    <a:cubicBezTo>
                      <a:pt x="211" y="128"/>
                      <a:pt x="207" y="145"/>
                      <a:pt x="198" y="161"/>
                    </a:cubicBezTo>
                    <a:cubicBezTo>
                      <a:pt x="189" y="176"/>
                      <a:pt x="176" y="189"/>
                      <a:pt x="161" y="198"/>
                    </a:cubicBezTo>
                    <a:cubicBezTo>
                      <a:pt x="145" y="207"/>
                      <a:pt x="128" y="211"/>
                      <a:pt x="110" y="211"/>
                    </a:cubicBezTo>
                    <a:lnTo>
                      <a:pt x="110" y="211"/>
                    </a:lnTo>
                    <a:cubicBezTo>
                      <a:pt x="93" y="211"/>
                      <a:pt x="75" y="207"/>
                      <a:pt x="60" y="198"/>
                    </a:cubicBezTo>
                    <a:cubicBezTo>
                      <a:pt x="45" y="189"/>
                      <a:pt x="32" y="176"/>
                      <a:pt x="23" y="161"/>
                    </a:cubicBezTo>
                    <a:cubicBezTo>
                      <a:pt x="14" y="145"/>
                      <a:pt x="9" y="128"/>
                      <a:pt x="9" y="110"/>
                    </a:cubicBezTo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4" name="path 514"/>
              <p:cNvSpPr/>
              <p:nvPr/>
            </p:nvSpPr>
            <p:spPr>
              <a:xfrm>
                <a:off x="6299" y="521463"/>
                <a:ext cx="2989795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4708" h="157">
                    <a:moveTo>
                      <a:pt x="2354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4708" y="0"/>
                    </a:lnTo>
                    <a:lnTo>
                      <a:pt x="4708" y="157"/>
                    </a:lnTo>
                    <a:lnTo>
                      <a:pt x="2354" y="157"/>
                    </a:lnTo>
                    <a:close/>
                  </a:path>
                </a:pathLst>
              </a:custGeom>
              <a:solidFill>
                <a:srgbClr val="E9EFF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6" name="path 516"/>
              <p:cNvSpPr/>
              <p:nvPr/>
            </p:nvSpPr>
            <p:spPr>
              <a:xfrm>
                <a:off x="0" y="515163"/>
                <a:ext cx="3002395" cy="112676"/>
              </a:xfrm>
              <a:custGeom>
                <a:avLst/>
                <a:gdLst/>
                <a:ahLst/>
                <a:cxnLst/>
                <a:rect l="0" t="0" r="0" b="0"/>
                <a:pathLst>
                  <a:path w="4728" h="177">
                    <a:moveTo>
                      <a:pt x="2364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4718" y="9"/>
                    </a:lnTo>
                    <a:lnTo>
                      <a:pt x="4718" y="167"/>
                    </a:lnTo>
                    <a:lnTo>
                      <a:pt x="2364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E9EFF5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path 518"/>
              <p:cNvSpPr/>
              <p:nvPr/>
            </p:nvSpPr>
            <p:spPr>
              <a:xfrm>
                <a:off x="6655" y="521463"/>
                <a:ext cx="2260079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3559" h="157">
                    <a:moveTo>
                      <a:pt x="1779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3559" y="0"/>
                    </a:lnTo>
                    <a:lnTo>
                      <a:pt x="3559" y="157"/>
                    </a:lnTo>
                    <a:lnTo>
                      <a:pt x="1779" y="157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0" name="path 520"/>
              <p:cNvSpPr/>
              <p:nvPr/>
            </p:nvSpPr>
            <p:spPr>
              <a:xfrm>
                <a:off x="355" y="515163"/>
                <a:ext cx="2272679" cy="112676"/>
              </a:xfrm>
              <a:custGeom>
                <a:avLst/>
                <a:gdLst/>
                <a:ahLst/>
                <a:cxnLst/>
                <a:rect l="0" t="0" r="0" b="0"/>
                <a:pathLst>
                  <a:path w="3579" h="177">
                    <a:moveTo>
                      <a:pt x="1789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3569" y="9"/>
                    </a:lnTo>
                    <a:lnTo>
                      <a:pt x="3569" y="167"/>
                    </a:lnTo>
                    <a:lnTo>
                      <a:pt x="1789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path 522"/>
              <p:cNvSpPr/>
              <p:nvPr/>
            </p:nvSpPr>
            <p:spPr>
              <a:xfrm>
                <a:off x="2206625" y="509220"/>
                <a:ext cx="128156" cy="128155"/>
              </a:xfrm>
              <a:custGeom>
                <a:avLst/>
                <a:gdLst/>
                <a:ahLst/>
                <a:cxnLst/>
                <a:rect l="0" t="0" r="0" b="0"/>
                <a:pathLst>
                  <a:path w="201" h="201">
                    <a:moveTo>
                      <a:pt x="0" y="100"/>
                    </a:moveTo>
                    <a:lnTo>
                      <a:pt x="0" y="100"/>
                    </a:lnTo>
                    <a:cubicBezTo>
                      <a:pt x="0" y="83"/>
                      <a:pt x="4" y="65"/>
                      <a:pt x="13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3" y="0"/>
                      <a:pt x="100" y="0"/>
                    </a:cubicBezTo>
                    <a:lnTo>
                      <a:pt x="100" y="0"/>
                    </a:lnTo>
                    <a:cubicBezTo>
                      <a:pt x="118" y="0"/>
                      <a:pt x="136" y="4"/>
                      <a:pt x="151" y="13"/>
                    </a:cubicBezTo>
                    <a:cubicBezTo>
                      <a:pt x="166" y="22"/>
                      <a:pt x="179" y="35"/>
                      <a:pt x="188" y="50"/>
                    </a:cubicBezTo>
                    <a:cubicBezTo>
                      <a:pt x="197" y="65"/>
                      <a:pt x="201" y="83"/>
                      <a:pt x="201" y="100"/>
                    </a:cubicBezTo>
                    <a:lnTo>
                      <a:pt x="201" y="100"/>
                    </a:lnTo>
                    <a:lnTo>
                      <a:pt x="201" y="100"/>
                    </a:lnTo>
                    <a:cubicBezTo>
                      <a:pt x="201" y="118"/>
                      <a:pt x="197" y="136"/>
                      <a:pt x="188" y="151"/>
                    </a:cubicBezTo>
                    <a:cubicBezTo>
                      <a:pt x="179" y="166"/>
                      <a:pt x="166" y="179"/>
                      <a:pt x="151" y="188"/>
                    </a:cubicBezTo>
                    <a:cubicBezTo>
                      <a:pt x="136" y="197"/>
                      <a:pt x="118" y="201"/>
                      <a:pt x="100" y="201"/>
                    </a:cubicBezTo>
                    <a:lnTo>
                      <a:pt x="100" y="201"/>
                    </a:lnTo>
                    <a:cubicBezTo>
                      <a:pt x="83" y="201"/>
                      <a:pt x="65" y="197"/>
                      <a:pt x="50" y="188"/>
                    </a:cubicBezTo>
                    <a:cubicBezTo>
                      <a:pt x="35" y="179"/>
                      <a:pt x="22" y="166"/>
                      <a:pt x="13" y="151"/>
                    </a:cubicBezTo>
                    <a:cubicBezTo>
                      <a:pt x="4" y="136"/>
                      <a:pt x="0" y="118"/>
                      <a:pt x="0" y="100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path 524"/>
              <p:cNvSpPr/>
              <p:nvPr/>
            </p:nvSpPr>
            <p:spPr>
              <a:xfrm>
                <a:off x="2200325" y="502920"/>
                <a:ext cx="140756" cy="140755"/>
              </a:xfrm>
              <a:custGeom>
                <a:avLst/>
                <a:gdLst/>
                <a:ahLst/>
                <a:cxnLst/>
                <a:rect l="0" t="0" r="0" b="0"/>
                <a:pathLst>
                  <a:path w="221" h="221">
                    <a:moveTo>
                      <a:pt x="9" y="110"/>
                    </a:moveTo>
                    <a:lnTo>
                      <a:pt x="9" y="110"/>
                    </a:lnTo>
                    <a:cubicBezTo>
                      <a:pt x="9" y="93"/>
                      <a:pt x="14" y="75"/>
                      <a:pt x="23" y="60"/>
                    </a:cubicBezTo>
                    <a:cubicBezTo>
                      <a:pt x="32" y="45"/>
                      <a:pt x="45" y="32"/>
                      <a:pt x="60" y="23"/>
                    </a:cubicBezTo>
                    <a:cubicBezTo>
                      <a:pt x="75" y="14"/>
                      <a:pt x="93" y="9"/>
                      <a:pt x="110" y="9"/>
                    </a:cubicBezTo>
                    <a:lnTo>
                      <a:pt x="110" y="9"/>
                    </a:lnTo>
                    <a:cubicBezTo>
                      <a:pt x="128" y="9"/>
                      <a:pt x="145" y="14"/>
                      <a:pt x="161" y="23"/>
                    </a:cubicBezTo>
                    <a:cubicBezTo>
                      <a:pt x="176" y="32"/>
                      <a:pt x="189" y="45"/>
                      <a:pt x="198" y="60"/>
                    </a:cubicBezTo>
                    <a:cubicBezTo>
                      <a:pt x="207" y="75"/>
                      <a:pt x="211" y="93"/>
                      <a:pt x="211" y="110"/>
                    </a:cubicBezTo>
                    <a:lnTo>
                      <a:pt x="211" y="110"/>
                    </a:lnTo>
                    <a:lnTo>
                      <a:pt x="211" y="110"/>
                    </a:lnTo>
                    <a:cubicBezTo>
                      <a:pt x="211" y="128"/>
                      <a:pt x="207" y="145"/>
                      <a:pt x="198" y="161"/>
                    </a:cubicBezTo>
                    <a:cubicBezTo>
                      <a:pt x="189" y="176"/>
                      <a:pt x="176" y="189"/>
                      <a:pt x="161" y="198"/>
                    </a:cubicBezTo>
                    <a:cubicBezTo>
                      <a:pt x="145" y="207"/>
                      <a:pt x="128" y="211"/>
                      <a:pt x="110" y="211"/>
                    </a:cubicBezTo>
                    <a:lnTo>
                      <a:pt x="110" y="211"/>
                    </a:lnTo>
                    <a:cubicBezTo>
                      <a:pt x="93" y="211"/>
                      <a:pt x="75" y="207"/>
                      <a:pt x="60" y="198"/>
                    </a:cubicBezTo>
                    <a:cubicBezTo>
                      <a:pt x="45" y="189"/>
                      <a:pt x="32" y="176"/>
                      <a:pt x="23" y="161"/>
                    </a:cubicBezTo>
                    <a:cubicBezTo>
                      <a:pt x="14" y="145"/>
                      <a:pt x="9" y="128"/>
                      <a:pt x="9" y="110"/>
                    </a:cubicBezTo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6" name="path 526"/>
              <p:cNvSpPr/>
              <p:nvPr/>
            </p:nvSpPr>
            <p:spPr>
              <a:xfrm>
                <a:off x="6299" y="1024382"/>
                <a:ext cx="2989795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4708" h="157">
                    <a:moveTo>
                      <a:pt x="2354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4708" y="0"/>
                    </a:lnTo>
                    <a:lnTo>
                      <a:pt x="4708" y="157"/>
                    </a:lnTo>
                    <a:lnTo>
                      <a:pt x="2354" y="157"/>
                    </a:lnTo>
                    <a:close/>
                  </a:path>
                </a:pathLst>
              </a:custGeom>
              <a:solidFill>
                <a:srgbClr val="E9EFF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8" name="path 528"/>
              <p:cNvSpPr/>
              <p:nvPr/>
            </p:nvSpPr>
            <p:spPr>
              <a:xfrm>
                <a:off x="0" y="1018082"/>
                <a:ext cx="3002395" cy="112676"/>
              </a:xfrm>
              <a:custGeom>
                <a:avLst/>
                <a:gdLst/>
                <a:ahLst/>
                <a:cxnLst/>
                <a:rect l="0" t="0" r="0" b="0"/>
                <a:pathLst>
                  <a:path w="4728" h="177">
                    <a:moveTo>
                      <a:pt x="2364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4718" y="9"/>
                    </a:lnTo>
                    <a:lnTo>
                      <a:pt x="4718" y="167"/>
                    </a:lnTo>
                    <a:lnTo>
                      <a:pt x="2364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E9EFF5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0" name="path 530"/>
              <p:cNvSpPr/>
              <p:nvPr/>
            </p:nvSpPr>
            <p:spPr>
              <a:xfrm>
                <a:off x="6655" y="1024382"/>
                <a:ext cx="1746008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2749" h="157">
                    <a:moveTo>
                      <a:pt x="1374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2749" y="0"/>
                    </a:lnTo>
                    <a:lnTo>
                      <a:pt x="2749" y="157"/>
                    </a:lnTo>
                    <a:lnTo>
                      <a:pt x="1374" y="157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2" name="path 532"/>
              <p:cNvSpPr/>
              <p:nvPr/>
            </p:nvSpPr>
            <p:spPr>
              <a:xfrm>
                <a:off x="355" y="1018082"/>
                <a:ext cx="1758608" cy="112676"/>
              </a:xfrm>
              <a:custGeom>
                <a:avLst/>
                <a:gdLst/>
                <a:ahLst/>
                <a:cxnLst/>
                <a:rect l="0" t="0" r="0" b="0"/>
                <a:pathLst>
                  <a:path w="2769" h="177">
                    <a:moveTo>
                      <a:pt x="1384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2759" y="9"/>
                    </a:lnTo>
                    <a:lnTo>
                      <a:pt x="2759" y="167"/>
                    </a:lnTo>
                    <a:lnTo>
                      <a:pt x="1384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4" name="path 534"/>
              <p:cNvSpPr/>
              <p:nvPr/>
            </p:nvSpPr>
            <p:spPr>
              <a:xfrm>
                <a:off x="1692174" y="1012139"/>
                <a:ext cx="128168" cy="128156"/>
              </a:xfrm>
              <a:custGeom>
                <a:avLst/>
                <a:gdLst/>
                <a:ahLst/>
                <a:cxnLst/>
                <a:rect l="0" t="0" r="0" b="0"/>
                <a:pathLst>
                  <a:path w="201" h="201">
                    <a:moveTo>
                      <a:pt x="0" y="100"/>
                    </a:moveTo>
                    <a:lnTo>
                      <a:pt x="0" y="100"/>
                    </a:lnTo>
                    <a:cubicBezTo>
                      <a:pt x="0" y="83"/>
                      <a:pt x="4" y="65"/>
                      <a:pt x="13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3" y="0"/>
                      <a:pt x="100" y="0"/>
                    </a:cubicBezTo>
                    <a:lnTo>
                      <a:pt x="100" y="0"/>
                    </a:lnTo>
                    <a:cubicBezTo>
                      <a:pt x="118" y="0"/>
                      <a:pt x="136" y="4"/>
                      <a:pt x="151" y="13"/>
                    </a:cubicBezTo>
                    <a:cubicBezTo>
                      <a:pt x="166" y="22"/>
                      <a:pt x="179" y="35"/>
                      <a:pt x="188" y="50"/>
                    </a:cubicBezTo>
                    <a:cubicBezTo>
                      <a:pt x="197" y="65"/>
                      <a:pt x="201" y="83"/>
                      <a:pt x="201" y="100"/>
                    </a:cubicBezTo>
                    <a:lnTo>
                      <a:pt x="201" y="100"/>
                    </a:lnTo>
                    <a:lnTo>
                      <a:pt x="201" y="100"/>
                    </a:lnTo>
                    <a:cubicBezTo>
                      <a:pt x="201" y="118"/>
                      <a:pt x="197" y="136"/>
                      <a:pt x="188" y="151"/>
                    </a:cubicBezTo>
                    <a:cubicBezTo>
                      <a:pt x="179" y="166"/>
                      <a:pt x="166" y="179"/>
                      <a:pt x="151" y="188"/>
                    </a:cubicBezTo>
                    <a:cubicBezTo>
                      <a:pt x="136" y="197"/>
                      <a:pt x="118" y="201"/>
                      <a:pt x="100" y="201"/>
                    </a:cubicBezTo>
                    <a:lnTo>
                      <a:pt x="100" y="201"/>
                    </a:lnTo>
                    <a:cubicBezTo>
                      <a:pt x="83" y="201"/>
                      <a:pt x="65" y="197"/>
                      <a:pt x="50" y="188"/>
                    </a:cubicBezTo>
                    <a:cubicBezTo>
                      <a:pt x="35" y="179"/>
                      <a:pt x="22" y="166"/>
                      <a:pt x="13" y="151"/>
                    </a:cubicBezTo>
                    <a:cubicBezTo>
                      <a:pt x="4" y="136"/>
                      <a:pt x="0" y="118"/>
                      <a:pt x="0" y="100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6" name="path 536"/>
              <p:cNvSpPr/>
              <p:nvPr/>
            </p:nvSpPr>
            <p:spPr>
              <a:xfrm>
                <a:off x="1685874" y="1005839"/>
                <a:ext cx="140768" cy="140756"/>
              </a:xfrm>
              <a:custGeom>
                <a:avLst/>
                <a:gdLst/>
                <a:ahLst/>
                <a:cxnLst/>
                <a:rect l="0" t="0" r="0" b="0"/>
                <a:pathLst>
                  <a:path w="221" h="221">
                    <a:moveTo>
                      <a:pt x="9" y="110"/>
                    </a:moveTo>
                    <a:lnTo>
                      <a:pt x="9" y="110"/>
                    </a:lnTo>
                    <a:cubicBezTo>
                      <a:pt x="9" y="93"/>
                      <a:pt x="14" y="75"/>
                      <a:pt x="23" y="60"/>
                    </a:cubicBezTo>
                    <a:cubicBezTo>
                      <a:pt x="32" y="45"/>
                      <a:pt x="45" y="32"/>
                      <a:pt x="60" y="23"/>
                    </a:cubicBezTo>
                    <a:cubicBezTo>
                      <a:pt x="75" y="14"/>
                      <a:pt x="93" y="9"/>
                      <a:pt x="110" y="9"/>
                    </a:cubicBezTo>
                    <a:lnTo>
                      <a:pt x="110" y="9"/>
                    </a:lnTo>
                    <a:cubicBezTo>
                      <a:pt x="128" y="9"/>
                      <a:pt x="146" y="14"/>
                      <a:pt x="161" y="23"/>
                    </a:cubicBezTo>
                    <a:cubicBezTo>
                      <a:pt x="176" y="32"/>
                      <a:pt x="189" y="45"/>
                      <a:pt x="198" y="60"/>
                    </a:cubicBezTo>
                    <a:cubicBezTo>
                      <a:pt x="207" y="75"/>
                      <a:pt x="211" y="93"/>
                      <a:pt x="211" y="110"/>
                    </a:cubicBezTo>
                    <a:lnTo>
                      <a:pt x="211" y="110"/>
                    </a:lnTo>
                    <a:lnTo>
                      <a:pt x="211" y="110"/>
                    </a:lnTo>
                    <a:cubicBezTo>
                      <a:pt x="211" y="128"/>
                      <a:pt x="207" y="145"/>
                      <a:pt x="198" y="161"/>
                    </a:cubicBezTo>
                    <a:cubicBezTo>
                      <a:pt x="189" y="176"/>
                      <a:pt x="176" y="189"/>
                      <a:pt x="161" y="198"/>
                    </a:cubicBezTo>
                    <a:cubicBezTo>
                      <a:pt x="146" y="207"/>
                      <a:pt x="128" y="211"/>
                      <a:pt x="110" y="211"/>
                    </a:cubicBezTo>
                    <a:lnTo>
                      <a:pt x="110" y="211"/>
                    </a:lnTo>
                    <a:cubicBezTo>
                      <a:pt x="93" y="211"/>
                      <a:pt x="75" y="207"/>
                      <a:pt x="60" y="198"/>
                    </a:cubicBezTo>
                    <a:cubicBezTo>
                      <a:pt x="45" y="189"/>
                      <a:pt x="32" y="176"/>
                      <a:pt x="23" y="161"/>
                    </a:cubicBezTo>
                    <a:cubicBezTo>
                      <a:pt x="14" y="145"/>
                      <a:pt x="9" y="128"/>
                      <a:pt x="9" y="110"/>
                    </a:cubicBezTo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8" name="path 538"/>
              <p:cNvSpPr/>
              <p:nvPr/>
            </p:nvSpPr>
            <p:spPr>
              <a:xfrm>
                <a:off x="6299" y="1527302"/>
                <a:ext cx="2989795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4708" h="157">
                    <a:moveTo>
                      <a:pt x="2354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4708" y="0"/>
                    </a:lnTo>
                    <a:lnTo>
                      <a:pt x="4708" y="157"/>
                    </a:lnTo>
                    <a:lnTo>
                      <a:pt x="2354" y="157"/>
                    </a:lnTo>
                    <a:close/>
                  </a:path>
                </a:pathLst>
              </a:custGeom>
              <a:solidFill>
                <a:srgbClr val="E9EFF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0" name="path 540"/>
              <p:cNvSpPr/>
              <p:nvPr/>
            </p:nvSpPr>
            <p:spPr>
              <a:xfrm>
                <a:off x="0" y="1521002"/>
                <a:ext cx="3002395" cy="112675"/>
              </a:xfrm>
              <a:custGeom>
                <a:avLst/>
                <a:gdLst/>
                <a:ahLst/>
                <a:cxnLst/>
                <a:rect l="0" t="0" r="0" b="0"/>
                <a:pathLst>
                  <a:path w="4728" h="177">
                    <a:moveTo>
                      <a:pt x="2364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4718" y="9"/>
                    </a:lnTo>
                    <a:lnTo>
                      <a:pt x="4718" y="167"/>
                    </a:lnTo>
                    <a:lnTo>
                      <a:pt x="2364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E9EFF5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2" name="path 542"/>
              <p:cNvSpPr/>
              <p:nvPr/>
            </p:nvSpPr>
            <p:spPr>
              <a:xfrm>
                <a:off x="6655" y="1527302"/>
                <a:ext cx="2236330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3521" h="157">
                    <a:moveTo>
                      <a:pt x="1760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3521" y="0"/>
                    </a:lnTo>
                    <a:lnTo>
                      <a:pt x="3521" y="157"/>
                    </a:lnTo>
                    <a:lnTo>
                      <a:pt x="1760" y="157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4" name="path 544"/>
              <p:cNvSpPr/>
              <p:nvPr/>
            </p:nvSpPr>
            <p:spPr>
              <a:xfrm>
                <a:off x="355" y="1521002"/>
                <a:ext cx="2248929" cy="112675"/>
              </a:xfrm>
              <a:custGeom>
                <a:avLst/>
                <a:gdLst/>
                <a:ahLst/>
                <a:cxnLst/>
                <a:rect l="0" t="0" r="0" b="0"/>
                <a:pathLst>
                  <a:path w="3541" h="177">
                    <a:moveTo>
                      <a:pt x="1770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3531" y="9"/>
                    </a:lnTo>
                    <a:lnTo>
                      <a:pt x="3531" y="167"/>
                    </a:lnTo>
                    <a:lnTo>
                      <a:pt x="1770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6" name="path 546"/>
              <p:cNvSpPr/>
              <p:nvPr/>
            </p:nvSpPr>
            <p:spPr>
              <a:xfrm>
                <a:off x="2182495" y="1515060"/>
                <a:ext cx="128168" cy="128155"/>
              </a:xfrm>
              <a:custGeom>
                <a:avLst/>
                <a:gdLst/>
                <a:ahLst/>
                <a:cxnLst/>
                <a:rect l="0" t="0" r="0" b="0"/>
                <a:pathLst>
                  <a:path w="201" h="201">
                    <a:moveTo>
                      <a:pt x="0" y="100"/>
                    </a:moveTo>
                    <a:lnTo>
                      <a:pt x="0" y="100"/>
                    </a:lnTo>
                    <a:cubicBezTo>
                      <a:pt x="0" y="83"/>
                      <a:pt x="4" y="65"/>
                      <a:pt x="13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3" y="0"/>
                      <a:pt x="100" y="0"/>
                    </a:cubicBezTo>
                    <a:lnTo>
                      <a:pt x="100" y="0"/>
                    </a:lnTo>
                    <a:cubicBezTo>
                      <a:pt x="118" y="0"/>
                      <a:pt x="136" y="4"/>
                      <a:pt x="151" y="13"/>
                    </a:cubicBezTo>
                    <a:cubicBezTo>
                      <a:pt x="166" y="22"/>
                      <a:pt x="179" y="35"/>
                      <a:pt x="188" y="50"/>
                    </a:cubicBezTo>
                    <a:cubicBezTo>
                      <a:pt x="197" y="65"/>
                      <a:pt x="201" y="83"/>
                      <a:pt x="201" y="100"/>
                    </a:cubicBezTo>
                    <a:lnTo>
                      <a:pt x="201" y="100"/>
                    </a:lnTo>
                    <a:lnTo>
                      <a:pt x="201" y="100"/>
                    </a:lnTo>
                    <a:cubicBezTo>
                      <a:pt x="201" y="118"/>
                      <a:pt x="197" y="136"/>
                      <a:pt x="188" y="151"/>
                    </a:cubicBezTo>
                    <a:cubicBezTo>
                      <a:pt x="179" y="166"/>
                      <a:pt x="166" y="179"/>
                      <a:pt x="151" y="188"/>
                    </a:cubicBezTo>
                    <a:cubicBezTo>
                      <a:pt x="136" y="197"/>
                      <a:pt x="118" y="201"/>
                      <a:pt x="100" y="201"/>
                    </a:cubicBezTo>
                    <a:lnTo>
                      <a:pt x="100" y="201"/>
                    </a:lnTo>
                    <a:cubicBezTo>
                      <a:pt x="83" y="201"/>
                      <a:pt x="65" y="197"/>
                      <a:pt x="50" y="188"/>
                    </a:cubicBezTo>
                    <a:cubicBezTo>
                      <a:pt x="35" y="179"/>
                      <a:pt x="22" y="166"/>
                      <a:pt x="13" y="151"/>
                    </a:cubicBezTo>
                    <a:cubicBezTo>
                      <a:pt x="4" y="136"/>
                      <a:pt x="0" y="118"/>
                      <a:pt x="0" y="100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8" name="path 548"/>
              <p:cNvSpPr/>
              <p:nvPr/>
            </p:nvSpPr>
            <p:spPr>
              <a:xfrm>
                <a:off x="2176195" y="1508760"/>
                <a:ext cx="140768" cy="140755"/>
              </a:xfrm>
              <a:custGeom>
                <a:avLst/>
                <a:gdLst/>
                <a:ahLst/>
                <a:cxnLst/>
                <a:rect l="0" t="0" r="0" b="0"/>
                <a:pathLst>
                  <a:path w="221" h="221">
                    <a:moveTo>
                      <a:pt x="9" y="110"/>
                    </a:moveTo>
                    <a:lnTo>
                      <a:pt x="9" y="110"/>
                    </a:lnTo>
                    <a:cubicBezTo>
                      <a:pt x="9" y="93"/>
                      <a:pt x="14" y="75"/>
                      <a:pt x="23" y="60"/>
                    </a:cubicBezTo>
                    <a:cubicBezTo>
                      <a:pt x="32" y="45"/>
                      <a:pt x="45" y="32"/>
                      <a:pt x="60" y="23"/>
                    </a:cubicBezTo>
                    <a:cubicBezTo>
                      <a:pt x="75" y="14"/>
                      <a:pt x="93" y="9"/>
                      <a:pt x="110" y="9"/>
                    </a:cubicBezTo>
                    <a:lnTo>
                      <a:pt x="110" y="9"/>
                    </a:lnTo>
                    <a:cubicBezTo>
                      <a:pt x="128" y="9"/>
                      <a:pt x="145" y="14"/>
                      <a:pt x="161" y="23"/>
                    </a:cubicBezTo>
                    <a:cubicBezTo>
                      <a:pt x="176" y="32"/>
                      <a:pt x="189" y="45"/>
                      <a:pt x="198" y="60"/>
                    </a:cubicBezTo>
                    <a:cubicBezTo>
                      <a:pt x="207" y="75"/>
                      <a:pt x="211" y="93"/>
                      <a:pt x="211" y="110"/>
                    </a:cubicBezTo>
                    <a:lnTo>
                      <a:pt x="211" y="110"/>
                    </a:lnTo>
                    <a:lnTo>
                      <a:pt x="211" y="110"/>
                    </a:lnTo>
                    <a:cubicBezTo>
                      <a:pt x="211" y="128"/>
                      <a:pt x="207" y="145"/>
                      <a:pt x="198" y="161"/>
                    </a:cubicBezTo>
                    <a:cubicBezTo>
                      <a:pt x="189" y="176"/>
                      <a:pt x="176" y="189"/>
                      <a:pt x="161" y="198"/>
                    </a:cubicBezTo>
                    <a:cubicBezTo>
                      <a:pt x="145" y="207"/>
                      <a:pt x="128" y="211"/>
                      <a:pt x="110" y="211"/>
                    </a:cubicBezTo>
                    <a:lnTo>
                      <a:pt x="110" y="211"/>
                    </a:lnTo>
                    <a:cubicBezTo>
                      <a:pt x="93" y="211"/>
                      <a:pt x="75" y="207"/>
                      <a:pt x="60" y="198"/>
                    </a:cubicBezTo>
                    <a:cubicBezTo>
                      <a:pt x="45" y="189"/>
                      <a:pt x="32" y="176"/>
                      <a:pt x="23" y="161"/>
                    </a:cubicBezTo>
                    <a:cubicBezTo>
                      <a:pt x="14" y="145"/>
                      <a:pt x="9" y="128"/>
                      <a:pt x="9" y="110"/>
                    </a:cubicBezTo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0" name="path 550"/>
              <p:cNvSpPr/>
              <p:nvPr/>
            </p:nvSpPr>
            <p:spPr>
              <a:xfrm>
                <a:off x="6299" y="2030222"/>
                <a:ext cx="2989795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4708" h="157">
                    <a:moveTo>
                      <a:pt x="2354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4708" y="0"/>
                    </a:lnTo>
                    <a:lnTo>
                      <a:pt x="4708" y="157"/>
                    </a:lnTo>
                    <a:lnTo>
                      <a:pt x="2354" y="157"/>
                    </a:lnTo>
                    <a:close/>
                  </a:path>
                </a:pathLst>
              </a:custGeom>
              <a:solidFill>
                <a:srgbClr val="E9EFF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2" name="path 552"/>
              <p:cNvSpPr/>
              <p:nvPr/>
            </p:nvSpPr>
            <p:spPr>
              <a:xfrm>
                <a:off x="0" y="2023922"/>
                <a:ext cx="3002395" cy="112675"/>
              </a:xfrm>
              <a:custGeom>
                <a:avLst/>
                <a:gdLst/>
                <a:ahLst/>
                <a:cxnLst/>
                <a:rect l="0" t="0" r="0" b="0"/>
                <a:pathLst>
                  <a:path w="4728" h="177">
                    <a:moveTo>
                      <a:pt x="2364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4718" y="9"/>
                    </a:lnTo>
                    <a:lnTo>
                      <a:pt x="4718" y="167"/>
                    </a:lnTo>
                    <a:lnTo>
                      <a:pt x="2364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E9EFF5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4" name="path 554"/>
              <p:cNvSpPr/>
              <p:nvPr/>
            </p:nvSpPr>
            <p:spPr>
              <a:xfrm>
                <a:off x="6299" y="2030222"/>
                <a:ext cx="2284196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3597" h="157">
                    <a:moveTo>
                      <a:pt x="1798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3597" y="0"/>
                    </a:lnTo>
                    <a:lnTo>
                      <a:pt x="3597" y="157"/>
                    </a:lnTo>
                    <a:lnTo>
                      <a:pt x="1798" y="157"/>
                    </a:lnTo>
                    <a:close/>
                  </a:path>
                </a:pathLst>
              </a:custGeom>
              <a:solidFill>
                <a:srgbClr val="218C9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6" name="path 556"/>
              <p:cNvSpPr/>
              <p:nvPr/>
            </p:nvSpPr>
            <p:spPr>
              <a:xfrm>
                <a:off x="0" y="2023922"/>
                <a:ext cx="2296796" cy="112675"/>
              </a:xfrm>
              <a:custGeom>
                <a:avLst/>
                <a:gdLst/>
                <a:ahLst/>
                <a:cxnLst/>
                <a:rect l="0" t="0" r="0" b="0"/>
                <a:pathLst>
                  <a:path w="3617" h="177">
                    <a:moveTo>
                      <a:pt x="1808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3607" y="9"/>
                    </a:lnTo>
                    <a:lnTo>
                      <a:pt x="3607" y="167"/>
                    </a:lnTo>
                    <a:lnTo>
                      <a:pt x="1808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18C9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8" name="path 558"/>
              <p:cNvSpPr/>
              <p:nvPr/>
            </p:nvSpPr>
            <p:spPr>
              <a:xfrm>
                <a:off x="2230374" y="2017980"/>
                <a:ext cx="128168" cy="128155"/>
              </a:xfrm>
              <a:custGeom>
                <a:avLst/>
                <a:gdLst/>
                <a:ahLst/>
                <a:cxnLst/>
                <a:rect l="0" t="0" r="0" b="0"/>
                <a:pathLst>
                  <a:path w="201" h="201">
                    <a:moveTo>
                      <a:pt x="0" y="100"/>
                    </a:moveTo>
                    <a:lnTo>
                      <a:pt x="0" y="100"/>
                    </a:lnTo>
                    <a:cubicBezTo>
                      <a:pt x="0" y="83"/>
                      <a:pt x="4" y="65"/>
                      <a:pt x="13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3" y="0"/>
                      <a:pt x="100" y="0"/>
                    </a:cubicBezTo>
                    <a:lnTo>
                      <a:pt x="100" y="0"/>
                    </a:lnTo>
                    <a:cubicBezTo>
                      <a:pt x="118" y="0"/>
                      <a:pt x="136" y="4"/>
                      <a:pt x="151" y="13"/>
                    </a:cubicBezTo>
                    <a:cubicBezTo>
                      <a:pt x="166" y="22"/>
                      <a:pt x="179" y="35"/>
                      <a:pt x="188" y="50"/>
                    </a:cubicBezTo>
                    <a:cubicBezTo>
                      <a:pt x="197" y="65"/>
                      <a:pt x="201" y="83"/>
                      <a:pt x="201" y="100"/>
                    </a:cubicBezTo>
                    <a:lnTo>
                      <a:pt x="201" y="100"/>
                    </a:lnTo>
                    <a:lnTo>
                      <a:pt x="201" y="100"/>
                    </a:lnTo>
                    <a:cubicBezTo>
                      <a:pt x="201" y="118"/>
                      <a:pt x="197" y="136"/>
                      <a:pt x="188" y="151"/>
                    </a:cubicBezTo>
                    <a:cubicBezTo>
                      <a:pt x="179" y="166"/>
                      <a:pt x="166" y="179"/>
                      <a:pt x="151" y="188"/>
                    </a:cubicBezTo>
                    <a:cubicBezTo>
                      <a:pt x="136" y="197"/>
                      <a:pt x="118" y="201"/>
                      <a:pt x="100" y="201"/>
                    </a:cubicBezTo>
                    <a:lnTo>
                      <a:pt x="100" y="201"/>
                    </a:lnTo>
                    <a:cubicBezTo>
                      <a:pt x="83" y="201"/>
                      <a:pt x="65" y="197"/>
                      <a:pt x="50" y="188"/>
                    </a:cubicBezTo>
                    <a:cubicBezTo>
                      <a:pt x="35" y="179"/>
                      <a:pt x="22" y="166"/>
                      <a:pt x="13" y="151"/>
                    </a:cubicBezTo>
                    <a:cubicBezTo>
                      <a:pt x="4" y="136"/>
                      <a:pt x="0" y="118"/>
                      <a:pt x="0" y="100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18C9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0" name="path 560"/>
              <p:cNvSpPr/>
              <p:nvPr/>
            </p:nvSpPr>
            <p:spPr>
              <a:xfrm>
                <a:off x="2224074" y="2011680"/>
                <a:ext cx="140768" cy="140755"/>
              </a:xfrm>
              <a:custGeom>
                <a:avLst/>
                <a:gdLst/>
                <a:ahLst/>
                <a:cxnLst/>
                <a:rect l="0" t="0" r="0" b="0"/>
                <a:pathLst>
                  <a:path w="221" h="221">
                    <a:moveTo>
                      <a:pt x="9" y="110"/>
                    </a:moveTo>
                    <a:lnTo>
                      <a:pt x="9" y="110"/>
                    </a:lnTo>
                    <a:cubicBezTo>
                      <a:pt x="9" y="93"/>
                      <a:pt x="14" y="75"/>
                      <a:pt x="23" y="60"/>
                    </a:cubicBezTo>
                    <a:cubicBezTo>
                      <a:pt x="32" y="45"/>
                      <a:pt x="45" y="32"/>
                      <a:pt x="60" y="23"/>
                    </a:cubicBezTo>
                    <a:cubicBezTo>
                      <a:pt x="75" y="14"/>
                      <a:pt x="93" y="9"/>
                      <a:pt x="110" y="9"/>
                    </a:cubicBezTo>
                    <a:lnTo>
                      <a:pt x="110" y="9"/>
                    </a:lnTo>
                    <a:cubicBezTo>
                      <a:pt x="128" y="9"/>
                      <a:pt x="146" y="14"/>
                      <a:pt x="161" y="23"/>
                    </a:cubicBezTo>
                    <a:cubicBezTo>
                      <a:pt x="176" y="32"/>
                      <a:pt x="189" y="45"/>
                      <a:pt x="198" y="60"/>
                    </a:cubicBezTo>
                    <a:cubicBezTo>
                      <a:pt x="207" y="75"/>
                      <a:pt x="211" y="93"/>
                      <a:pt x="211" y="110"/>
                    </a:cubicBezTo>
                    <a:lnTo>
                      <a:pt x="211" y="110"/>
                    </a:lnTo>
                    <a:lnTo>
                      <a:pt x="211" y="110"/>
                    </a:lnTo>
                    <a:cubicBezTo>
                      <a:pt x="211" y="128"/>
                      <a:pt x="207" y="145"/>
                      <a:pt x="198" y="161"/>
                    </a:cubicBezTo>
                    <a:cubicBezTo>
                      <a:pt x="189" y="176"/>
                      <a:pt x="176" y="189"/>
                      <a:pt x="161" y="198"/>
                    </a:cubicBezTo>
                    <a:cubicBezTo>
                      <a:pt x="146" y="207"/>
                      <a:pt x="128" y="211"/>
                      <a:pt x="110" y="211"/>
                    </a:cubicBezTo>
                    <a:lnTo>
                      <a:pt x="110" y="211"/>
                    </a:lnTo>
                    <a:cubicBezTo>
                      <a:pt x="93" y="211"/>
                      <a:pt x="75" y="207"/>
                      <a:pt x="60" y="198"/>
                    </a:cubicBezTo>
                    <a:cubicBezTo>
                      <a:pt x="45" y="189"/>
                      <a:pt x="32" y="176"/>
                      <a:pt x="23" y="161"/>
                    </a:cubicBezTo>
                    <a:cubicBezTo>
                      <a:pt x="14" y="145"/>
                      <a:pt x="9" y="128"/>
                      <a:pt x="9" y="110"/>
                    </a:cubicBezTo>
                  </a:path>
                </a:pathLst>
              </a:custGeom>
              <a:noFill/>
              <a:ln w="12599" cap="flat">
                <a:solidFill>
                  <a:srgbClr val="218C9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2" name="path 562"/>
              <p:cNvSpPr/>
              <p:nvPr/>
            </p:nvSpPr>
            <p:spPr>
              <a:xfrm>
                <a:off x="6299" y="2533142"/>
                <a:ext cx="2989795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4708" h="157">
                    <a:moveTo>
                      <a:pt x="2354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4708" y="0"/>
                    </a:lnTo>
                    <a:lnTo>
                      <a:pt x="4708" y="157"/>
                    </a:lnTo>
                    <a:lnTo>
                      <a:pt x="2354" y="157"/>
                    </a:lnTo>
                    <a:close/>
                  </a:path>
                </a:pathLst>
              </a:custGeom>
              <a:solidFill>
                <a:srgbClr val="E9EFF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path 564"/>
              <p:cNvSpPr/>
              <p:nvPr/>
            </p:nvSpPr>
            <p:spPr>
              <a:xfrm>
                <a:off x="0" y="2526843"/>
                <a:ext cx="3002395" cy="112675"/>
              </a:xfrm>
              <a:custGeom>
                <a:avLst/>
                <a:gdLst/>
                <a:ahLst/>
                <a:cxnLst/>
                <a:rect l="0" t="0" r="0" b="0"/>
                <a:pathLst>
                  <a:path w="4728" h="177">
                    <a:moveTo>
                      <a:pt x="2364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4718" y="9"/>
                    </a:lnTo>
                    <a:lnTo>
                      <a:pt x="4718" y="167"/>
                    </a:lnTo>
                    <a:lnTo>
                      <a:pt x="2364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E9EFF5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path 566"/>
              <p:cNvSpPr/>
              <p:nvPr/>
            </p:nvSpPr>
            <p:spPr>
              <a:xfrm>
                <a:off x="6655" y="2533142"/>
                <a:ext cx="1985047" cy="100076"/>
              </a:xfrm>
              <a:custGeom>
                <a:avLst/>
                <a:gdLst/>
                <a:ahLst/>
                <a:cxnLst/>
                <a:rect l="0" t="0" r="0" b="0"/>
                <a:pathLst>
                  <a:path w="3126" h="157">
                    <a:moveTo>
                      <a:pt x="1563" y="157"/>
                    </a:moveTo>
                    <a:lnTo>
                      <a:pt x="0" y="157"/>
                    </a:lnTo>
                    <a:lnTo>
                      <a:pt x="0" y="0"/>
                    </a:lnTo>
                    <a:lnTo>
                      <a:pt x="3126" y="0"/>
                    </a:lnTo>
                    <a:lnTo>
                      <a:pt x="3126" y="157"/>
                    </a:lnTo>
                    <a:lnTo>
                      <a:pt x="1563" y="157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path 568"/>
              <p:cNvSpPr/>
              <p:nvPr/>
            </p:nvSpPr>
            <p:spPr>
              <a:xfrm>
                <a:off x="355" y="2526843"/>
                <a:ext cx="1997647" cy="112675"/>
              </a:xfrm>
              <a:custGeom>
                <a:avLst/>
                <a:gdLst/>
                <a:ahLst/>
                <a:cxnLst/>
                <a:rect l="0" t="0" r="0" b="0"/>
                <a:pathLst>
                  <a:path w="3145" h="177">
                    <a:moveTo>
                      <a:pt x="1572" y="167"/>
                    </a:moveTo>
                    <a:lnTo>
                      <a:pt x="9" y="167"/>
                    </a:lnTo>
                    <a:lnTo>
                      <a:pt x="9" y="9"/>
                    </a:lnTo>
                    <a:lnTo>
                      <a:pt x="3135" y="9"/>
                    </a:lnTo>
                    <a:lnTo>
                      <a:pt x="3135" y="167"/>
                    </a:lnTo>
                    <a:lnTo>
                      <a:pt x="1572" y="167"/>
                    </a:lnTo>
                    <a:close/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path 570"/>
              <p:cNvSpPr/>
              <p:nvPr/>
            </p:nvSpPr>
            <p:spPr>
              <a:xfrm>
                <a:off x="1931581" y="2520900"/>
                <a:ext cx="128156" cy="128155"/>
              </a:xfrm>
              <a:custGeom>
                <a:avLst/>
                <a:gdLst/>
                <a:ahLst/>
                <a:cxnLst/>
                <a:rect l="0" t="0" r="0" b="0"/>
                <a:pathLst>
                  <a:path w="201" h="201">
                    <a:moveTo>
                      <a:pt x="0" y="100"/>
                    </a:moveTo>
                    <a:lnTo>
                      <a:pt x="0" y="100"/>
                    </a:lnTo>
                    <a:cubicBezTo>
                      <a:pt x="0" y="83"/>
                      <a:pt x="4" y="65"/>
                      <a:pt x="13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3" y="0"/>
                      <a:pt x="100" y="0"/>
                    </a:cubicBezTo>
                    <a:lnTo>
                      <a:pt x="100" y="0"/>
                    </a:lnTo>
                    <a:cubicBezTo>
                      <a:pt x="118" y="0"/>
                      <a:pt x="136" y="4"/>
                      <a:pt x="151" y="13"/>
                    </a:cubicBezTo>
                    <a:cubicBezTo>
                      <a:pt x="166" y="22"/>
                      <a:pt x="179" y="35"/>
                      <a:pt x="188" y="50"/>
                    </a:cubicBezTo>
                    <a:cubicBezTo>
                      <a:pt x="197" y="65"/>
                      <a:pt x="201" y="83"/>
                      <a:pt x="201" y="100"/>
                    </a:cubicBezTo>
                    <a:lnTo>
                      <a:pt x="201" y="100"/>
                    </a:lnTo>
                    <a:lnTo>
                      <a:pt x="201" y="100"/>
                    </a:lnTo>
                    <a:cubicBezTo>
                      <a:pt x="201" y="118"/>
                      <a:pt x="197" y="136"/>
                      <a:pt x="188" y="151"/>
                    </a:cubicBezTo>
                    <a:cubicBezTo>
                      <a:pt x="179" y="166"/>
                      <a:pt x="166" y="179"/>
                      <a:pt x="151" y="188"/>
                    </a:cubicBezTo>
                    <a:cubicBezTo>
                      <a:pt x="136" y="197"/>
                      <a:pt x="118" y="201"/>
                      <a:pt x="100" y="201"/>
                    </a:cubicBezTo>
                    <a:lnTo>
                      <a:pt x="100" y="201"/>
                    </a:lnTo>
                    <a:cubicBezTo>
                      <a:pt x="83" y="201"/>
                      <a:pt x="65" y="197"/>
                      <a:pt x="50" y="188"/>
                    </a:cubicBezTo>
                    <a:cubicBezTo>
                      <a:pt x="35" y="179"/>
                      <a:pt x="22" y="166"/>
                      <a:pt x="13" y="151"/>
                    </a:cubicBezTo>
                    <a:cubicBezTo>
                      <a:pt x="4" y="136"/>
                      <a:pt x="0" y="118"/>
                      <a:pt x="0" y="100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365A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2" name="path 572"/>
              <p:cNvSpPr/>
              <p:nvPr/>
            </p:nvSpPr>
            <p:spPr>
              <a:xfrm>
                <a:off x="1925281" y="2514600"/>
                <a:ext cx="140756" cy="140755"/>
              </a:xfrm>
              <a:custGeom>
                <a:avLst/>
                <a:gdLst/>
                <a:ahLst/>
                <a:cxnLst/>
                <a:rect l="0" t="0" r="0" b="0"/>
                <a:pathLst>
                  <a:path w="221" h="221">
                    <a:moveTo>
                      <a:pt x="9" y="110"/>
                    </a:moveTo>
                    <a:lnTo>
                      <a:pt x="9" y="110"/>
                    </a:lnTo>
                    <a:cubicBezTo>
                      <a:pt x="9" y="93"/>
                      <a:pt x="14" y="75"/>
                      <a:pt x="23" y="60"/>
                    </a:cubicBezTo>
                    <a:cubicBezTo>
                      <a:pt x="32" y="45"/>
                      <a:pt x="45" y="32"/>
                      <a:pt x="60" y="23"/>
                    </a:cubicBezTo>
                    <a:cubicBezTo>
                      <a:pt x="75" y="14"/>
                      <a:pt x="93" y="9"/>
                      <a:pt x="110" y="9"/>
                    </a:cubicBezTo>
                    <a:lnTo>
                      <a:pt x="110" y="9"/>
                    </a:lnTo>
                    <a:cubicBezTo>
                      <a:pt x="128" y="9"/>
                      <a:pt x="145" y="14"/>
                      <a:pt x="161" y="23"/>
                    </a:cubicBezTo>
                    <a:cubicBezTo>
                      <a:pt x="176" y="32"/>
                      <a:pt x="189" y="45"/>
                      <a:pt x="198" y="60"/>
                    </a:cubicBezTo>
                    <a:cubicBezTo>
                      <a:pt x="207" y="75"/>
                      <a:pt x="211" y="93"/>
                      <a:pt x="211" y="110"/>
                    </a:cubicBezTo>
                    <a:lnTo>
                      <a:pt x="211" y="110"/>
                    </a:lnTo>
                    <a:lnTo>
                      <a:pt x="211" y="110"/>
                    </a:lnTo>
                    <a:cubicBezTo>
                      <a:pt x="211" y="128"/>
                      <a:pt x="207" y="145"/>
                      <a:pt x="198" y="161"/>
                    </a:cubicBezTo>
                    <a:cubicBezTo>
                      <a:pt x="189" y="176"/>
                      <a:pt x="176" y="189"/>
                      <a:pt x="161" y="198"/>
                    </a:cubicBezTo>
                    <a:cubicBezTo>
                      <a:pt x="145" y="207"/>
                      <a:pt x="128" y="211"/>
                      <a:pt x="110" y="211"/>
                    </a:cubicBezTo>
                    <a:lnTo>
                      <a:pt x="110" y="211"/>
                    </a:lnTo>
                    <a:cubicBezTo>
                      <a:pt x="93" y="211"/>
                      <a:pt x="75" y="207"/>
                      <a:pt x="60" y="198"/>
                    </a:cubicBezTo>
                    <a:cubicBezTo>
                      <a:pt x="45" y="189"/>
                      <a:pt x="32" y="176"/>
                      <a:pt x="23" y="161"/>
                    </a:cubicBezTo>
                    <a:cubicBezTo>
                      <a:pt x="14" y="145"/>
                      <a:pt x="9" y="128"/>
                      <a:pt x="9" y="110"/>
                    </a:cubicBezTo>
                  </a:path>
                </a:pathLst>
              </a:custGeom>
              <a:noFill/>
              <a:ln w="12599" cap="flat">
                <a:solidFill>
                  <a:srgbClr val="2365A3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4" name="textbox 574"/>
            <p:cNvSpPr/>
            <p:nvPr/>
          </p:nvSpPr>
          <p:spPr>
            <a:xfrm>
              <a:off x="1833086" y="3135610"/>
              <a:ext cx="1905635" cy="152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900" kern="0" spc="5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横条放大显示 </a:t>
              </a:r>
              <a:r>
                <a:rPr sz="900" kern="0" spc="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NSE</a:t>
              </a:r>
              <a:r>
                <a:rPr sz="900" kern="0" spc="5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0.75</a:t>
              </a:r>
              <a:r>
                <a:rPr sz="900" kern="0" spc="4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–1.00</a:t>
              </a:r>
              <a:r>
                <a:rPr sz="900" kern="0" spc="90" dirty="0">
                  <a:solidFill>
                    <a:srgbClr val="697891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40" dirty="0">
                  <a:solidFill>
                    <a:srgbClr val="697891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区间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7500416" y="2672460"/>
            <a:ext cx="3733927" cy="1905115"/>
            <a:chOff x="0" y="0"/>
            <a:chExt cx="3733927" cy="1905115"/>
          </a:xfrm>
        </p:grpSpPr>
        <p:sp>
          <p:nvSpPr>
            <p:cNvPr id="576" name="path 576"/>
            <p:cNvSpPr/>
            <p:nvPr/>
          </p:nvSpPr>
          <p:spPr>
            <a:xfrm>
              <a:off x="6299" y="6300"/>
              <a:ext cx="3721328" cy="155156"/>
            </a:xfrm>
            <a:custGeom>
              <a:avLst/>
              <a:gdLst/>
              <a:ahLst/>
              <a:cxnLst/>
              <a:rect l="0" t="0" r="0" b="0"/>
              <a:pathLst>
                <a:path w="5860" h="244">
                  <a:moveTo>
                    <a:pt x="2930" y="244"/>
                  </a:moveTo>
                  <a:lnTo>
                    <a:pt x="0" y="244"/>
                  </a:lnTo>
                  <a:lnTo>
                    <a:pt x="0" y="0"/>
                  </a:lnTo>
                  <a:lnTo>
                    <a:pt x="5860" y="0"/>
                  </a:lnTo>
                  <a:lnTo>
                    <a:pt x="5860" y="244"/>
                  </a:lnTo>
                  <a:lnTo>
                    <a:pt x="2930" y="244"/>
                  </a:lnTo>
                  <a:close/>
                </a:path>
              </a:pathLst>
            </a:custGeom>
            <a:solidFill>
              <a:srgbClr val="E8EE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8" name="path 578"/>
            <p:cNvSpPr/>
            <p:nvPr/>
          </p:nvSpPr>
          <p:spPr>
            <a:xfrm>
              <a:off x="0" y="0"/>
              <a:ext cx="3733927" cy="167756"/>
            </a:xfrm>
            <a:custGeom>
              <a:avLst/>
              <a:gdLst/>
              <a:ahLst/>
              <a:cxnLst/>
              <a:rect l="0" t="0" r="0" b="0"/>
              <a:pathLst>
                <a:path w="5880" h="264">
                  <a:moveTo>
                    <a:pt x="2940" y="254"/>
                  </a:moveTo>
                  <a:lnTo>
                    <a:pt x="9" y="254"/>
                  </a:lnTo>
                  <a:lnTo>
                    <a:pt x="9" y="9"/>
                  </a:lnTo>
                  <a:lnTo>
                    <a:pt x="5870" y="9"/>
                  </a:lnTo>
                  <a:lnTo>
                    <a:pt x="5870" y="254"/>
                  </a:lnTo>
                  <a:lnTo>
                    <a:pt x="2940" y="254"/>
                  </a:lnTo>
                  <a:close/>
                </a:path>
              </a:pathLst>
            </a:custGeom>
            <a:noFill/>
            <a:ln w="12599" cap="flat">
              <a:solidFill>
                <a:srgbClr val="E8EEF5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0" name="path 580"/>
            <p:cNvSpPr/>
            <p:nvPr/>
          </p:nvSpPr>
          <p:spPr>
            <a:xfrm>
              <a:off x="6667" y="6300"/>
              <a:ext cx="989990" cy="155156"/>
            </a:xfrm>
            <a:custGeom>
              <a:avLst/>
              <a:gdLst/>
              <a:ahLst/>
              <a:cxnLst/>
              <a:rect l="0" t="0" r="0" b="0"/>
              <a:pathLst>
                <a:path w="1559" h="244">
                  <a:moveTo>
                    <a:pt x="779" y="244"/>
                  </a:moveTo>
                  <a:lnTo>
                    <a:pt x="0" y="244"/>
                  </a:lnTo>
                  <a:lnTo>
                    <a:pt x="0" y="0"/>
                  </a:lnTo>
                  <a:lnTo>
                    <a:pt x="1559" y="0"/>
                  </a:lnTo>
                  <a:lnTo>
                    <a:pt x="1559" y="244"/>
                  </a:lnTo>
                  <a:lnTo>
                    <a:pt x="779" y="244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2" name="path 582"/>
            <p:cNvSpPr/>
            <p:nvPr/>
          </p:nvSpPr>
          <p:spPr>
            <a:xfrm>
              <a:off x="367" y="0"/>
              <a:ext cx="1002589" cy="167756"/>
            </a:xfrm>
            <a:custGeom>
              <a:avLst/>
              <a:gdLst/>
              <a:ahLst/>
              <a:cxnLst/>
              <a:rect l="0" t="0" r="0" b="0"/>
              <a:pathLst>
                <a:path w="1578" h="264">
                  <a:moveTo>
                    <a:pt x="789" y="254"/>
                  </a:moveTo>
                  <a:lnTo>
                    <a:pt x="9" y="254"/>
                  </a:lnTo>
                  <a:lnTo>
                    <a:pt x="9" y="9"/>
                  </a:lnTo>
                  <a:lnTo>
                    <a:pt x="1568" y="9"/>
                  </a:lnTo>
                  <a:lnTo>
                    <a:pt x="1568" y="254"/>
                  </a:lnTo>
                  <a:lnTo>
                    <a:pt x="789" y="254"/>
                  </a:lnTo>
                  <a:close/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4" name="path 584"/>
            <p:cNvSpPr/>
            <p:nvPr/>
          </p:nvSpPr>
          <p:spPr>
            <a:xfrm>
              <a:off x="6299" y="874979"/>
              <a:ext cx="3721328" cy="155156"/>
            </a:xfrm>
            <a:custGeom>
              <a:avLst/>
              <a:gdLst/>
              <a:ahLst/>
              <a:cxnLst/>
              <a:rect l="0" t="0" r="0" b="0"/>
              <a:pathLst>
                <a:path w="5860" h="244">
                  <a:moveTo>
                    <a:pt x="2930" y="244"/>
                  </a:moveTo>
                  <a:lnTo>
                    <a:pt x="0" y="244"/>
                  </a:lnTo>
                  <a:lnTo>
                    <a:pt x="0" y="0"/>
                  </a:lnTo>
                  <a:lnTo>
                    <a:pt x="5860" y="0"/>
                  </a:lnTo>
                  <a:lnTo>
                    <a:pt x="5860" y="244"/>
                  </a:lnTo>
                  <a:lnTo>
                    <a:pt x="2930" y="244"/>
                  </a:lnTo>
                  <a:close/>
                </a:path>
              </a:pathLst>
            </a:custGeom>
            <a:solidFill>
              <a:srgbClr val="E8EE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6" name="path 586"/>
            <p:cNvSpPr/>
            <p:nvPr/>
          </p:nvSpPr>
          <p:spPr>
            <a:xfrm>
              <a:off x="0" y="868679"/>
              <a:ext cx="3733927" cy="167755"/>
            </a:xfrm>
            <a:custGeom>
              <a:avLst/>
              <a:gdLst/>
              <a:ahLst/>
              <a:cxnLst/>
              <a:rect l="0" t="0" r="0" b="0"/>
              <a:pathLst>
                <a:path w="5880" h="264">
                  <a:moveTo>
                    <a:pt x="2940" y="254"/>
                  </a:moveTo>
                  <a:lnTo>
                    <a:pt x="9" y="254"/>
                  </a:lnTo>
                  <a:lnTo>
                    <a:pt x="9" y="9"/>
                  </a:lnTo>
                  <a:lnTo>
                    <a:pt x="5870" y="9"/>
                  </a:lnTo>
                  <a:lnTo>
                    <a:pt x="5870" y="254"/>
                  </a:lnTo>
                  <a:lnTo>
                    <a:pt x="2940" y="254"/>
                  </a:lnTo>
                  <a:close/>
                </a:path>
              </a:pathLst>
            </a:custGeom>
            <a:noFill/>
            <a:ln w="12599" cap="flat">
              <a:solidFill>
                <a:srgbClr val="E8EEF5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8" name="path 588"/>
            <p:cNvSpPr/>
            <p:nvPr/>
          </p:nvSpPr>
          <p:spPr>
            <a:xfrm>
              <a:off x="6299" y="874979"/>
              <a:ext cx="1965959" cy="155156"/>
            </a:xfrm>
            <a:custGeom>
              <a:avLst/>
              <a:gdLst/>
              <a:ahLst/>
              <a:cxnLst/>
              <a:rect l="0" t="0" r="0" b="0"/>
              <a:pathLst>
                <a:path w="3095" h="244">
                  <a:moveTo>
                    <a:pt x="1548" y="244"/>
                  </a:moveTo>
                  <a:lnTo>
                    <a:pt x="0" y="244"/>
                  </a:lnTo>
                  <a:lnTo>
                    <a:pt x="0" y="0"/>
                  </a:lnTo>
                  <a:lnTo>
                    <a:pt x="3095" y="0"/>
                  </a:lnTo>
                  <a:lnTo>
                    <a:pt x="3095" y="244"/>
                  </a:lnTo>
                  <a:lnTo>
                    <a:pt x="1548" y="244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0" name="path 590"/>
            <p:cNvSpPr/>
            <p:nvPr/>
          </p:nvSpPr>
          <p:spPr>
            <a:xfrm>
              <a:off x="0" y="868679"/>
              <a:ext cx="1978559" cy="167755"/>
            </a:xfrm>
            <a:custGeom>
              <a:avLst/>
              <a:gdLst/>
              <a:ahLst/>
              <a:cxnLst/>
              <a:rect l="0" t="0" r="0" b="0"/>
              <a:pathLst>
                <a:path w="3115" h="264">
                  <a:moveTo>
                    <a:pt x="1558" y="254"/>
                  </a:moveTo>
                  <a:lnTo>
                    <a:pt x="9" y="254"/>
                  </a:lnTo>
                  <a:lnTo>
                    <a:pt x="9" y="9"/>
                  </a:lnTo>
                  <a:lnTo>
                    <a:pt x="3105" y="9"/>
                  </a:lnTo>
                  <a:lnTo>
                    <a:pt x="3105" y="254"/>
                  </a:lnTo>
                  <a:lnTo>
                    <a:pt x="1558" y="254"/>
                  </a:lnTo>
                  <a:close/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2" name="path 592"/>
            <p:cNvSpPr/>
            <p:nvPr/>
          </p:nvSpPr>
          <p:spPr>
            <a:xfrm>
              <a:off x="6299" y="1743660"/>
              <a:ext cx="3721328" cy="155155"/>
            </a:xfrm>
            <a:custGeom>
              <a:avLst/>
              <a:gdLst/>
              <a:ahLst/>
              <a:cxnLst/>
              <a:rect l="0" t="0" r="0" b="0"/>
              <a:pathLst>
                <a:path w="5860" h="244">
                  <a:moveTo>
                    <a:pt x="2930" y="244"/>
                  </a:moveTo>
                  <a:lnTo>
                    <a:pt x="0" y="244"/>
                  </a:lnTo>
                  <a:lnTo>
                    <a:pt x="0" y="0"/>
                  </a:lnTo>
                  <a:lnTo>
                    <a:pt x="5860" y="0"/>
                  </a:lnTo>
                  <a:lnTo>
                    <a:pt x="5860" y="244"/>
                  </a:lnTo>
                  <a:lnTo>
                    <a:pt x="2930" y="244"/>
                  </a:lnTo>
                  <a:close/>
                </a:path>
              </a:pathLst>
            </a:custGeom>
            <a:solidFill>
              <a:srgbClr val="E8EE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4" name="path 594"/>
            <p:cNvSpPr/>
            <p:nvPr/>
          </p:nvSpPr>
          <p:spPr>
            <a:xfrm>
              <a:off x="0" y="1737360"/>
              <a:ext cx="3733927" cy="167755"/>
            </a:xfrm>
            <a:custGeom>
              <a:avLst/>
              <a:gdLst/>
              <a:ahLst/>
              <a:cxnLst/>
              <a:rect l="0" t="0" r="0" b="0"/>
              <a:pathLst>
                <a:path w="5880" h="264">
                  <a:moveTo>
                    <a:pt x="2940" y="254"/>
                  </a:moveTo>
                  <a:lnTo>
                    <a:pt x="9" y="254"/>
                  </a:lnTo>
                  <a:lnTo>
                    <a:pt x="9" y="9"/>
                  </a:lnTo>
                  <a:lnTo>
                    <a:pt x="5870" y="9"/>
                  </a:lnTo>
                  <a:lnTo>
                    <a:pt x="5870" y="254"/>
                  </a:lnTo>
                  <a:lnTo>
                    <a:pt x="2940" y="254"/>
                  </a:lnTo>
                  <a:close/>
                </a:path>
              </a:pathLst>
            </a:custGeom>
            <a:noFill/>
            <a:ln w="12599" cap="flat">
              <a:solidFill>
                <a:srgbClr val="E8EEF5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6" name="path 596"/>
            <p:cNvSpPr/>
            <p:nvPr/>
          </p:nvSpPr>
          <p:spPr>
            <a:xfrm>
              <a:off x="6667" y="1743660"/>
              <a:ext cx="3613670" cy="155155"/>
            </a:xfrm>
            <a:custGeom>
              <a:avLst/>
              <a:gdLst/>
              <a:ahLst/>
              <a:cxnLst/>
              <a:rect l="0" t="0" r="0" b="0"/>
              <a:pathLst>
                <a:path w="5690" h="244">
                  <a:moveTo>
                    <a:pt x="2845" y="244"/>
                  </a:moveTo>
                  <a:lnTo>
                    <a:pt x="0" y="244"/>
                  </a:lnTo>
                  <a:lnTo>
                    <a:pt x="0" y="0"/>
                  </a:lnTo>
                  <a:lnTo>
                    <a:pt x="5690" y="0"/>
                  </a:lnTo>
                  <a:lnTo>
                    <a:pt x="5690" y="244"/>
                  </a:lnTo>
                  <a:lnTo>
                    <a:pt x="2845" y="244"/>
                  </a:lnTo>
                  <a:close/>
                </a:path>
              </a:pathLst>
            </a:custGeom>
            <a:solidFill>
              <a:srgbClr val="6978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8" name="path 598"/>
            <p:cNvSpPr/>
            <p:nvPr/>
          </p:nvSpPr>
          <p:spPr>
            <a:xfrm>
              <a:off x="367" y="1737360"/>
              <a:ext cx="3626270" cy="167755"/>
            </a:xfrm>
            <a:custGeom>
              <a:avLst/>
              <a:gdLst/>
              <a:ahLst/>
              <a:cxnLst/>
              <a:rect l="0" t="0" r="0" b="0"/>
              <a:pathLst>
                <a:path w="5710" h="264">
                  <a:moveTo>
                    <a:pt x="2855" y="254"/>
                  </a:moveTo>
                  <a:lnTo>
                    <a:pt x="9" y="254"/>
                  </a:lnTo>
                  <a:lnTo>
                    <a:pt x="9" y="9"/>
                  </a:lnTo>
                  <a:lnTo>
                    <a:pt x="5700" y="9"/>
                  </a:lnTo>
                  <a:lnTo>
                    <a:pt x="5700" y="254"/>
                  </a:lnTo>
                  <a:lnTo>
                    <a:pt x="2855" y="254"/>
                  </a:lnTo>
                  <a:close/>
                </a:path>
              </a:pathLst>
            </a:custGeom>
            <a:noFill/>
            <a:ln w="12599" cap="flat">
              <a:solidFill>
                <a:srgbClr val="69789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group 84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600" name="rect 600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2" name="textbox 602"/>
            <p:cNvSpPr/>
            <p:nvPr/>
          </p:nvSpPr>
          <p:spPr>
            <a:xfrm>
              <a:off x="275956" y="148818"/>
              <a:ext cx="5616575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结果①：</a:t>
              </a:r>
              <a:r>
                <a:rPr sz="2400" b="1" kern="0" spc="-6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状态估计精度与在线计算可</a:t>
              </a:r>
              <a:r>
                <a:rPr sz="24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行性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04" name="picture 60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sp>
        <p:nvSpPr>
          <p:cNvPr id="606" name="textbox 606"/>
          <p:cNvSpPr/>
          <p:nvPr/>
        </p:nvSpPr>
        <p:spPr>
          <a:xfrm>
            <a:off x="787860" y="6091380"/>
            <a:ext cx="10621644" cy="343534"/>
          </a:xfrm>
          <a:prstGeom prst="rect">
            <a:avLst/>
          </a:prstGeom>
          <a:solidFill>
            <a:srgbClr val="EAF4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74570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1200" b="1" kern="0" spc="1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组均</a:t>
            </a:r>
            <a:r>
              <a:rPr sz="1200" b="1" kern="0" spc="32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NSE</a:t>
            </a:r>
            <a:r>
              <a:rPr sz="1200" b="1" kern="0" spc="1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= 0.924 </a:t>
            </a:r>
            <a:r>
              <a:rPr sz="1200" b="1" kern="0" spc="1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｜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RMSE</a:t>
            </a:r>
            <a:r>
              <a:rPr sz="1200" b="1" kern="0" spc="1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= 0.382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m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｜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95%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在线耗时仅占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分钟控制间隔的 </a:t>
            </a:r>
            <a:r>
              <a:rPr sz="12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0.159%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608" name="rect 608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0" name="textbox 610"/>
          <p:cNvSpPr/>
          <p:nvPr/>
        </p:nvSpPr>
        <p:spPr>
          <a:xfrm>
            <a:off x="386900" y="967348"/>
            <a:ext cx="7793990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374015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模型验证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1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6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个独立雨组验证未监测节点；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770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次在线决策记录计算开销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20" name="picture 6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sp>
        <p:nvSpPr>
          <p:cNvPr id="622" name="textbox 622"/>
          <p:cNvSpPr/>
          <p:nvPr/>
        </p:nvSpPr>
        <p:spPr>
          <a:xfrm>
            <a:off x="7493265" y="4066858"/>
            <a:ext cx="520700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300" kern="0" spc="-10" dirty="0">
                <a:solidFill>
                  <a:srgbClr val="69789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最大值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4" name="textbox 624"/>
          <p:cNvSpPr/>
          <p:nvPr/>
        </p:nvSpPr>
        <p:spPr>
          <a:xfrm>
            <a:off x="7501484" y="2329498"/>
            <a:ext cx="512444" cy="19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300" kern="0" spc="-30" dirty="0">
                <a:solidFill>
                  <a:srgbClr val="69789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中位数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6" name="textbox 626"/>
          <p:cNvSpPr/>
          <p:nvPr/>
        </p:nvSpPr>
        <p:spPr>
          <a:xfrm>
            <a:off x="7501652" y="3220322"/>
            <a:ext cx="302259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1300" kern="0" spc="-50" dirty="0">
                <a:solidFill>
                  <a:srgbClr val="697891">
                    <a:alpha val="100000"/>
                  </a:srgbClr>
                </a:solidFill>
                <a:latin typeface="Arial"/>
                <a:ea typeface="Arial"/>
                <a:cs typeface="Arial"/>
              </a:rPr>
              <a:t>P95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630" name="path 630"/>
          <p:cNvSpPr/>
          <p:nvPr/>
        </p:nvSpPr>
        <p:spPr>
          <a:xfrm>
            <a:off x="6876177" y="5869625"/>
            <a:ext cx="42487" cy="42474"/>
          </a:xfrm>
          <a:custGeom>
            <a:avLst/>
            <a:gdLst/>
            <a:ahLst/>
            <a:cxnLst/>
            <a:rect l="0" t="0" r="0" b="0"/>
            <a:pathLst>
              <a:path w="66" h="66">
                <a:moveTo>
                  <a:pt x="55" y="11"/>
                </a:moveTo>
                <a:cubicBezTo>
                  <a:pt x="45" y="29"/>
                  <a:pt x="29" y="45"/>
                  <a:pt x="11" y="55"/>
                </a:cubicBezTo>
              </a:path>
            </a:pathLst>
          </a:custGeom>
          <a:noFill/>
          <a:ln w="14039" cap="flat">
            <a:solidFill>
              <a:srgbClr val="D5DCE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" name="table 632"/>
          <p:cNvGraphicFramePr>
            <a:graphicFrameLocks noGrp="1"/>
          </p:cNvGraphicFramePr>
          <p:nvPr/>
        </p:nvGraphicFramePr>
        <p:xfrm>
          <a:off x="403736" y="1492380"/>
          <a:ext cx="7484744" cy="4476114"/>
        </p:xfrm>
        <a:graphic>
          <a:graphicData uri="http://schemas.openxmlformats.org/drawingml/2006/table">
            <a:tbl>
              <a:tblPr/>
              <a:tblGrid>
                <a:gridCol w="7484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83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859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全网累计积水 </a:t>
                      </a: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TFV</a:t>
                      </a:r>
                      <a:r>
                        <a:rPr sz="17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 </a:t>
                      </a:r>
                      <a:r>
                        <a:rPr sz="17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×10⁶ m³</a:t>
                      </a:r>
                      <a:r>
                        <a:rPr sz="1700" b="1" kern="0" spc="2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,</a:t>
                      </a:r>
                      <a:r>
                        <a:rPr sz="17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7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越低越好）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7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400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kern="0" spc="-8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EFD</a:t>
                      </a:r>
                      <a:r>
                        <a:rPr sz="1300" kern="0" spc="24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8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：调蓄均衡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4840" algn="l" rtl="0" eaLnBrk="0">
                        <a:lnSpc>
                          <a:spcPct val="88000"/>
                        </a:lnSpc>
                        <a:spcBef>
                          <a:spcPts val="396"/>
                        </a:spcBef>
                        <a:tabLst/>
                      </a:pPr>
                      <a:r>
                        <a:rPr sz="13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Internal</a:t>
                      </a:r>
                      <a:r>
                        <a:rPr sz="13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RTC</a:t>
                      </a:r>
                      <a:r>
                        <a:rPr sz="1300" kern="0" spc="18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：现</a:t>
                      </a:r>
                      <a:r>
                        <a:rPr sz="1300" kern="0" spc="-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有规则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9469" algn="l" rtl="0" eaLnBrk="0">
                        <a:lnSpc>
                          <a:spcPct val="87000"/>
                        </a:lnSpc>
                        <a:spcBef>
                          <a:spcPts val="401"/>
                        </a:spcBef>
                        <a:tabLst/>
                      </a:pPr>
                      <a:r>
                        <a:rPr sz="1300" kern="0" spc="-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Auto-RBC</a:t>
                      </a:r>
                      <a:r>
                        <a:rPr sz="1300" kern="0" spc="1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：动态规则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0" algn="l" rtl="0" eaLnBrk="0">
                        <a:lnSpc>
                          <a:spcPct val="94000"/>
                        </a:lnSpc>
                        <a:spcBef>
                          <a:spcPts val="394"/>
                        </a:spcBef>
                        <a:tabLst/>
                      </a:pPr>
                      <a:r>
                        <a:rPr sz="1300" b="1" kern="0" spc="-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  <a:r>
                        <a:rPr sz="1300" b="1" kern="0" spc="9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b="1" kern="0" spc="-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RTC</a:t>
                      </a:r>
                      <a:r>
                        <a:rPr sz="1300" b="1" kern="0" spc="16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b="1" kern="0" spc="-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：本研</a:t>
                      </a:r>
                      <a:r>
                        <a:rPr sz="1300" b="1" kern="0" spc="-5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究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注：原始表格使用 </a:t>
                      </a:r>
                      <a:r>
                        <a:rPr sz="10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46.305 </a:t>
                      </a:r>
                      <a:r>
                        <a:rPr sz="10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000" kern="0" spc="-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.516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等数值；按正文累计体积量级统一表示为百万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m³</a:t>
                      </a:r>
                      <a:r>
                        <a:rPr sz="1000" kern="0" spc="-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8" name="group 88"/>
          <p:cNvGrpSpPr/>
          <p:nvPr/>
        </p:nvGrpSpPr>
        <p:grpSpPr>
          <a:xfrm rot="21600000">
            <a:off x="3074936" y="2380144"/>
            <a:ext cx="4255199" cy="2554200"/>
            <a:chOff x="0" y="0"/>
            <a:chExt cx="4255199" cy="2554200"/>
          </a:xfrm>
        </p:grpSpPr>
        <p:sp>
          <p:nvSpPr>
            <p:cNvPr id="634" name="path 634"/>
            <p:cNvSpPr/>
            <p:nvPr/>
          </p:nvSpPr>
          <p:spPr>
            <a:xfrm>
              <a:off x="6299" y="6300"/>
              <a:ext cx="4242599" cy="347040"/>
            </a:xfrm>
            <a:custGeom>
              <a:avLst/>
              <a:gdLst/>
              <a:ahLst/>
              <a:cxnLst/>
              <a:rect l="0" t="0" r="0" b="0"/>
              <a:pathLst>
                <a:path w="6681" h="546">
                  <a:moveTo>
                    <a:pt x="3340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6681" y="0"/>
                  </a:lnTo>
                  <a:lnTo>
                    <a:pt x="6681" y="546"/>
                  </a:lnTo>
                  <a:lnTo>
                    <a:pt x="3340" y="546"/>
                  </a:lnTo>
                  <a:close/>
                </a:path>
              </a:pathLst>
            </a:custGeom>
            <a:solidFill>
              <a:srgbClr val="ECF1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6" name="path 636"/>
            <p:cNvSpPr/>
            <p:nvPr/>
          </p:nvSpPr>
          <p:spPr>
            <a:xfrm>
              <a:off x="0" y="0"/>
              <a:ext cx="4255199" cy="359640"/>
            </a:xfrm>
            <a:custGeom>
              <a:avLst/>
              <a:gdLst/>
              <a:ahLst/>
              <a:cxnLst/>
              <a:rect l="0" t="0" r="0" b="0"/>
              <a:pathLst>
                <a:path w="6701" h="566">
                  <a:moveTo>
                    <a:pt x="3350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6691" y="9"/>
                  </a:lnTo>
                  <a:lnTo>
                    <a:pt x="6691" y="556"/>
                  </a:lnTo>
                  <a:lnTo>
                    <a:pt x="3350" y="556"/>
                  </a:lnTo>
                  <a:close/>
                </a:path>
              </a:pathLst>
            </a:custGeom>
            <a:noFill/>
            <a:ln w="12599" cap="flat">
              <a:solidFill>
                <a:srgbClr val="ECF1F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8" name="path 638"/>
            <p:cNvSpPr/>
            <p:nvPr/>
          </p:nvSpPr>
          <p:spPr>
            <a:xfrm>
              <a:off x="6299" y="6300"/>
              <a:ext cx="4113720" cy="347040"/>
            </a:xfrm>
            <a:custGeom>
              <a:avLst/>
              <a:gdLst/>
              <a:ahLst/>
              <a:cxnLst/>
              <a:rect l="0" t="0" r="0" b="0"/>
              <a:pathLst>
                <a:path w="6478" h="546">
                  <a:moveTo>
                    <a:pt x="3239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6478" y="0"/>
                  </a:lnTo>
                  <a:lnTo>
                    <a:pt x="6478" y="546"/>
                  </a:lnTo>
                  <a:lnTo>
                    <a:pt x="3239" y="546"/>
                  </a:lnTo>
                  <a:close/>
                </a:path>
              </a:pathLst>
            </a:custGeom>
            <a:solidFill>
              <a:srgbClr val="6978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0" name="path 640"/>
            <p:cNvSpPr/>
            <p:nvPr/>
          </p:nvSpPr>
          <p:spPr>
            <a:xfrm>
              <a:off x="0" y="0"/>
              <a:ext cx="4126320" cy="359640"/>
            </a:xfrm>
            <a:custGeom>
              <a:avLst/>
              <a:gdLst/>
              <a:ahLst/>
              <a:cxnLst/>
              <a:rect l="0" t="0" r="0" b="0"/>
              <a:pathLst>
                <a:path w="6498" h="566">
                  <a:moveTo>
                    <a:pt x="3249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6488" y="9"/>
                  </a:lnTo>
                  <a:lnTo>
                    <a:pt x="6488" y="556"/>
                  </a:lnTo>
                  <a:lnTo>
                    <a:pt x="3249" y="556"/>
                  </a:lnTo>
                  <a:close/>
                </a:path>
              </a:pathLst>
            </a:custGeom>
            <a:noFill/>
            <a:ln w="12599" cap="flat">
              <a:solidFill>
                <a:srgbClr val="69789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2" name="path 642"/>
            <p:cNvSpPr/>
            <p:nvPr/>
          </p:nvSpPr>
          <p:spPr>
            <a:xfrm>
              <a:off x="6299" y="737820"/>
              <a:ext cx="4242599" cy="347040"/>
            </a:xfrm>
            <a:custGeom>
              <a:avLst/>
              <a:gdLst/>
              <a:ahLst/>
              <a:cxnLst/>
              <a:rect l="0" t="0" r="0" b="0"/>
              <a:pathLst>
                <a:path w="6681" h="546">
                  <a:moveTo>
                    <a:pt x="3340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6681" y="0"/>
                  </a:lnTo>
                  <a:lnTo>
                    <a:pt x="6681" y="546"/>
                  </a:lnTo>
                  <a:lnTo>
                    <a:pt x="3340" y="546"/>
                  </a:lnTo>
                  <a:close/>
                </a:path>
              </a:pathLst>
            </a:custGeom>
            <a:solidFill>
              <a:srgbClr val="ECF1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4" name="path 644"/>
            <p:cNvSpPr/>
            <p:nvPr/>
          </p:nvSpPr>
          <p:spPr>
            <a:xfrm>
              <a:off x="0" y="731520"/>
              <a:ext cx="4255199" cy="359640"/>
            </a:xfrm>
            <a:custGeom>
              <a:avLst/>
              <a:gdLst/>
              <a:ahLst/>
              <a:cxnLst/>
              <a:rect l="0" t="0" r="0" b="0"/>
              <a:pathLst>
                <a:path w="6701" h="566">
                  <a:moveTo>
                    <a:pt x="3350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6691" y="9"/>
                  </a:lnTo>
                  <a:lnTo>
                    <a:pt x="6691" y="556"/>
                  </a:lnTo>
                  <a:lnTo>
                    <a:pt x="3350" y="556"/>
                  </a:lnTo>
                  <a:close/>
                </a:path>
              </a:pathLst>
            </a:custGeom>
            <a:noFill/>
            <a:ln w="12599" cap="flat">
              <a:solidFill>
                <a:srgbClr val="ECF1F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6" name="path 646"/>
            <p:cNvSpPr/>
            <p:nvPr/>
          </p:nvSpPr>
          <p:spPr>
            <a:xfrm>
              <a:off x="6299" y="737820"/>
              <a:ext cx="4084205" cy="347040"/>
            </a:xfrm>
            <a:custGeom>
              <a:avLst/>
              <a:gdLst/>
              <a:ahLst/>
              <a:cxnLst/>
              <a:rect l="0" t="0" r="0" b="0"/>
              <a:pathLst>
                <a:path w="6431" h="546">
                  <a:moveTo>
                    <a:pt x="3216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6431" y="0"/>
                  </a:lnTo>
                  <a:lnTo>
                    <a:pt x="6431" y="546"/>
                  </a:lnTo>
                  <a:lnTo>
                    <a:pt x="3216" y="546"/>
                  </a:lnTo>
                  <a:close/>
                </a:path>
              </a:pathLst>
            </a:custGeom>
            <a:solidFill>
              <a:srgbClr val="96A6B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8" name="path 648"/>
            <p:cNvSpPr/>
            <p:nvPr/>
          </p:nvSpPr>
          <p:spPr>
            <a:xfrm>
              <a:off x="0" y="731520"/>
              <a:ext cx="4096804" cy="359640"/>
            </a:xfrm>
            <a:custGeom>
              <a:avLst/>
              <a:gdLst/>
              <a:ahLst/>
              <a:cxnLst/>
              <a:rect l="0" t="0" r="0" b="0"/>
              <a:pathLst>
                <a:path w="6451" h="566">
                  <a:moveTo>
                    <a:pt x="3226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6441" y="9"/>
                  </a:lnTo>
                  <a:lnTo>
                    <a:pt x="6441" y="556"/>
                  </a:lnTo>
                  <a:lnTo>
                    <a:pt x="3226" y="556"/>
                  </a:lnTo>
                  <a:close/>
                </a:path>
              </a:pathLst>
            </a:custGeom>
            <a:noFill/>
            <a:ln w="12599" cap="flat">
              <a:solidFill>
                <a:srgbClr val="96A6BA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0" name="path 650"/>
            <p:cNvSpPr/>
            <p:nvPr/>
          </p:nvSpPr>
          <p:spPr>
            <a:xfrm>
              <a:off x="6299" y="1469339"/>
              <a:ext cx="4242599" cy="347040"/>
            </a:xfrm>
            <a:custGeom>
              <a:avLst/>
              <a:gdLst/>
              <a:ahLst/>
              <a:cxnLst/>
              <a:rect l="0" t="0" r="0" b="0"/>
              <a:pathLst>
                <a:path w="6681" h="546">
                  <a:moveTo>
                    <a:pt x="3340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6681" y="0"/>
                  </a:lnTo>
                  <a:lnTo>
                    <a:pt x="6681" y="546"/>
                  </a:lnTo>
                  <a:lnTo>
                    <a:pt x="3340" y="546"/>
                  </a:lnTo>
                  <a:close/>
                </a:path>
              </a:pathLst>
            </a:custGeom>
            <a:solidFill>
              <a:srgbClr val="ECF1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2" name="path 652"/>
            <p:cNvSpPr/>
            <p:nvPr/>
          </p:nvSpPr>
          <p:spPr>
            <a:xfrm>
              <a:off x="0" y="1463040"/>
              <a:ext cx="4255199" cy="359639"/>
            </a:xfrm>
            <a:custGeom>
              <a:avLst/>
              <a:gdLst/>
              <a:ahLst/>
              <a:cxnLst/>
              <a:rect l="0" t="0" r="0" b="0"/>
              <a:pathLst>
                <a:path w="6701" h="566">
                  <a:moveTo>
                    <a:pt x="3350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6691" y="9"/>
                  </a:lnTo>
                  <a:lnTo>
                    <a:pt x="6691" y="556"/>
                  </a:lnTo>
                  <a:lnTo>
                    <a:pt x="3350" y="556"/>
                  </a:lnTo>
                  <a:close/>
                </a:path>
              </a:pathLst>
            </a:custGeom>
            <a:noFill/>
            <a:ln w="12599" cap="flat">
              <a:solidFill>
                <a:srgbClr val="ECF1F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4" name="path 654"/>
            <p:cNvSpPr/>
            <p:nvPr/>
          </p:nvSpPr>
          <p:spPr>
            <a:xfrm>
              <a:off x="6299" y="1469339"/>
              <a:ext cx="3665169" cy="347040"/>
            </a:xfrm>
            <a:custGeom>
              <a:avLst/>
              <a:gdLst/>
              <a:ahLst/>
              <a:cxnLst/>
              <a:rect l="0" t="0" r="0" b="0"/>
              <a:pathLst>
                <a:path w="5771" h="546">
                  <a:moveTo>
                    <a:pt x="2886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5771" y="0"/>
                  </a:lnTo>
                  <a:lnTo>
                    <a:pt x="5771" y="546"/>
                  </a:lnTo>
                  <a:lnTo>
                    <a:pt x="2886" y="546"/>
                  </a:lnTo>
                  <a:close/>
                </a:path>
              </a:pathLst>
            </a:custGeom>
            <a:solidFill>
              <a:srgbClr val="3BA1C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6" name="path 656"/>
            <p:cNvSpPr/>
            <p:nvPr/>
          </p:nvSpPr>
          <p:spPr>
            <a:xfrm>
              <a:off x="0" y="1463040"/>
              <a:ext cx="3677768" cy="359639"/>
            </a:xfrm>
            <a:custGeom>
              <a:avLst/>
              <a:gdLst/>
              <a:ahLst/>
              <a:cxnLst/>
              <a:rect l="0" t="0" r="0" b="0"/>
              <a:pathLst>
                <a:path w="5791" h="566">
                  <a:moveTo>
                    <a:pt x="2896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5781" y="9"/>
                  </a:lnTo>
                  <a:lnTo>
                    <a:pt x="5781" y="556"/>
                  </a:lnTo>
                  <a:lnTo>
                    <a:pt x="2896" y="556"/>
                  </a:lnTo>
                  <a:close/>
                </a:path>
              </a:pathLst>
            </a:custGeom>
            <a:noFill/>
            <a:ln w="12599" cap="flat">
              <a:solidFill>
                <a:srgbClr val="3BA1C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8" name="path 658"/>
            <p:cNvSpPr/>
            <p:nvPr/>
          </p:nvSpPr>
          <p:spPr>
            <a:xfrm>
              <a:off x="6299" y="2200860"/>
              <a:ext cx="4242599" cy="347040"/>
            </a:xfrm>
            <a:custGeom>
              <a:avLst/>
              <a:gdLst/>
              <a:ahLst/>
              <a:cxnLst/>
              <a:rect l="0" t="0" r="0" b="0"/>
              <a:pathLst>
                <a:path w="6681" h="546">
                  <a:moveTo>
                    <a:pt x="3340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6681" y="0"/>
                  </a:lnTo>
                  <a:lnTo>
                    <a:pt x="6681" y="546"/>
                  </a:lnTo>
                  <a:lnTo>
                    <a:pt x="3340" y="546"/>
                  </a:lnTo>
                  <a:close/>
                </a:path>
              </a:pathLst>
            </a:custGeom>
            <a:solidFill>
              <a:srgbClr val="ECF1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0" name="path 660"/>
            <p:cNvSpPr/>
            <p:nvPr/>
          </p:nvSpPr>
          <p:spPr>
            <a:xfrm>
              <a:off x="0" y="2194560"/>
              <a:ext cx="4255199" cy="359639"/>
            </a:xfrm>
            <a:custGeom>
              <a:avLst/>
              <a:gdLst/>
              <a:ahLst/>
              <a:cxnLst/>
              <a:rect l="0" t="0" r="0" b="0"/>
              <a:pathLst>
                <a:path w="6701" h="566">
                  <a:moveTo>
                    <a:pt x="3350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6691" y="9"/>
                  </a:lnTo>
                  <a:lnTo>
                    <a:pt x="6691" y="556"/>
                  </a:lnTo>
                  <a:lnTo>
                    <a:pt x="3350" y="556"/>
                  </a:lnTo>
                  <a:close/>
                </a:path>
              </a:pathLst>
            </a:custGeom>
            <a:noFill/>
            <a:ln w="12599" cap="flat">
              <a:solidFill>
                <a:srgbClr val="ECF1F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2" name="path 662"/>
            <p:cNvSpPr/>
            <p:nvPr/>
          </p:nvSpPr>
          <p:spPr>
            <a:xfrm>
              <a:off x="6299" y="2200860"/>
              <a:ext cx="3571569" cy="347040"/>
            </a:xfrm>
            <a:custGeom>
              <a:avLst/>
              <a:gdLst/>
              <a:ahLst/>
              <a:cxnLst/>
              <a:rect l="0" t="0" r="0" b="0"/>
              <a:pathLst>
                <a:path w="5624" h="546">
                  <a:moveTo>
                    <a:pt x="2812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5624" y="0"/>
                  </a:lnTo>
                  <a:lnTo>
                    <a:pt x="5624" y="546"/>
                  </a:lnTo>
                  <a:lnTo>
                    <a:pt x="2812" y="546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4" name="path 664"/>
            <p:cNvSpPr/>
            <p:nvPr/>
          </p:nvSpPr>
          <p:spPr>
            <a:xfrm>
              <a:off x="0" y="2194560"/>
              <a:ext cx="3584168" cy="359639"/>
            </a:xfrm>
            <a:custGeom>
              <a:avLst/>
              <a:gdLst/>
              <a:ahLst/>
              <a:cxnLst/>
              <a:rect l="0" t="0" r="0" b="0"/>
              <a:pathLst>
                <a:path w="5644" h="566">
                  <a:moveTo>
                    <a:pt x="2822" y="556"/>
                  </a:moveTo>
                  <a:lnTo>
                    <a:pt x="9" y="556"/>
                  </a:lnTo>
                  <a:lnTo>
                    <a:pt x="9" y="9"/>
                  </a:lnTo>
                  <a:lnTo>
                    <a:pt x="5634" y="9"/>
                  </a:lnTo>
                  <a:lnTo>
                    <a:pt x="5634" y="556"/>
                  </a:lnTo>
                  <a:lnTo>
                    <a:pt x="2822" y="556"/>
                  </a:lnTo>
                  <a:close/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0" name="group 90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666" name="rect 666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8" name="textbox 668"/>
            <p:cNvSpPr/>
            <p:nvPr/>
          </p:nvSpPr>
          <p:spPr>
            <a:xfrm>
              <a:off x="275956" y="148818"/>
              <a:ext cx="5810884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结果②： </a:t>
              </a:r>
              <a:r>
                <a:rPr sz="2400" b="1" kern="0" spc="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12 </a:t>
              </a:r>
              <a:r>
                <a:rPr sz="24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场降雨下的系统整体减涝性能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70" name="picture 6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672" name="table 672"/>
          <p:cNvGraphicFramePr>
            <a:graphicFrameLocks noGrp="1"/>
          </p:cNvGraphicFramePr>
          <p:nvPr/>
        </p:nvGraphicFramePr>
        <p:xfrm>
          <a:off x="8157785" y="4308300"/>
          <a:ext cx="3580130" cy="1640839"/>
        </p:xfrm>
        <a:graphic>
          <a:graphicData uri="http://schemas.openxmlformats.org/drawingml/2006/table">
            <a:tbl>
              <a:tblPr>
                <a:solidFill>
                  <a:srgbClr val="F3F7FA"/>
                </a:solidFill>
              </a:tblPr>
              <a:tblGrid>
                <a:gridCol w="358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0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5069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额外避免积水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861060" algn="l" rtl="0" eaLnBrk="0">
                        <a:lnSpc>
                          <a:spcPct val="85000"/>
                        </a:lnSpc>
                        <a:spcBef>
                          <a:spcPts val="1877"/>
                        </a:spcBef>
                        <a:tabLst/>
                      </a:pPr>
                      <a:r>
                        <a:rPr sz="25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121.1</a:t>
                      </a:r>
                      <a:r>
                        <a:rPr sz="2500" b="1" kern="0" spc="68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</a:t>
                      </a:r>
                      <a:r>
                        <a:rPr sz="2500" b="1" kern="0" spc="6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5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m³</a:t>
                      </a:r>
                      <a:endParaRPr sz="2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887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最强对照为</a:t>
                      </a:r>
                      <a:r>
                        <a:rPr sz="1000" kern="0" spc="-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</a:t>
                      </a:r>
                      <a:r>
                        <a:rPr sz="1000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RBC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4" name="table 674"/>
          <p:cNvGraphicFramePr>
            <a:graphicFrameLocks noGrp="1"/>
          </p:cNvGraphicFramePr>
          <p:nvPr/>
        </p:nvGraphicFramePr>
        <p:xfrm>
          <a:off x="8157785" y="2899984"/>
          <a:ext cx="3580129" cy="1330960"/>
        </p:xfrm>
        <a:graphic>
          <a:graphicData uri="http://schemas.openxmlformats.org/drawingml/2006/table">
            <a:tbl>
              <a:tblPr/>
              <a:tblGrid>
                <a:gridCol w="75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09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C9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7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32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</a:t>
                      </a:r>
                      <a:r>
                        <a:rPr sz="32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2.55%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8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400" b="1" kern="0" spc="1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相较</a:t>
                      </a:r>
                      <a:r>
                        <a:rPr sz="1400" b="1" kern="0" spc="2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</a:t>
                      </a:r>
                      <a:r>
                        <a:rPr sz="1400" b="1" kern="0" spc="1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RBC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6" name="table 676"/>
          <p:cNvGraphicFramePr>
            <a:graphicFrameLocks noGrp="1"/>
          </p:cNvGraphicFramePr>
          <p:nvPr/>
        </p:nvGraphicFramePr>
        <p:xfrm>
          <a:off x="8157785" y="1492024"/>
          <a:ext cx="3580129" cy="1330960"/>
        </p:xfrm>
        <a:graphic>
          <a:graphicData uri="http://schemas.openxmlformats.org/drawingml/2006/table">
            <a:tbl>
              <a:tblPr/>
              <a:tblGrid>
                <a:gridCol w="75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09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5A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200" b="1" kern="0" spc="1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</a:t>
                      </a:r>
                      <a:r>
                        <a:rPr sz="3200" b="1" kern="0" spc="1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12.55%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8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相较</a:t>
                      </a:r>
                      <a:r>
                        <a:rPr sz="1400" b="1" kern="0" spc="3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8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Internal RTC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8" name="rect 678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0" name="textbox 680"/>
          <p:cNvSpPr/>
          <p:nvPr/>
        </p:nvSpPr>
        <p:spPr>
          <a:xfrm>
            <a:off x="386900" y="967348"/>
            <a:ext cx="6591300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373379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性能对比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同一 </a:t>
            </a:r>
            <a:r>
              <a:rPr sz="18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SWMM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、同一降雨与约束下的四种控制策略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2" name="textbox 682"/>
          <p:cNvSpPr/>
          <p:nvPr/>
        </p:nvSpPr>
        <p:spPr>
          <a:xfrm>
            <a:off x="6878433" y="2483208"/>
            <a:ext cx="558165" cy="2367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74000"/>
              </a:lnSpc>
              <a:tabLst/>
            </a:pPr>
            <a:r>
              <a:rPr sz="1300" b="1" kern="0" spc="20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53.330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74000"/>
              </a:lnSpc>
              <a:spcBef>
                <a:spcPts val="394"/>
              </a:spcBef>
              <a:tabLst/>
            </a:pPr>
            <a:r>
              <a:rPr sz="1300" b="1" kern="0" spc="20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52.948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394"/>
              </a:spcBef>
              <a:tabLst/>
            </a:pPr>
            <a:r>
              <a:rPr sz="1300" b="1" kern="0" spc="30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47.516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2"/>
              </a:spcBef>
              <a:tabLst/>
            </a:pPr>
            <a:r>
              <a:rPr sz="1300" b="1" kern="0" spc="30" dirty="0">
                <a:solidFill>
                  <a:srgbClr val="2365A3">
                    <a:alpha val="100000"/>
                  </a:srgbClr>
                </a:solidFill>
                <a:latin typeface="Arial"/>
                <a:ea typeface="Arial"/>
                <a:cs typeface="Arial"/>
              </a:rPr>
              <a:t>46.305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pic>
        <p:nvPicPr>
          <p:cNvPr id="692" name="picture 6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4"/>
          <p:cNvGrpSpPr/>
          <p:nvPr/>
        </p:nvGrpSpPr>
        <p:grpSpPr>
          <a:xfrm rot="21600000">
            <a:off x="9758156" y="2515676"/>
            <a:ext cx="737647" cy="1176483"/>
            <a:chOff x="0" y="0"/>
            <a:chExt cx="737647" cy="1176483"/>
          </a:xfrm>
        </p:grpSpPr>
        <p:sp>
          <p:nvSpPr>
            <p:cNvPr id="696" name="path 696"/>
            <p:cNvSpPr/>
            <p:nvPr/>
          </p:nvSpPr>
          <p:spPr>
            <a:xfrm>
              <a:off x="0" y="0"/>
              <a:ext cx="737647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98" name="path 698"/>
            <p:cNvSpPr/>
            <p:nvPr/>
          </p:nvSpPr>
          <p:spPr>
            <a:xfrm>
              <a:off x="208448" y="227168"/>
              <a:ext cx="301675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0" name="path 700"/>
            <p:cNvSpPr/>
            <p:nvPr/>
          </p:nvSpPr>
          <p:spPr>
            <a:xfrm>
              <a:off x="202148" y="220868"/>
              <a:ext cx="314274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group 96"/>
          <p:cNvGrpSpPr/>
          <p:nvPr/>
        </p:nvGrpSpPr>
        <p:grpSpPr>
          <a:xfrm rot="21600000">
            <a:off x="10654203" y="2515676"/>
            <a:ext cx="737636" cy="1176483"/>
            <a:chOff x="0" y="0"/>
            <a:chExt cx="737636" cy="1176483"/>
          </a:xfrm>
        </p:grpSpPr>
        <p:sp>
          <p:nvSpPr>
            <p:cNvPr id="702" name="path 702"/>
            <p:cNvSpPr/>
            <p:nvPr/>
          </p:nvSpPr>
          <p:spPr>
            <a:xfrm>
              <a:off x="0" y="0"/>
              <a:ext cx="737636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4" name="path 704"/>
            <p:cNvSpPr/>
            <p:nvPr/>
          </p:nvSpPr>
          <p:spPr>
            <a:xfrm>
              <a:off x="208436" y="227168"/>
              <a:ext cx="301676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6" name="path 706"/>
            <p:cNvSpPr/>
            <p:nvPr/>
          </p:nvSpPr>
          <p:spPr>
            <a:xfrm>
              <a:off x="202136" y="220868"/>
              <a:ext cx="314275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group 98"/>
          <p:cNvGrpSpPr/>
          <p:nvPr/>
        </p:nvGrpSpPr>
        <p:grpSpPr>
          <a:xfrm rot="21600000">
            <a:off x="797035" y="2515676"/>
            <a:ext cx="737648" cy="1176483"/>
            <a:chOff x="0" y="0"/>
            <a:chExt cx="737648" cy="1176483"/>
          </a:xfrm>
        </p:grpSpPr>
        <p:sp>
          <p:nvSpPr>
            <p:cNvPr id="708" name="path 708"/>
            <p:cNvSpPr/>
            <p:nvPr/>
          </p:nvSpPr>
          <p:spPr>
            <a:xfrm>
              <a:off x="0" y="0"/>
              <a:ext cx="737648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10" name="path 710"/>
            <p:cNvSpPr/>
            <p:nvPr/>
          </p:nvSpPr>
          <p:spPr>
            <a:xfrm>
              <a:off x="208448" y="227168"/>
              <a:ext cx="301675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12" name="path 712"/>
            <p:cNvSpPr/>
            <p:nvPr/>
          </p:nvSpPr>
          <p:spPr>
            <a:xfrm>
              <a:off x="202148" y="220868"/>
              <a:ext cx="314275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group 100"/>
          <p:cNvGrpSpPr/>
          <p:nvPr/>
        </p:nvGrpSpPr>
        <p:grpSpPr>
          <a:xfrm rot="21600000">
            <a:off x="2589475" y="2515676"/>
            <a:ext cx="737647" cy="1176483"/>
            <a:chOff x="0" y="0"/>
            <a:chExt cx="737647" cy="1176483"/>
          </a:xfrm>
        </p:grpSpPr>
        <p:sp>
          <p:nvSpPr>
            <p:cNvPr id="714" name="path 714"/>
            <p:cNvSpPr/>
            <p:nvPr/>
          </p:nvSpPr>
          <p:spPr>
            <a:xfrm>
              <a:off x="0" y="0"/>
              <a:ext cx="737647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16" name="path 716"/>
            <p:cNvSpPr/>
            <p:nvPr/>
          </p:nvSpPr>
          <p:spPr>
            <a:xfrm>
              <a:off x="208080" y="227168"/>
              <a:ext cx="301688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18" name="path 718"/>
            <p:cNvSpPr/>
            <p:nvPr/>
          </p:nvSpPr>
          <p:spPr>
            <a:xfrm>
              <a:off x="201780" y="220868"/>
              <a:ext cx="314288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2" name="group 102"/>
          <p:cNvGrpSpPr/>
          <p:nvPr/>
        </p:nvGrpSpPr>
        <p:grpSpPr>
          <a:xfrm rot="21600000">
            <a:off x="1693084" y="2515676"/>
            <a:ext cx="737635" cy="1176483"/>
            <a:chOff x="0" y="0"/>
            <a:chExt cx="737635" cy="1176483"/>
          </a:xfrm>
        </p:grpSpPr>
        <p:sp>
          <p:nvSpPr>
            <p:cNvPr id="720" name="path 720"/>
            <p:cNvSpPr/>
            <p:nvPr/>
          </p:nvSpPr>
          <p:spPr>
            <a:xfrm>
              <a:off x="0" y="0"/>
              <a:ext cx="737635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2" name="path 722"/>
            <p:cNvSpPr/>
            <p:nvPr/>
          </p:nvSpPr>
          <p:spPr>
            <a:xfrm>
              <a:off x="208435" y="227168"/>
              <a:ext cx="301675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4" name="path 724"/>
            <p:cNvSpPr/>
            <p:nvPr/>
          </p:nvSpPr>
          <p:spPr>
            <a:xfrm>
              <a:off x="202135" y="220868"/>
              <a:ext cx="314275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4" name="group 104"/>
          <p:cNvGrpSpPr/>
          <p:nvPr/>
        </p:nvGrpSpPr>
        <p:grpSpPr>
          <a:xfrm rot="21600000">
            <a:off x="3485524" y="2515676"/>
            <a:ext cx="737635" cy="1176483"/>
            <a:chOff x="0" y="0"/>
            <a:chExt cx="737635" cy="1176483"/>
          </a:xfrm>
        </p:grpSpPr>
        <p:sp>
          <p:nvSpPr>
            <p:cNvPr id="726" name="path 726"/>
            <p:cNvSpPr/>
            <p:nvPr/>
          </p:nvSpPr>
          <p:spPr>
            <a:xfrm>
              <a:off x="0" y="0"/>
              <a:ext cx="737635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8" name="path 728"/>
            <p:cNvSpPr/>
            <p:nvPr/>
          </p:nvSpPr>
          <p:spPr>
            <a:xfrm>
              <a:off x="208435" y="227168"/>
              <a:ext cx="301676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0" name="path 730"/>
            <p:cNvSpPr/>
            <p:nvPr/>
          </p:nvSpPr>
          <p:spPr>
            <a:xfrm>
              <a:off x="202135" y="220868"/>
              <a:ext cx="314276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6" name="group 106"/>
          <p:cNvGrpSpPr/>
          <p:nvPr/>
        </p:nvGrpSpPr>
        <p:grpSpPr>
          <a:xfrm rot="21600000">
            <a:off x="5277595" y="2515676"/>
            <a:ext cx="737648" cy="1176483"/>
            <a:chOff x="0" y="0"/>
            <a:chExt cx="737648" cy="1176483"/>
          </a:xfrm>
        </p:grpSpPr>
        <p:sp>
          <p:nvSpPr>
            <p:cNvPr id="732" name="path 732"/>
            <p:cNvSpPr/>
            <p:nvPr/>
          </p:nvSpPr>
          <p:spPr>
            <a:xfrm>
              <a:off x="0" y="0"/>
              <a:ext cx="737648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4" name="path 734"/>
            <p:cNvSpPr/>
            <p:nvPr/>
          </p:nvSpPr>
          <p:spPr>
            <a:xfrm>
              <a:off x="208448" y="227168"/>
              <a:ext cx="301675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6" name="path 736"/>
            <p:cNvSpPr/>
            <p:nvPr/>
          </p:nvSpPr>
          <p:spPr>
            <a:xfrm>
              <a:off x="202148" y="220868"/>
              <a:ext cx="314275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8" name="group 108"/>
          <p:cNvGrpSpPr/>
          <p:nvPr/>
        </p:nvGrpSpPr>
        <p:grpSpPr>
          <a:xfrm rot="21600000">
            <a:off x="4381560" y="2515676"/>
            <a:ext cx="737635" cy="1176483"/>
            <a:chOff x="0" y="0"/>
            <a:chExt cx="737635" cy="1176483"/>
          </a:xfrm>
        </p:grpSpPr>
        <p:sp>
          <p:nvSpPr>
            <p:cNvPr id="738" name="path 738"/>
            <p:cNvSpPr/>
            <p:nvPr/>
          </p:nvSpPr>
          <p:spPr>
            <a:xfrm>
              <a:off x="0" y="0"/>
              <a:ext cx="737635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0" name="path 740"/>
            <p:cNvSpPr/>
            <p:nvPr/>
          </p:nvSpPr>
          <p:spPr>
            <a:xfrm>
              <a:off x="208435" y="227168"/>
              <a:ext cx="301688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2" name="path 742"/>
            <p:cNvSpPr/>
            <p:nvPr/>
          </p:nvSpPr>
          <p:spPr>
            <a:xfrm>
              <a:off x="202135" y="220868"/>
              <a:ext cx="314288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group 110"/>
          <p:cNvGrpSpPr/>
          <p:nvPr/>
        </p:nvGrpSpPr>
        <p:grpSpPr>
          <a:xfrm rot="21600000">
            <a:off x="6173644" y="2515676"/>
            <a:ext cx="737635" cy="1176483"/>
            <a:chOff x="0" y="0"/>
            <a:chExt cx="737635" cy="1176483"/>
          </a:xfrm>
        </p:grpSpPr>
        <p:sp>
          <p:nvSpPr>
            <p:cNvPr id="744" name="path 744"/>
            <p:cNvSpPr/>
            <p:nvPr/>
          </p:nvSpPr>
          <p:spPr>
            <a:xfrm>
              <a:off x="0" y="0"/>
              <a:ext cx="737635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6" name="path 746"/>
            <p:cNvSpPr/>
            <p:nvPr/>
          </p:nvSpPr>
          <p:spPr>
            <a:xfrm>
              <a:off x="208435" y="227168"/>
              <a:ext cx="301676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8" name="path 748"/>
            <p:cNvSpPr/>
            <p:nvPr/>
          </p:nvSpPr>
          <p:spPr>
            <a:xfrm>
              <a:off x="202135" y="220868"/>
              <a:ext cx="314275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group 112"/>
          <p:cNvGrpSpPr/>
          <p:nvPr/>
        </p:nvGrpSpPr>
        <p:grpSpPr>
          <a:xfrm rot="21600000">
            <a:off x="7070035" y="2515676"/>
            <a:ext cx="737647" cy="1176483"/>
            <a:chOff x="0" y="0"/>
            <a:chExt cx="737647" cy="1176483"/>
          </a:xfrm>
        </p:grpSpPr>
        <p:sp>
          <p:nvSpPr>
            <p:cNvPr id="750" name="path 750"/>
            <p:cNvSpPr/>
            <p:nvPr/>
          </p:nvSpPr>
          <p:spPr>
            <a:xfrm>
              <a:off x="0" y="0"/>
              <a:ext cx="737647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2" name="path 752"/>
            <p:cNvSpPr/>
            <p:nvPr/>
          </p:nvSpPr>
          <p:spPr>
            <a:xfrm>
              <a:off x="208080" y="227168"/>
              <a:ext cx="301688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4" name="path 754"/>
            <p:cNvSpPr/>
            <p:nvPr/>
          </p:nvSpPr>
          <p:spPr>
            <a:xfrm>
              <a:off x="201780" y="220868"/>
              <a:ext cx="314287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4" name="group 114"/>
          <p:cNvGrpSpPr/>
          <p:nvPr/>
        </p:nvGrpSpPr>
        <p:grpSpPr>
          <a:xfrm rot="21600000">
            <a:off x="7966083" y="2515676"/>
            <a:ext cx="737637" cy="1176483"/>
            <a:chOff x="0" y="0"/>
            <a:chExt cx="737637" cy="1176483"/>
          </a:xfrm>
        </p:grpSpPr>
        <p:sp>
          <p:nvSpPr>
            <p:cNvPr id="756" name="path 756"/>
            <p:cNvSpPr/>
            <p:nvPr/>
          </p:nvSpPr>
          <p:spPr>
            <a:xfrm>
              <a:off x="0" y="0"/>
              <a:ext cx="737637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8" name="path 758"/>
            <p:cNvSpPr/>
            <p:nvPr/>
          </p:nvSpPr>
          <p:spPr>
            <a:xfrm>
              <a:off x="208436" y="227168"/>
              <a:ext cx="301676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0" name="path 760"/>
            <p:cNvSpPr/>
            <p:nvPr/>
          </p:nvSpPr>
          <p:spPr>
            <a:xfrm>
              <a:off x="202136" y="220868"/>
              <a:ext cx="314276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6" name="group 116"/>
          <p:cNvGrpSpPr/>
          <p:nvPr/>
        </p:nvGrpSpPr>
        <p:grpSpPr>
          <a:xfrm rot="21600000">
            <a:off x="8862120" y="2515676"/>
            <a:ext cx="737635" cy="1176483"/>
            <a:chOff x="0" y="0"/>
            <a:chExt cx="737635" cy="1176483"/>
          </a:xfrm>
        </p:grpSpPr>
        <p:sp>
          <p:nvSpPr>
            <p:cNvPr id="762" name="path 762"/>
            <p:cNvSpPr/>
            <p:nvPr/>
          </p:nvSpPr>
          <p:spPr>
            <a:xfrm>
              <a:off x="0" y="0"/>
              <a:ext cx="737635" cy="1176483"/>
            </a:xfrm>
            <a:custGeom>
              <a:avLst/>
              <a:gdLst/>
              <a:ahLst/>
              <a:cxnLst/>
              <a:rect l="0" t="0" r="0" b="0"/>
              <a:pathLst>
                <a:path w="1161" h="1852">
                  <a:moveTo>
                    <a:pt x="11" y="155"/>
                  </a:moveTo>
                  <a:lnTo>
                    <a:pt x="11" y="155"/>
                  </a:lnTo>
                  <a:cubicBezTo>
                    <a:pt x="11" y="130"/>
                    <a:pt x="18" y="106"/>
                    <a:pt x="31" y="83"/>
                  </a:cubicBezTo>
                  <a:cubicBezTo>
                    <a:pt x="43" y="61"/>
                    <a:pt x="61" y="43"/>
                    <a:pt x="83" y="31"/>
                  </a:cubicBezTo>
                  <a:cubicBezTo>
                    <a:pt x="106" y="18"/>
                    <a:pt x="130" y="11"/>
                    <a:pt x="155" y="11"/>
                  </a:cubicBezTo>
                  <a:lnTo>
                    <a:pt x="1005" y="11"/>
                  </a:lnTo>
                  <a:lnTo>
                    <a:pt x="1005" y="11"/>
                  </a:lnTo>
                  <a:cubicBezTo>
                    <a:pt x="1030" y="11"/>
                    <a:pt x="1055" y="18"/>
                    <a:pt x="1077" y="31"/>
                  </a:cubicBezTo>
                  <a:cubicBezTo>
                    <a:pt x="1099" y="43"/>
                    <a:pt x="1117" y="61"/>
                    <a:pt x="1129" y="83"/>
                  </a:cubicBezTo>
                  <a:cubicBezTo>
                    <a:pt x="1142" y="106"/>
                    <a:pt x="1149" y="130"/>
                    <a:pt x="1149" y="155"/>
                  </a:cubicBezTo>
                  <a:lnTo>
                    <a:pt x="1149" y="155"/>
                  </a:lnTo>
                  <a:lnTo>
                    <a:pt x="1149" y="1696"/>
                  </a:lnTo>
                  <a:lnTo>
                    <a:pt x="1149" y="1696"/>
                  </a:lnTo>
                  <a:cubicBezTo>
                    <a:pt x="1149" y="1721"/>
                    <a:pt x="1142" y="1746"/>
                    <a:pt x="1130" y="1768"/>
                  </a:cubicBezTo>
                  <a:cubicBezTo>
                    <a:pt x="1117" y="1790"/>
                    <a:pt x="1099" y="1808"/>
                    <a:pt x="1077" y="1820"/>
                  </a:cubicBezTo>
                  <a:cubicBezTo>
                    <a:pt x="1055" y="1833"/>
                    <a:pt x="1031" y="1840"/>
                    <a:pt x="1005" y="1840"/>
                  </a:cubicBezTo>
                  <a:lnTo>
                    <a:pt x="155" y="1840"/>
                  </a:lnTo>
                  <a:lnTo>
                    <a:pt x="155" y="1840"/>
                  </a:lnTo>
                  <a:cubicBezTo>
                    <a:pt x="130" y="1840"/>
                    <a:pt x="106" y="1834"/>
                    <a:pt x="83" y="1821"/>
                  </a:cubicBezTo>
                  <a:cubicBezTo>
                    <a:pt x="61" y="1809"/>
                    <a:pt x="43" y="1790"/>
                    <a:pt x="31" y="1768"/>
                  </a:cubicBezTo>
                  <a:cubicBezTo>
                    <a:pt x="18" y="1746"/>
                    <a:pt x="11" y="1722"/>
                    <a:pt x="11" y="1696"/>
                  </a:cubicBezTo>
                  <a:lnTo>
                    <a:pt x="11" y="155"/>
                  </a:lnTo>
                  <a:close/>
                </a:path>
              </a:pathLst>
            </a:custGeom>
            <a:noFill/>
            <a:ln w="15119" cap="flat">
              <a:solidFill>
                <a:srgbClr val="BED1E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4" name="path 764"/>
            <p:cNvSpPr/>
            <p:nvPr/>
          </p:nvSpPr>
          <p:spPr>
            <a:xfrm>
              <a:off x="208436" y="227168"/>
              <a:ext cx="301688" cy="301675"/>
            </a:xfrm>
            <a:custGeom>
              <a:avLst/>
              <a:gdLst/>
              <a:ahLst/>
              <a:cxnLst/>
              <a:rect l="0" t="0" r="0" b="0"/>
              <a:pathLst>
                <a:path w="475" h="475">
                  <a:moveTo>
                    <a:pt x="0" y="237"/>
                  </a:moveTo>
                  <a:lnTo>
                    <a:pt x="0" y="237"/>
                  </a:lnTo>
                  <a:cubicBezTo>
                    <a:pt x="0" y="195"/>
                    <a:pt x="10" y="154"/>
                    <a:pt x="31" y="119"/>
                  </a:cubicBezTo>
                  <a:cubicBezTo>
                    <a:pt x="52" y="82"/>
                    <a:pt x="82" y="52"/>
                    <a:pt x="119" y="31"/>
                  </a:cubicBezTo>
                  <a:cubicBezTo>
                    <a:pt x="154" y="10"/>
                    <a:pt x="195" y="0"/>
                    <a:pt x="237" y="0"/>
                  </a:cubicBezTo>
                  <a:lnTo>
                    <a:pt x="237" y="0"/>
                  </a:lnTo>
                  <a:cubicBezTo>
                    <a:pt x="279" y="0"/>
                    <a:pt x="320" y="10"/>
                    <a:pt x="356" y="31"/>
                  </a:cubicBezTo>
                  <a:cubicBezTo>
                    <a:pt x="392" y="52"/>
                    <a:pt x="422" y="82"/>
                    <a:pt x="443" y="119"/>
                  </a:cubicBezTo>
                  <a:cubicBezTo>
                    <a:pt x="464" y="154"/>
                    <a:pt x="475" y="195"/>
                    <a:pt x="475" y="237"/>
                  </a:cubicBezTo>
                  <a:lnTo>
                    <a:pt x="475" y="237"/>
                  </a:lnTo>
                  <a:lnTo>
                    <a:pt x="475" y="237"/>
                  </a:lnTo>
                  <a:cubicBezTo>
                    <a:pt x="475" y="279"/>
                    <a:pt x="464" y="320"/>
                    <a:pt x="443" y="356"/>
                  </a:cubicBezTo>
                  <a:cubicBezTo>
                    <a:pt x="422" y="392"/>
                    <a:pt x="392" y="422"/>
                    <a:pt x="356" y="443"/>
                  </a:cubicBezTo>
                  <a:cubicBezTo>
                    <a:pt x="320" y="464"/>
                    <a:pt x="279" y="475"/>
                    <a:pt x="237" y="475"/>
                  </a:cubicBezTo>
                  <a:lnTo>
                    <a:pt x="237" y="475"/>
                  </a:lnTo>
                  <a:cubicBezTo>
                    <a:pt x="195" y="475"/>
                    <a:pt x="154" y="464"/>
                    <a:pt x="119" y="443"/>
                  </a:cubicBezTo>
                  <a:cubicBezTo>
                    <a:pt x="82" y="422"/>
                    <a:pt x="52" y="392"/>
                    <a:pt x="31" y="356"/>
                  </a:cubicBezTo>
                  <a:cubicBezTo>
                    <a:pt x="10" y="320"/>
                    <a:pt x="0" y="279"/>
                    <a:pt x="0" y="237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6" name="path 766"/>
            <p:cNvSpPr/>
            <p:nvPr/>
          </p:nvSpPr>
          <p:spPr>
            <a:xfrm>
              <a:off x="202136" y="220868"/>
              <a:ext cx="314287" cy="314275"/>
            </a:xfrm>
            <a:custGeom>
              <a:avLst/>
              <a:gdLst/>
              <a:ahLst/>
              <a:cxnLst/>
              <a:rect l="0" t="0" r="0" b="0"/>
              <a:pathLst>
                <a:path w="494" h="494">
                  <a:moveTo>
                    <a:pt x="9" y="247"/>
                  </a:moveTo>
                  <a:lnTo>
                    <a:pt x="9" y="247"/>
                  </a:lnTo>
                  <a:cubicBezTo>
                    <a:pt x="9" y="205"/>
                    <a:pt x="20" y="164"/>
                    <a:pt x="41" y="128"/>
                  </a:cubicBezTo>
                  <a:cubicBezTo>
                    <a:pt x="62" y="92"/>
                    <a:pt x="92" y="62"/>
                    <a:pt x="128" y="41"/>
                  </a:cubicBezTo>
                  <a:cubicBezTo>
                    <a:pt x="164" y="20"/>
                    <a:pt x="205" y="9"/>
                    <a:pt x="247" y="9"/>
                  </a:cubicBezTo>
                  <a:lnTo>
                    <a:pt x="247" y="9"/>
                  </a:lnTo>
                  <a:cubicBezTo>
                    <a:pt x="289" y="9"/>
                    <a:pt x="330" y="20"/>
                    <a:pt x="366" y="41"/>
                  </a:cubicBezTo>
                  <a:cubicBezTo>
                    <a:pt x="402" y="62"/>
                    <a:pt x="432" y="92"/>
                    <a:pt x="453" y="128"/>
                  </a:cubicBezTo>
                  <a:cubicBezTo>
                    <a:pt x="474" y="164"/>
                    <a:pt x="485" y="205"/>
                    <a:pt x="485" y="247"/>
                  </a:cubicBezTo>
                  <a:lnTo>
                    <a:pt x="485" y="247"/>
                  </a:lnTo>
                  <a:lnTo>
                    <a:pt x="485" y="247"/>
                  </a:lnTo>
                  <a:cubicBezTo>
                    <a:pt x="485" y="289"/>
                    <a:pt x="474" y="330"/>
                    <a:pt x="453" y="366"/>
                  </a:cubicBezTo>
                  <a:cubicBezTo>
                    <a:pt x="432" y="402"/>
                    <a:pt x="402" y="432"/>
                    <a:pt x="366" y="453"/>
                  </a:cubicBezTo>
                  <a:cubicBezTo>
                    <a:pt x="330" y="474"/>
                    <a:pt x="289" y="485"/>
                    <a:pt x="247" y="485"/>
                  </a:cubicBezTo>
                  <a:lnTo>
                    <a:pt x="247" y="485"/>
                  </a:lnTo>
                  <a:cubicBezTo>
                    <a:pt x="205" y="485"/>
                    <a:pt x="164" y="474"/>
                    <a:pt x="128" y="453"/>
                  </a:cubicBezTo>
                  <a:cubicBezTo>
                    <a:pt x="92" y="432"/>
                    <a:pt x="62" y="402"/>
                    <a:pt x="41" y="366"/>
                  </a:cubicBezTo>
                  <a:cubicBezTo>
                    <a:pt x="20" y="330"/>
                    <a:pt x="9" y="289"/>
                    <a:pt x="9" y="247"/>
                  </a:cubicBezTo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768" name="table 768"/>
          <p:cNvGraphicFramePr>
            <a:graphicFrameLocks noGrp="1"/>
          </p:cNvGraphicFramePr>
          <p:nvPr/>
        </p:nvGraphicFramePr>
        <p:xfrm>
          <a:off x="440464" y="1556096"/>
          <a:ext cx="11261090" cy="2857498"/>
        </p:xfrm>
        <a:graphic>
          <a:graphicData uri="http://schemas.openxmlformats.org/drawingml/2006/table">
            <a:tbl>
              <a:tblPr/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743584">
                <a:tc gridSpan="1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254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每一个图标代表一场独立计</a:t>
                      </a:r>
                      <a:r>
                        <a:rPr sz="16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数的基准暴雨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39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765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809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06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07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✓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759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0" name="table 770"/>
          <p:cNvGraphicFramePr>
            <a:graphicFrameLocks noGrp="1"/>
          </p:cNvGraphicFramePr>
          <p:nvPr/>
        </p:nvGraphicFramePr>
        <p:xfrm>
          <a:off x="449456" y="4683064"/>
          <a:ext cx="5473064" cy="1421130"/>
        </p:xfrm>
        <a:graphic>
          <a:graphicData uri="http://schemas.openxmlformats.org/drawingml/2006/table">
            <a:tbl>
              <a:tblPr/>
              <a:tblGrid>
                <a:gridCol w="5473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21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706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1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相较</a:t>
                      </a:r>
                      <a:r>
                        <a:rPr sz="1600" kern="0" spc="3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Internal</a:t>
                      </a:r>
                      <a:r>
                        <a:rPr sz="1600" kern="0" spc="1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RTC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5060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200" b="1" kern="0" spc="3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每场减少</a:t>
                      </a:r>
                      <a:r>
                        <a:rPr sz="2200" b="1" kern="0" spc="47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200" b="1" kern="0" spc="3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9.08%–27.65%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2" name="table 772"/>
          <p:cNvGraphicFramePr>
            <a:graphicFrameLocks noGrp="1"/>
          </p:cNvGraphicFramePr>
          <p:nvPr/>
        </p:nvGraphicFramePr>
        <p:xfrm>
          <a:off x="6246904" y="4683064"/>
          <a:ext cx="5463540" cy="1421130"/>
        </p:xfrm>
        <a:graphic>
          <a:graphicData uri="http://schemas.openxmlformats.org/drawingml/2006/table">
            <a:tbl>
              <a:tblPr/>
              <a:tblGrid>
                <a:gridCol w="546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21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0994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相较最强对照</a:t>
                      </a:r>
                      <a:r>
                        <a:rPr sz="1600" kern="0" spc="2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</a:t>
                      </a:r>
                      <a:r>
                        <a:rPr sz="16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6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RBC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935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b="1" kern="0" spc="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每场进一步减少</a:t>
                      </a:r>
                      <a:r>
                        <a:rPr sz="2000" b="1" kern="0" spc="46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1.36%–3.86%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8" name="group 118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774" name="rect 774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76" name="textbox 776"/>
            <p:cNvSpPr/>
            <p:nvPr/>
          </p:nvSpPr>
          <p:spPr>
            <a:xfrm>
              <a:off x="275956" y="148818"/>
              <a:ext cx="5306059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结果③：改善并非来自少数强降雨事件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778" name="picture 7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sp>
        <p:nvSpPr>
          <p:cNvPr id="780" name="rect 780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2" name="textbox 782"/>
          <p:cNvSpPr/>
          <p:nvPr/>
        </p:nvSpPr>
        <p:spPr>
          <a:xfrm>
            <a:off x="386900" y="967348"/>
            <a:ext cx="6003925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229234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跨雨型一致性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1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场回顾性基准暴雨中均实现较低累计积水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92" name="picture 7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6" name="table 796"/>
          <p:cNvGraphicFramePr>
            <a:graphicFrameLocks noGrp="1"/>
          </p:cNvGraphicFramePr>
          <p:nvPr/>
        </p:nvGraphicFramePr>
        <p:xfrm>
          <a:off x="5287140" y="1501384"/>
          <a:ext cx="6433184" cy="4485640"/>
        </p:xfrm>
        <a:graphic>
          <a:graphicData uri="http://schemas.openxmlformats.org/drawingml/2006/table">
            <a:tbl>
              <a:tblPr/>
              <a:tblGrid>
                <a:gridCol w="171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5510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29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不同上游深度压力区间的</a:t>
                      </a:r>
                      <a:r>
                        <a:rPr sz="1700" b="1" kern="0" spc="-10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ACTION </a:t>
                      </a: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</a:t>
                      </a: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32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328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0–0.2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05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0.4–0.6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69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0.6–0.8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69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0.8–1.0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900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最高压力</a:t>
                      </a:r>
                      <a:r>
                        <a:rPr sz="1100" b="1" kern="0" spc="2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b="1" kern="0" spc="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0.8–1.</a:t>
                      </a:r>
                      <a:r>
                        <a:rPr sz="11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 </a:t>
                      </a:r>
                      <a:r>
                        <a:rPr sz="11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区间，</a:t>
                      </a:r>
                      <a:r>
                        <a:rPr sz="1100" b="1" kern="0" spc="-1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反而只有 </a:t>
                      </a:r>
                      <a:r>
                        <a:rPr sz="11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30.1% </a:t>
                      </a:r>
                      <a:r>
                        <a:rPr sz="11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选择改变目标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98" name="table 798"/>
          <p:cNvGraphicFramePr>
            <a:graphicFrameLocks noGrp="1"/>
          </p:cNvGraphicFramePr>
          <p:nvPr/>
        </p:nvGraphicFramePr>
        <p:xfrm>
          <a:off x="422100" y="1501384"/>
          <a:ext cx="4650105" cy="4485640"/>
        </p:xfrm>
        <a:graphic>
          <a:graphicData uri="http://schemas.openxmlformats.org/drawingml/2006/table">
            <a:tbl>
              <a:tblPr/>
              <a:tblGrid>
                <a:gridCol w="232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211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8919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b="1" kern="0" spc="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770 </a:t>
                      </a:r>
                      <a:r>
                        <a:rPr sz="1800" b="1" kern="0" spc="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次滚动决策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9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593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500" b="1" kern="0" spc="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32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49.2% ·</a:t>
                      </a:r>
                      <a:r>
                        <a:rPr sz="1800" b="1" kern="0" spc="10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1" kern="0" spc="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379 </a:t>
                      </a:r>
                      <a:r>
                        <a:rPr sz="1800" b="1" kern="0" spc="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667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500" b="1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067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50.8% ·</a:t>
                      </a:r>
                      <a:r>
                        <a:rPr sz="1800" b="1" kern="0" spc="6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1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391</a:t>
                      </a:r>
                      <a:r>
                        <a:rPr sz="1800" b="1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1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45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3605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  <a:r>
                        <a:rPr sz="12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表示不更改目标，不等于设施</a:t>
                      </a:r>
                      <a:r>
                        <a:rPr sz="12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2" name="group 122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800" name="rect 800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2" name="textbox 802"/>
            <p:cNvSpPr/>
            <p:nvPr/>
          </p:nvSpPr>
          <p:spPr>
            <a:xfrm>
              <a:off x="275956" y="148818"/>
              <a:ext cx="5891529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0000"/>
                </a:lnSpc>
                <a:tabLst/>
              </a:pPr>
              <a:r>
                <a:rPr sz="24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结果④：最优控制并非</a:t>
              </a:r>
              <a:r>
                <a:rPr sz="2400" b="1" kern="0" spc="-5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“越频繁干预越好</a:t>
              </a:r>
              <a:r>
                <a:rPr sz="24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”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804" name="picture 80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sp>
        <p:nvSpPr>
          <p:cNvPr id="806" name="rect 806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8" name="textbox 808"/>
          <p:cNvSpPr/>
          <p:nvPr/>
        </p:nvSpPr>
        <p:spPr>
          <a:xfrm>
            <a:off x="386900" y="967348"/>
            <a:ext cx="8371205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229234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5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状态依赖仲裁</a:t>
            </a:r>
            <a:r>
              <a:rPr sz="11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8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</a:t>
            </a:r>
            <a:r>
              <a:rPr sz="1800" b="1" kern="0" spc="5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5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 </a:t>
            </a:r>
            <a:r>
              <a:rPr sz="18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HOLD</a:t>
            </a:r>
            <a:r>
              <a:rPr sz="1800" b="1" kern="0" spc="5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5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共同构成决策，</a:t>
            </a:r>
            <a:r>
              <a:rPr sz="1800" b="1" kern="0" spc="-41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5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干预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频率随水力负荷非单调变化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0" name="rect 810"/>
          <p:cNvSpPr/>
          <p:nvPr/>
        </p:nvSpPr>
        <p:spPr>
          <a:xfrm>
            <a:off x="8640724" y="2788564"/>
            <a:ext cx="941400" cy="2048039"/>
          </a:xfrm>
          <a:prstGeom prst="rect">
            <a:avLst/>
          </a:prstGeom>
          <a:solidFill>
            <a:srgbClr val="EDF2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12" name="table 812"/>
          <p:cNvGraphicFramePr>
            <a:graphicFrameLocks noGrp="1"/>
          </p:cNvGraphicFramePr>
          <p:nvPr/>
        </p:nvGraphicFramePr>
        <p:xfrm>
          <a:off x="8634424" y="2714048"/>
          <a:ext cx="953769" cy="2128519"/>
        </p:xfrm>
        <a:graphic>
          <a:graphicData uri="http://schemas.openxmlformats.org/drawingml/2006/table">
            <a:tbl>
              <a:tblPr/>
              <a:tblGrid>
                <a:gridCol w="953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0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5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400" b="1" kern="0" spc="6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87.3%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C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14" name="table 814"/>
          <p:cNvGraphicFramePr>
            <a:graphicFrameLocks noGrp="1"/>
          </p:cNvGraphicFramePr>
          <p:nvPr/>
        </p:nvGraphicFramePr>
        <p:xfrm>
          <a:off x="5818135" y="2782264"/>
          <a:ext cx="953769" cy="2060574"/>
        </p:xfrm>
        <a:graphic>
          <a:graphicData uri="http://schemas.openxmlformats.org/drawingml/2006/table">
            <a:tbl>
              <a:tblPr>
                <a:solidFill>
                  <a:srgbClr val="EDF2F8"/>
                </a:solidFill>
              </a:tblPr>
              <a:tblGrid>
                <a:gridCol w="953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96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7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40.4%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2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5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16" name="table 816"/>
          <p:cNvGraphicFramePr>
            <a:graphicFrameLocks noGrp="1"/>
          </p:cNvGraphicFramePr>
          <p:nvPr/>
        </p:nvGraphicFramePr>
        <p:xfrm>
          <a:off x="10042740" y="2782264"/>
          <a:ext cx="953769" cy="2060575"/>
        </p:xfrm>
        <a:graphic>
          <a:graphicData uri="http://schemas.openxmlformats.org/drawingml/2006/table">
            <a:tbl>
              <a:tblPr>
                <a:solidFill>
                  <a:srgbClr val="EDF2F8"/>
                </a:solidFill>
              </a:tblPr>
              <a:tblGrid>
                <a:gridCol w="953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7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30.1%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5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18" name="table 818"/>
          <p:cNvGraphicFramePr>
            <a:graphicFrameLocks noGrp="1"/>
          </p:cNvGraphicFramePr>
          <p:nvPr/>
        </p:nvGraphicFramePr>
        <p:xfrm>
          <a:off x="7226096" y="2782264"/>
          <a:ext cx="953769" cy="2060574"/>
        </p:xfrm>
        <a:graphic>
          <a:graphicData uri="http://schemas.openxmlformats.org/drawingml/2006/table">
            <a:tbl>
              <a:tblPr>
                <a:solidFill>
                  <a:srgbClr val="EDF2F8"/>
                </a:solidFill>
              </a:tblPr>
              <a:tblGrid>
                <a:gridCol w="953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82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36.4%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5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0" name="rect 820"/>
          <p:cNvSpPr/>
          <p:nvPr/>
        </p:nvSpPr>
        <p:spPr>
          <a:xfrm>
            <a:off x="795235" y="2468524"/>
            <a:ext cx="3867480" cy="484199"/>
          </a:xfrm>
          <a:prstGeom prst="rect">
            <a:avLst/>
          </a:prstGeom>
          <a:solidFill>
            <a:srgbClr val="EAF0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22" name="table 822"/>
          <p:cNvGraphicFramePr>
            <a:graphicFrameLocks noGrp="1"/>
          </p:cNvGraphicFramePr>
          <p:nvPr/>
        </p:nvGraphicFramePr>
        <p:xfrm>
          <a:off x="788935" y="2462224"/>
          <a:ext cx="3879849" cy="496569"/>
        </p:xfrm>
        <a:graphic>
          <a:graphicData uri="http://schemas.openxmlformats.org/drawingml/2006/table">
            <a:tbl>
              <a:tblPr/>
              <a:tblGrid>
                <a:gridCol w="190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5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AF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5A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78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32" name="picture 8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sp>
        <p:nvSpPr>
          <p:cNvPr id="836" name="path 836"/>
          <p:cNvSpPr/>
          <p:nvPr/>
        </p:nvSpPr>
        <p:spPr>
          <a:xfrm>
            <a:off x="11667785" y="5934421"/>
            <a:ext cx="42474" cy="42474"/>
          </a:xfrm>
          <a:custGeom>
            <a:avLst/>
            <a:gdLst/>
            <a:ahLst/>
            <a:cxnLst/>
            <a:rect l="0" t="0" r="0" b="0"/>
            <a:pathLst>
              <a:path w="66" h="66">
                <a:moveTo>
                  <a:pt x="55" y="11"/>
                </a:moveTo>
                <a:cubicBezTo>
                  <a:pt x="45" y="29"/>
                  <a:pt x="29" y="45"/>
                  <a:pt x="11" y="55"/>
                </a:cubicBezTo>
              </a:path>
            </a:pathLst>
          </a:custGeom>
          <a:noFill/>
          <a:ln w="14039" cap="flat">
            <a:solidFill>
              <a:srgbClr val="D5DCE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8" name="table 838"/>
          <p:cNvGraphicFramePr>
            <a:graphicFrameLocks noGrp="1"/>
          </p:cNvGraphicFramePr>
          <p:nvPr/>
        </p:nvGraphicFramePr>
        <p:xfrm>
          <a:off x="440464" y="1519736"/>
          <a:ext cx="5957570" cy="4521200"/>
        </p:xfrm>
        <a:graphic>
          <a:graphicData uri="http://schemas.openxmlformats.org/drawingml/2006/table">
            <a:tbl>
              <a:tblPr/>
              <a:tblGrid>
                <a:gridCol w="595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8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ACTION </a:t>
                      </a:r>
                      <a:r>
                        <a:rPr sz="18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决策中的候选来源构成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86045" algn="l" rtl="0" eaLnBrk="0">
                        <a:lnSpc>
                          <a:spcPct val="85000"/>
                        </a:lnSpc>
                        <a:spcBef>
                          <a:spcPts val="309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163 </a:t>
                      </a: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86045" algn="l" rtl="0" eaLnBrk="0">
                        <a:lnSpc>
                          <a:spcPct val="85000"/>
                        </a:lnSpc>
                        <a:spcBef>
                          <a:spcPts val="300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116 </a:t>
                      </a: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54625" algn="l" rtl="0" eaLnBrk="0">
                        <a:lnSpc>
                          <a:spcPct val="85000"/>
                        </a:lnSpc>
                        <a:spcBef>
                          <a:spcPts val="30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81 </a:t>
                      </a: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87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规则经验候选       </a:t>
                      </a:r>
                      <a:r>
                        <a:rPr sz="12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                                                              </a:t>
                      </a:r>
                      <a:r>
                        <a:rPr sz="1200" b="1" kern="0" spc="10" dirty="0">
                          <a:solidFill>
                            <a:srgbClr val="785E9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5.0%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59704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 </a:t>
                      </a:r>
                      <a:r>
                        <a:rPr sz="1000" kern="0" spc="-1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6" name="group 126"/>
          <p:cNvGrpSpPr/>
          <p:nvPr/>
        </p:nvGrpSpPr>
        <p:grpSpPr>
          <a:xfrm rot="21600000">
            <a:off x="2932969" y="4809235"/>
            <a:ext cx="2216163" cy="225539"/>
            <a:chOff x="0" y="0"/>
            <a:chExt cx="2216163" cy="225539"/>
          </a:xfrm>
        </p:grpSpPr>
        <p:sp>
          <p:nvSpPr>
            <p:cNvPr id="840" name="path 840"/>
            <p:cNvSpPr/>
            <p:nvPr/>
          </p:nvSpPr>
          <p:spPr>
            <a:xfrm>
              <a:off x="6668" y="0"/>
              <a:ext cx="2203195" cy="219240"/>
            </a:xfrm>
            <a:custGeom>
              <a:avLst/>
              <a:gdLst/>
              <a:ahLst/>
              <a:cxnLst/>
              <a:rect l="0" t="0" r="0" b="0"/>
              <a:pathLst>
                <a:path w="3469" h="345">
                  <a:moveTo>
                    <a:pt x="1734" y="345"/>
                  </a:moveTo>
                  <a:lnTo>
                    <a:pt x="0" y="345"/>
                  </a:lnTo>
                  <a:lnTo>
                    <a:pt x="0" y="0"/>
                  </a:lnTo>
                  <a:lnTo>
                    <a:pt x="3469" y="0"/>
                  </a:lnTo>
                  <a:lnTo>
                    <a:pt x="3469" y="345"/>
                  </a:lnTo>
                  <a:lnTo>
                    <a:pt x="1734" y="345"/>
                  </a:lnTo>
                  <a:close/>
                </a:path>
              </a:pathLst>
            </a:custGeom>
            <a:solidFill>
              <a:srgbClr val="EBF1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2" name="path 842"/>
            <p:cNvSpPr/>
            <p:nvPr/>
          </p:nvSpPr>
          <p:spPr>
            <a:xfrm>
              <a:off x="368" y="0"/>
              <a:ext cx="2215795" cy="225539"/>
            </a:xfrm>
            <a:custGeom>
              <a:avLst/>
              <a:gdLst/>
              <a:ahLst/>
              <a:cxnLst/>
              <a:rect l="0" t="0" r="0" b="0"/>
              <a:pathLst>
                <a:path w="3489" h="355">
                  <a:moveTo>
                    <a:pt x="1744" y="345"/>
                  </a:moveTo>
                  <a:lnTo>
                    <a:pt x="9" y="345"/>
                  </a:lnTo>
                  <a:lnTo>
                    <a:pt x="9" y="0"/>
                  </a:lnTo>
                  <a:moveTo>
                    <a:pt x="3479" y="0"/>
                  </a:moveTo>
                  <a:lnTo>
                    <a:pt x="3479" y="345"/>
                  </a:lnTo>
                  <a:lnTo>
                    <a:pt x="1744" y="345"/>
                  </a:lnTo>
                </a:path>
              </a:pathLst>
            </a:custGeom>
            <a:noFill/>
            <a:ln w="12599" cap="flat">
              <a:solidFill>
                <a:srgbClr val="EBF1F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4" name="path 844"/>
            <p:cNvSpPr/>
            <p:nvPr/>
          </p:nvSpPr>
          <p:spPr>
            <a:xfrm>
              <a:off x="6299" y="0"/>
              <a:ext cx="219963" cy="219240"/>
            </a:xfrm>
            <a:custGeom>
              <a:avLst/>
              <a:gdLst/>
              <a:ahLst/>
              <a:cxnLst/>
              <a:rect l="0" t="0" r="0" b="0"/>
              <a:pathLst>
                <a:path w="346" h="345">
                  <a:moveTo>
                    <a:pt x="173" y="345"/>
                  </a:moveTo>
                  <a:lnTo>
                    <a:pt x="0" y="345"/>
                  </a:lnTo>
                  <a:lnTo>
                    <a:pt x="0" y="0"/>
                  </a:lnTo>
                  <a:lnTo>
                    <a:pt x="346" y="0"/>
                  </a:lnTo>
                  <a:lnTo>
                    <a:pt x="346" y="345"/>
                  </a:lnTo>
                  <a:lnTo>
                    <a:pt x="173" y="345"/>
                  </a:lnTo>
                  <a:close/>
                </a:path>
              </a:pathLst>
            </a:custGeom>
            <a:solidFill>
              <a:srgbClr val="785E9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6" name="path 846"/>
            <p:cNvSpPr/>
            <p:nvPr/>
          </p:nvSpPr>
          <p:spPr>
            <a:xfrm>
              <a:off x="0" y="0"/>
              <a:ext cx="232563" cy="225539"/>
            </a:xfrm>
            <a:custGeom>
              <a:avLst/>
              <a:gdLst/>
              <a:ahLst/>
              <a:cxnLst/>
              <a:rect l="0" t="0" r="0" b="0"/>
              <a:pathLst>
                <a:path w="366" h="355">
                  <a:moveTo>
                    <a:pt x="183" y="345"/>
                  </a:moveTo>
                  <a:lnTo>
                    <a:pt x="9" y="345"/>
                  </a:lnTo>
                  <a:lnTo>
                    <a:pt x="9" y="0"/>
                  </a:lnTo>
                  <a:moveTo>
                    <a:pt x="356" y="0"/>
                  </a:moveTo>
                  <a:lnTo>
                    <a:pt x="356" y="345"/>
                  </a:lnTo>
                  <a:lnTo>
                    <a:pt x="183" y="345"/>
                  </a:lnTo>
                </a:path>
              </a:pathLst>
            </a:custGeom>
            <a:noFill/>
            <a:ln w="12599" cap="flat">
              <a:solidFill>
                <a:srgbClr val="785E9C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848" name="table 848"/>
          <p:cNvGraphicFramePr>
            <a:graphicFrameLocks noGrp="1"/>
          </p:cNvGraphicFramePr>
          <p:nvPr/>
        </p:nvGraphicFramePr>
        <p:xfrm>
          <a:off x="6603660" y="1519736"/>
          <a:ext cx="5116194" cy="4521200"/>
        </p:xfrm>
        <a:graphic>
          <a:graphicData uri="http://schemas.openxmlformats.org/drawingml/2006/table">
            <a:tbl>
              <a:tblPr/>
              <a:tblGrid>
                <a:gridCol w="5116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559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典型水力压力下的知识</a:t>
                      </a: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8" name="group 128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850" name="rect 850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2" name="textbox 852"/>
            <p:cNvSpPr/>
            <p:nvPr/>
          </p:nvSpPr>
          <p:spPr>
            <a:xfrm>
              <a:off x="275956" y="148818"/>
              <a:ext cx="6549390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结果⑤：控制知识的优先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级随运行水力状态切换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854" name="picture 8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sp>
        <p:nvSpPr>
          <p:cNvPr id="856" name="rect 856"/>
          <p:cNvSpPr/>
          <p:nvPr/>
        </p:nvSpPr>
        <p:spPr>
          <a:xfrm>
            <a:off x="2935084" y="2395436"/>
            <a:ext cx="2203195" cy="219239"/>
          </a:xfrm>
          <a:prstGeom prst="rect">
            <a:avLst/>
          </a:prstGeom>
          <a:solidFill>
            <a:srgbClr val="EBF1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8" name="rect 858"/>
          <p:cNvSpPr/>
          <p:nvPr/>
        </p:nvSpPr>
        <p:spPr>
          <a:xfrm>
            <a:off x="2934716" y="2395436"/>
            <a:ext cx="1894687" cy="219239"/>
          </a:xfrm>
          <a:prstGeom prst="rect">
            <a:avLst/>
          </a:prstGeom>
          <a:solidFill>
            <a:srgbClr val="2365A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0" name="rect 860"/>
          <p:cNvSpPr/>
          <p:nvPr/>
        </p:nvSpPr>
        <p:spPr>
          <a:xfrm>
            <a:off x="2935084" y="3200044"/>
            <a:ext cx="2203195" cy="219239"/>
          </a:xfrm>
          <a:prstGeom prst="rect">
            <a:avLst/>
          </a:prstGeom>
          <a:solidFill>
            <a:srgbClr val="EBF1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2" name="rect 862"/>
          <p:cNvSpPr/>
          <p:nvPr/>
        </p:nvSpPr>
        <p:spPr>
          <a:xfrm>
            <a:off x="2934716" y="3200044"/>
            <a:ext cx="1348206" cy="219239"/>
          </a:xfrm>
          <a:prstGeom prst="rect">
            <a:avLst/>
          </a:prstGeom>
          <a:solidFill>
            <a:srgbClr val="3BA1C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4" name="rect 864"/>
          <p:cNvSpPr/>
          <p:nvPr/>
        </p:nvSpPr>
        <p:spPr>
          <a:xfrm>
            <a:off x="2935084" y="4004640"/>
            <a:ext cx="2203195" cy="219240"/>
          </a:xfrm>
          <a:prstGeom prst="rect">
            <a:avLst/>
          </a:prstGeom>
          <a:solidFill>
            <a:srgbClr val="EBF1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6" name="rect 866"/>
          <p:cNvSpPr/>
          <p:nvPr/>
        </p:nvSpPr>
        <p:spPr>
          <a:xfrm>
            <a:off x="2934716" y="4004640"/>
            <a:ext cx="942847" cy="219240"/>
          </a:xfrm>
          <a:prstGeom prst="rect">
            <a:avLst/>
          </a:prstGeom>
          <a:solidFill>
            <a:srgbClr val="218C9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68" name="table 868"/>
          <p:cNvGraphicFramePr>
            <a:graphicFrameLocks noGrp="1"/>
          </p:cNvGraphicFramePr>
          <p:nvPr/>
        </p:nvGraphicFramePr>
        <p:xfrm>
          <a:off x="2934716" y="2389136"/>
          <a:ext cx="2203450" cy="2426332"/>
        </p:xfrm>
        <a:graphic>
          <a:graphicData uri="http://schemas.openxmlformats.org/drawingml/2006/table">
            <a:tbl>
              <a:tblPr/>
              <a:tblGrid>
                <a:gridCol w="220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08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8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0" name="table 870"/>
          <p:cNvGraphicFramePr>
            <a:graphicFrameLocks noGrp="1"/>
          </p:cNvGraphicFramePr>
          <p:nvPr/>
        </p:nvGraphicFramePr>
        <p:xfrm>
          <a:off x="6915416" y="2362135"/>
          <a:ext cx="4474844" cy="826135"/>
        </p:xfrm>
        <a:graphic>
          <a:graphicData uri="http://schemas.openxmlformats.org/drawingml/2006/table">
            <a:tbl>
              <a:tblPr/>
              <a:tblGrid>
                <a:gridCol w="96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6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1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8435" algn="l" rtl="0" eaLnBrk="0">
                        <a:lnSpc>
                          <a:spcPct val="9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低压区间</a:t>
                      </a:r>
                      <a:r>
                        <a:rPr sz="1100" kern="0" spc="3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0–0.2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91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200" b="1" kern="0" spc="30" baseline="-7102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温和数据探针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         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600" b="1" kern="0" spc="0" baseline="13022" dirty="0">
                          <a:solidFill>
                            <a:srgbClr val="3BA1C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Probe</a:t>
                      </a:r>
                      <a:r>
                        <a:rPr sz="1600" b="1" kern="0" spc="30" baseline="13022" dirty="0">
                          <a:solidFill>
                            <a:srgbClr val="3BA1C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-0.5</a:t>
                      </a:r>
                      <a:r>
                        <a:rPr sz="1000" b="1" kern="0" spc="140" dirty="0">
                          <a:solidFill>
                            <a:srgbClr val="3BA1C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1" kern="0" spc="30" baseline="13022" dirty="0">
                          <a:solidFill>
                            <a:srgbClr val="3BA1C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</a:t>
                      </a:r>
                      <a:r>
                        <a:rPr sz="1000" b="1" kern="0" spc="30" dirty="0">
                          <a:solidFill>
                            <a:srgbClr val="3BA1C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600" b="1" kern="0" spc="30" baseline="13022" dirty="0">
                          <a:solidFill>
                            <a:srgbClr val="3BA1C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r>
                        <a:rPr sz="1600" b="1" kern="0" spc="20" baseline="13022" dirty="0">
                          <a:solidFill>
                            <a:srgbClr val="3BA1C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5.3%</a:t>
                      </a:r>
                      <a:endParaRPr sz="1600" baseline="13022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3BA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2" name="table 872"/>
          <p:cNvGraphicFramePr>
            <a:graphicFrameLocks noGrp="1"/>
          </p:cNvGraphicFramePr>
          <p:nvPr/>
        </p:nvGraphicFramePr>
        <p:xfrm>
          <a:off x="6915416" y="3404335"/>
          <a:ext cx="4474844" cy="826135"/>
        </p:xfrm>
        <a:graphic>
          <a:graphicData uri="http://schemas.openxmlformats.org/drawingml/2006/table">
            <a:tbl>
              <a:tblPr/>
              <a:tblGrid>
                <a:gridCol w="96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6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5A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229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11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中压区间</a:t>
                      </a:r>
                      <a:r>
                        <a:rPr sz="1100" kern="0" spc="37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0.4–0.6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200" b="1" kern="0" spc="30" baseline="-7102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完整幅度探针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          </a:t>
                      </a:r>
                      <a:r>
                        <a:rPr sz="14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600" b="1" kern="0" spc="0" baseline="13022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Probe</a:t>
                      </a:r>
                      <a:r>
                        <a:rPr sz="1600" b="1" kern="0" spc="30" baseline="13022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-1.0</a:t>
                      </a:r>
                      <a:r>
                        <a:rPr sz="1000" b="1" kern="0" spc="14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1" kern="0" spc="30" baseline="13022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</a:t>
                      </a:r>
                      <a:r>
                        <a:rPr sz="1000" b="1" kern="0" spc="3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600" b="1" kern="0" spc="20" baseline="13022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78.4%</a:t>
                      </a:r>
                      <a:endParaRPr sz="1600" baseline="13022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4" name="table 874"/>
          <p:cNvGraphicFramePr>
            <a:graphicFrameLocks noGrp="1"/>
          </p:cNvGraphicFramePr>
          <p:nvPr/>
        </p:nvGraphicFramePr>
        <p:xfrm>
          <a:off x="6915416" y="4446904"/>
          <a:ext cx="4474844" cy="826135"/>
        </p:xfrm>
        <a:graphic>
          <a:graphicData uri="http://schemas.openxmlformats.org/drawingml/2006/table">
            <a:tbl>
              <a:tblPr/>
              <a:tblGrid>
                <a:gridCol w="96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6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C9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高压区间</a:t>
                      </a:r>
                      <a:r>
                        <a:rPr sz="1100" kern="0" spc="30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5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0.6–0.8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200" b="1" kern="0" spc="30" baseline="-7102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多个知识源并用</a:t>
                      </a:r>
                      <a:r>
                        <a:rPr sz="14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</a:t>
                      </a:r>
                      <a:r>
                        <a:rPr sz="14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</a:t>
                      </a:r>
                      <a:r>
                        <a:rPr sz="1600" b="1" kern="0" spc="30" baseline="13022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干预比率达到</a:t>
                      </a:r>
                      <a:r>
                        <a:rPr sz="1000" b="1" kern="0" spc="3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600" b="1" kern="0" spc="30" baseline="13022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87.3%</a:t>
                      </a:r>
                      <a:endParaRPr sz="1600" baseline="13022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6" name="rect 876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8" name="textbox 878"/>
          <p:cNvSpPr/>
          <p:nvPr/>
        </p:nvSpPr>
        <p:spPr>
          <a:xfrm>
            <a:off x="386900" y="967348"/>
            <a:ext cx="6927850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231775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异质知识竞争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379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次</a:t>
            </a:r>
            <a:r>
              <a:rPr sz="1800" b="1" kern="0" spc="-10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部，</a:t>
            </a:r>
            <a:r>
              <a:rPr sz="1800" b="1" kern="0" spc="-4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不同候选来源均获得执行机会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0" name="textbox 880"/>
          <p:cNvSpPr/>
          <p:nvPr/>
        </p:nvSpPr>
        <p:spPr>
          <a:xfrm>
            <a:off x="679137" y="3991940"/>
            <a:ext cx="530415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30" baseline="11575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水力机理候选</a:t>
            </a:r>
            <a:r>
              <a:rPr sz="1100" kern="0" spc="1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r>
              <a:rPr sz="1100" kern="0" spc="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600" kern="0" spc="460" dirty="0">
                <a:solidFill>
                  <a:srgbClr val="3093A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L____________」</a:t>
            </a:r>
            <a:r>
              <a:rPr sz="1600" kern="0" spc="10" dirty="0">
                <a:solidFill>
                  <a:srgbClr val="3093A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900" b="1" kern="0" spc="20" baseline="13707" dirty="0">
                <a:solidFill>
                  <a:srgbClr val="218C9F">
                    <a:alpha val="100000"/>
                  </a:srgbClr>
                </a:solidFill>
                <a:latin typeface="Arial"/>
                <a:ea typeface="Arial"/>
                <a:cs typeface="Arial"/>
              </a:rPr>
              <a:t>21.4%</a:t>
            </a:r>
            <a:endParaRPr sz="1900" baseline="13707" dirty="0">
              <a:latin typeface="Arial"/>
              <a:ea typeface="Arial"/>
              <a:cs typeface="Arial"/>
            </a:endParaRPr>
          </a:p>
        </p:txBody>
      </p:sp>
      <p:sp>
        <p:nvSpPr>
          <p:cNvPr id="882" name="textbox 882"/>
          <p:cNvSpPr/>
          <p:nvPr/>
        </p:nvSpPr>
        <p:spPr>
          <a:xfrm>
            <a:off x="679137" y="2382736"/>
            <a:ext cx="5304154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20" baseline="11575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</a:t>
            </a:r>
            <a:r>
              <a:rPr sz="1100" kern="0" spc="2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20" baseline="14468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0" baseline="14468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Probe</a:t>
            </a:r>
            <a:r>
              <a:rPr sz="1800" kern="0" spc="20" baseline="14468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-1.0</a:t>
            </a:r>
            <a:r>
              <a:rPr sz="1100" kern="0" spc="20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1700" kern="0" spc="20" dirty="0">
                <a:solidFill>
                  <a:srgbClr val="2667A4">
                    <a:alpha val="100000"/>
                  </a:srgbClr>
                </a:solidFill>
                <a:latin typeface="Arial"/>
                <a:ea typeface="Arial"/>
                <a:cs typeface="Arial"/>
              </a:rPr>
              <a:t>L_________________     </a:t>
            </a:r>
            <a:r>
              <a:rPr sz="1700" kern="0" spc="10" dirty="0">
                <a:solidFill>
                  <a:srgbClr val="2667A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10" baseline="13707" dirty="0">
                <a:solidFill>
                  <a:srgbClr val="2365A3">
                    <a:alpha val="100000"/>
                  </a:srgbClr>
                </a:solidFill>
                <a:latin typeface="Arial"/>
                <a:ea typeface="Arial"/>
                <a:cs typeface="Arial"/>
              </a:rPr>
              <a:t>43.0%</a:t>
            </a:r>
            <a:endParaRPr sz="1900" baseline="13707" dirty="0">
              <a:latin typeface="Arial"/>
              <a:ea typeface="Arial"/>
              <a:cs typeface="Arial"/>
            </a:endParaRPr>
          </a:p>
        </p:txBody>
      </p:sp>
      <p:sp>
        <p:nvSpPr>
          <p:cNvPr id="884" name="textbox 884"/>
          <p:cNvSpPr/>
          <p:nvPr/>
        </p:nvSpPr>
        <p:spPr>
          <a:xfrm>
            <a:off x="679137" y="3187344"/>
            <a:ext cx="530415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20" baseline="11575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</a:t>
            </a:r>
            <a:r>
              <a:rPr sz="1100" kern="0" spc="20" dirty="0">
                <a:solidFill>
                  <a:srgbClr val="2635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20" baseline="14468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0" baseline="14468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Probe</a:t>
            </a:r>
            <a:r>
              <a:rPr sz="1800" kern="0" spc="20" baseline="14468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-0.5</a:t>
            </a:r>
            <a:r>
              <a:rPr sz="1100" kern="0" spc="20" dirty="0">
                <a:solidFill>
                  <a:srgbClr val="2635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1600" kern="0" spc="460" dirty="0">
                <a:solidFill>
                  <a:srgbClr val="3BA1C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L____________」</a:t>
            </a:r>
            <a:r>
              <a:rPr sz="1600" kern="0" spc="20" dirty="0">
                <a:solidFill>
                  <a:srgbClr val="3BA1C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900" b="1" kern="0" spc="10" baseline="13707" dirty="0">
                <a:solidFill>
                  <a:srgbClr val="3BA1C6">
                    <a:alpha val="100000"/>
                  </a:srgbClr>
                </a:solidFill>
                <a:latin typeface="Arial"/>
                <a:ea typeface="Arial"/>
                <a:cs typeface="Arial"/>
              </a:rPr>
              <a:t>30.6%</a:t>
            </a:r>
            <a:endParaRPr sz="1900" baseline="13707" dirty="0">
              <a:latin typeface="Arial"/>
              <a:ea typeface="Arial"/>
              <a:cs typeface="Arial"/>
            </a:endParaRPr>
          </a:p>
        </p:txBody>
      </p:sp>
      <p:pic>
        <p:nvPicPr>
          <p:cNvPr id="894" name="picture 8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8" name="table 898"/>
          <p:cNvGraphicFramePr>
            <a:graphicFrameLocks noGrp="1"/>
          </p:cNvGraphicFramePr>
          <p:nvPr/>
        </p:nvGraphicFramePr>
        <p:xfrm>
          <a:off x="413096" y="1519736"/>
          <a:ext cx="4631688" cy="4448809"/>
        </p:xfrm>
        <a:graphic>
          <a:graphicData uri="http://schemas.openxmlformats.org/drawingml/2006/table">
            <a:tbl>
              <a:tblPr/>
              <a:tblGrid>
                <a:gridCol w="4354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8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5319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节点积水变化分布（相对</a:t>
                      </a:r>
                      <a:r>
                        <a:rPr sz="15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</a:t>
                      </a:r>
                      <a:r>
                        <a:rPr sz="15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15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RBC</a:t>
                      </a:r>
                      <a:r>
                        <a:rPr sz="15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b="1" kern="0" spc="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2159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>
                          <a:tab pos="852169" algn="l"/>
                        </a:tabLst>
                      </a:pPr>
                      <a:r>
                        <a:rPr sz="1000" kern="0" spc="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0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局部积水减少   </a:t>
                      </a:r>
                      <a:r>
                        <a:rPr sz="10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   局部积水增加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2" name="group 132"/>
          <p:cNvGrpSpPr/>
          <p:nvPr/>
        </p:nvGrpSpPr>
        <p:grpSpPr>
          <a:xfrm rot="21600000">
            <a:off x="2756271" y="5461380"/>
            <a:ext cx="131395" cy="131395"/>
            <a:chOff x="0" y="0"/>
            <a:chExt cx="131395" cy="131395"/>
          </a:xfrm>
        </p:grpSpPr>
        <p:sp>
          <p:nvSpPr>
            <p:cNvPr id="900" name="path 900"/>
            <p:cNvSpPr/>
            <p:nvPr/>
          </p:nvSpPr>
          <p:spPr>
            <a:xfrm>
              <a:off x="6299" y="6299"/>
              <a:ext cx="118795" cy="118795"/>
            </a:xfrm>
            <a:custGeom>
              <a:avLst/>
              <a:gdLst/>
              <a:ahLst/>
              <a:cxnLst/>
              <a:rect l="0" t="0" r="0" b="0"/>
              <a:pathLst>
                <a:path w="187" h="187">
                  <a:moveTo>
                    <a:pt x="0" y="93"/>
                  </a:moveTo>
                  <a:lnTo>
                    <a:pt x="0" y="93"/>
                  </a:lnTo>
                  <a:cubicBezTo>
                    <a:pt x="0" y="77"/>
                    <a:pt x="4" y="61"/>
                    <a:pt x="12" y="47"/>
                  </a:cubicBezTo>
                  <a:cubicBezTo>
                    <a:pt x="20" y="32"/>
                    <a:pt x="32" y="20"/>
                    <a:pt x="46" y="12"/>
                  </a:cubicBezTo>
                  <a:cubicBezTo>
                    <a:pt x="61" y="4"/>
                    <a:pt x="77" y="0"/>
                    <a:pt x="93" y="0"/>
                  </a:cubicBezTo>
                  <a:lnTo>
                    <a:pt x="93" y="0"/>
                  </a:lnTo>
                  <a:cubicBezTo>
                    <a:pt x="109" y="0"/>
                    <a:pt x="125" y="4"/>
                    <a:pt x="140" y="12"/>
                  </a:cubicBezTo>
                  <a:cubicBezTo>
                    <a:pt x="154" y="20"/>
                    <a:pt x="166" y="32"/>
                    <a:pt x="174" y="47"/>
                  </a:cubicBezTo>
                  <a:cubicBezTo>
                    <a:pt x="182" y="61"/>
                    <a:pt x="187" y="77"/>
                    <a:pt x="187" y="93"/>
                  </a:cubicBezTo>
                  <a:lnTo>
                    <a:pt x="187" y="93"/>
                  </a:lnTo>
                  <a:lnTo>
                    <a:pt x="187" y="93"/>
                  </a:lnTo>
                  <a:cubicBezTo>
                    <a:pt x="187" y="109"/>
                    <a:pt x="182" y="125"/>
                    <a:pt x="174" y="140"/>
                  </a:cubicBezTo>
                  <a:cubicBezTo>
                    <a:pt x="166" y="154"/>
                    <a:pt x="154" y="166"/>
                    <a:pt x="140" y="174"/>
                  </a:cubicBezTo>
                  <a:cubicBezTo>
                    <a:pt x="125" y="182"/>
                    <a:pt x="109" y="187"/>
                    <a:pt x="93" y="187"/>
                  </a:cubicBezTo>
                  <a:lnTo>
                    <a:pt x="93" y="187"/>
                  </a:lnTo>
                  <a:cubicBezTo>
                    <a:pt x="77" y="187"/>
                    <a:pt x="61" y="182"/>
                    <a:pt x="46" y="174"/>
                  </a:cubicBezTo>
                  <a:cubicBezTo>
                    <a:pt x="32" y="166"/>
                    <a:pt x="20" y="154"/>
                    <a:pt x="12" y="140"/>
                  </a:cubicBezTo>
                  <a:cubicBezTo>
                    <a:pt x="4" y="125"/>
                    <a:pt x="0" y="109"/>
                    <a:pt x="0" y="93"/>
                  </a:cubicBezTo>
                  <a:lnTo>
                    <a:pt x="0" y="93"/>
                  </a:lnTo>
                  <a:close/>
                </a:path>
              </a:pathLst>
            </a:custGeom>
            <a:solidFill>
              <a:srgbClr val="C96E6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2" name="path 902"/>
            <p:cNvSpPr/>
            <p:nvPr/>
          </p:nvSpPr>
          <p:spPr>
            <a:xfrm>
              <a:off x="0" y="0"/>
              <a:ext cx="131395" cy="131395"/>
            </a:xfrm>
            <a:custGeom>
              <a:avLst/>
              <a:gdLst/>
              <a:ahLst/>
              <a:cxnLst/>
              <a:rect l="0" t="0" r="0" b="0"/>
              <a:pathLst>
                <a:path w="206" h="206">
                  <a:moveTo>
                    <a:pt x="9" y="103"/>
                  </a:moveTo>
                  <a:lnTo>
                    <a:pt x="9" y="103"/>
                  </a:lnTo>
                  <a:cubicBezTo>
                    <a:pt x="9" y="87"/>
                    <a:pt x="14" y="71"/>
                    <a:pt x="22" y="56"/>
                  </a:cubicBezTo>
                  <a:cubicBezTo>
                    <a:pt x="30" y="42"/>
                    <a:pt x="42" y="30"/>
                    <a:pt x="56" y="22"/>
                  </a:cubicBezTo>
                  <a:cubicBezTo>
                    <a:pt x="71" y="14"/>
                    <a:pt x="87" y="9"/>
                    <a:pt x="103" y="9"/>
                  </a:cubicBezTo>
                  <a:lnTo>
                    <a:pt x="103" y="9"/>
                  </a:lnTo>
                  <a:cubicBezTo>
                    <a:pt x="119" y="9"/>
                    <a:pt x="135" y="14"/>
                    <a:pt x="149" y="22"/>
                  </a:cubicBezTo>
                  <a:cubicBezTo>
                    <a:pt x="164" y="30"/>
                    <a:pt x="176" y="42"/>
                    <a:pt x="184" y="56"/>
                  </a:cubicBezTo>
                  <a:cubicBezTo>
                    <a:pt x="192" y="71"/>
                    <a:pt x="197" y="87"/>
                    <a:pt x="197" y="103"/>
                  </a:cubicBezTo>
                  <a:lnTo>
                    <a:pt x="197" y="103"/>
                  </a:lnTo>
                  <a:lnTo>
                    <a:pt x="197" y="103"/>
                  </a:lnTo>
                  <a:cubicBezTo>
                    <a:pt x="197" y="119"/>
                    <a:pt x="192" y="135"/>
                    <a:pt x="184" y="150"/>
                  </a:cubicBezTo>
                  <a:cubicBezTo>
                    <a:pt x="176" y="164"/>
                    <a:pt x="164" y="176"/>
                    <a:pt x="149" y="184"/>
                  </a:cubicBezTo>
                  <a:cubicBezTo>
                    <a:pt x="135" y="192"/>
                    <a:pt x="119" y="197"/>
                    <a:pt x="103" y="197"/>
                  </a:cubicBezTo>
                  <a:lnTo>
                    <a:pt x="103" y="197"/>
                  </a:lnTo>
                  <a:cubicBezTo>
                    <a:pt x="87" y="197"/>
                    <a:pt x="71" y="192"/>
                    <a:pt x="56" y="184"/>
                  </a:cubicBezTo>
                  <a:cubicBezTo>
                    <a:pt x="42" y="176"/>
                    <a:pt x="30" y="164"/>
                    <a:pt x="22" y="150"/>
                  </a:cubicBezTo>
                  <a:cubicBezTo>
                    <a:pt x="14" y="135"/>
                    <a:pt x="9" y="119"/>
                    <a:pt x="9" y="103"/>
                  </a:cubicBezTo>
                </a:path>
              </a:pathLst>
            </a:custGeom>
            <a:noFill/>
            <a:ln w="12599" cap="flat">
              <a:solidFill>
                <a:srgbClr val="C96E6D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4" name="group 134"/>
          <p:cNvGrpSpPr/>
          <p:nvPr/>
        </p:nvGrpSpPr>
        <p:grpSpPr>
          <a:xfrm rot="21600000">
            <a:off x="1053896" y="5461380"/>
            <a:ext cx="131408" cy="131395"/>
            <a:chOff x="0" y="0"/>
            <a:chExt cx="131408" cy="131395"/>
          </a:xfrm>
        </p:grpSpPr>
        <p:sp>
          <p:nvSpPr>
            <p:cNvPr id="904" name="path 904"/>
            <p:cNvSpPr/>
            <p:nvPr/>
          </p:nvSpPr>
          <p:spPr>
            <a:xfrm>
              <a:off x="6299" y="6299"/>
              <a:ext cx="118808" cy="118795"/>
            </a:xfrm>
            <a:custGeom>
              <a:avLst/>
              <a:gdLst/>
              <a:ahLst/>
              <a:cxnLst/>
              <a:rect l="0" t="0" r="0" b="0"/>
              <a:pathLst>
                <a:path w="187" h="187">
                  <a:moveTo>
                    <a:pt x="0" y="93"/>
                  </a:moveTo>
                  <a:lnTo>
                    <a:pt x="0" y="93"/>
                  </a:lnTo>
                  <a:cubicBezTo>
                    <a:pt x="0" y="77"/>
                    <a:pt x="4" y="61"/>
                    <a:pt x="12" y="47"/>
                  </a:cubicBezTo>
                  <a:cubicBezTo>
                    <a:pt x="20" y="32"/>
                    <a:pt x="32" y="20"/>
                    <a:pt x="47" y="12"/>
                  </a:cubicBezTo>
                  <a:cubicBezTo>
                    <a:pt x="61" y="4"/>
                    <a:pt x="77" y="0"/>
                    <a:pt x="93" y="0"/>
                  </a:cubicBezTo>
                  <a:lnTo>
                    <a:pt x="93" y="0"/>
                  </a:lnTo>
                  <a:cubicBezTo>
                    <a:pt x="110" y="0"/>
                    <a:pt x="125" y="4"/>
                    <a:pt x="140" y="12"/>
                  </a:cubicBezTo>
                  <a:cubicBezTo>
                    <a:pt x="154" y="20"/>
                    <a:pt x="166" y="32"/>
                    <a:pt x="174" y="47"/>
                  </a:cubicBezTo>
                  <a:cubicBezTo>
                    <a:pt x="182" y="61"/>
                    <a:pt x="187" y="77"/>
                    <a:pt x="187" y="93"/>
                  </a:cubicBezTo>
                  <a:lnTo>
                    <a:pt x="187" y="93"/>
                  </a:lnTo>
                  <a:lnTo>
                    <a:pt x="187" y="93"/>
                  </a:lnTo>
                  <a:cubicBezTo>
                    <a:pt x="187" y="109"/>
                    <a:pt x="182" y="125"/>
                    <a:pt x="174" y="140"/>
                  </a:cubicBezTo>
                  <a:cubicBezTo>
                    <a:pt x="166" y="154"/>
                    <a:pt x="154" y="166"/>
                    <a:pt x="140" y="174"/>
                  </a:cubicBezTo>
                  <a:cubicBezTo>
                    <a:pt x="125" y="182"/>
                    <a:pt x="110" y="187"/>
                    <a:pt x="93" y="187"/>
                  </a:cubicBezTo>
                  <a:lnTo>
                    <a:pt x="93" y="187"/>
                  </a:lnTo>
                  <a:cubicBezTo>
                    <a:pt x="77" y="187"/>
                    <a:pt x="61" y="182"/>
                    <a:pt x="47" y="174"/>
                  </a:cubicBezTo>
                  <a:cubicBezTo>
                    <a:pt x="32" y="166"/>
                    <a:pt x="20" y="154"/>
                    <a:pt x="12" y="140"/>
                  </a:cubicBezTo>
                  <a:cubicBezTo>
                    <a:pt x="4" y="125"/>
                    <a:pt x="0" y="109"/>
                    <a:pt x="0" y="93"/>
                  </a:cubicBezTo>
                  <a:lnTo>
                    <a:pt x="0" y="93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6" name="path 906"/>
            <p:cNvSpPr/>
            <p:nvPr/>
          </p:nvSpPr>
          <p:spPr>
            <a:xfrm>
              <a:off x="0" y="0"/>
              <a:ext cx="131408" cy="131395"/>
            </a:xfrm>
            <a:custGeom>
              <a:avLst/>
              <a:gdLst/>
              <a:ahLst/>
              <a:cxnLst/>
              <a:rect l="0" t="0" r="0" b="0"/>
              <a:pathLst>
                <a:path w="206" h="206">
                  <a:moveTo>
                    <a:pt x="9" y="103"/>
                  </a:moveTo>
                  <a:lnTo>
                    <a:pt x="9" y="103"/>
                  </a:lnTo>
                  <a:cubicBezTo>
                    <a:pt x="9" y="87"/>
                    <a:pt x="14" y="71"/>
                    <a:pt x="22" y="56"/>
                  </a:cubicBezTo>
                  <a:cubicBezTo>
                    <a:pt x="30" y="42"/>
                    <a:pt x="42" y="30"/>
                    <a:pt x="56" y="22"/>
                  </a:cubicBezTo>
                  <a:cubicBezTo>
                    <a:pt x="71" y="14"/>
                    <a:pt x="87" y="9"/>
                    <a:pt x="103" y="9"/>
                  </a:cubicBezTo>
                  <a:lnTo>
                    <a:pt x="103" y="9"/>
                  </a:lnTo>
                  <a:cubicBezTo>
                    <a:pt x="119" y="9"/>
                    <a:pt x="135" y="14"/>
                    <a:pt x="150" y="22"/>
                  </a:cubicBezTo>
                  <a:cubicBezTo>
                    <a:pt x="164" y="30"/>
                    <a:pt x="176" y="42"/>
                    <a:pt x="184" y="56"/>
                  </a:cubicBezTo>
                  <a:cubicBezTo>
                    <a:pt x="192" y="71"/>
                    <a:pt x="197" y="87"/>
                    <a:pt x="197" y="103"/>
                  </a:cubicBezTo>
                  <a:lnTo>
                    <a:pt x="197" y="103"/>
                  </a:lnTo>
                  <a:lnTo>
                    <a:pt x="197" y="103"/>
                  </a:lnTo>
                  <a:cubicBezTo>
                    <a:pt x="197" y="119"/>
                    <a:pt x="192" y="135"/>
                    <a:pt x="184" y="150"/>
                  </a:cubicBezTo>
                  <a:cubicBezTo>
                    <a:pt x="176" y="164"/>
                    <a:pt x="164" y="176"/>
                    <a:pt x="150" y="184"/>
                  </a:cubicBezTo>
                  <a:cubicBezTo>
                    <a:pt x="135" y="192"/>
                    <a:pt x="119" y="197"/>
                    <a:pt x="103" y="197"/>
                  </a:cubicBezTo>
                  <a:lnTo>
                    <a:pt x="103" y="197"/>
                  </a:lnTo>
                  <a:cubicBezTo>
                    <a:pt x="87" y="197"/>
                    <a:pt x="71" y="192"/>
                    <a:pt x="56" y="184"/>
                  </a:cubicBezTo>
                  <a:cubicBezTo>
                    <a:pt x="42" y="176"/>
                    <a:pt x="30" y="164"/>
                    <a:pt x="22" y="150"/>
                  </a:cubicBezTo>
                  <a:cubicBezTo>
                    <a:pt x="14" y="135"/>
                    <a:pt x="9" y="119"/>
                    <a:pt x="9" y="103"/>
                  </a:cubicBezTo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08" name="table 908"/>
          <p:cNvGraphicFramePr>
            <a:graphicFrameLocks noGrp="1"/>
          </p:cNvGraphicFramePr>
          <p:nvPr/>
        </p:nvGraphicFramePr>
        <p:xfrm>
          <a:off x="5259416" y="1519380"/>
          <a:ext cx="6460490" cy="2792729"/>
        </p:xfrm>
        <a:graphic>
          <a:graphicData uri="http://schemas.openxmlformats.org/drawingml/2006/table">
            <a:tbl>
              <a:tblPr/>
              <a:tblGrid>
                <a:gridCol w="646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2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总减涝量分解  (</a:t>
                      </a:r>
                      <a:r>
                        <a:rPr sz="1700" b="1" kern="0" spc="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×10‘</a:t>
                      </a:r>
                      <a:r>
                        <a:rPr sz="1700" b="1" kern="0" spc="15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b="1" kern="0" spc="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m3</a:t>
                      </a:r>
                      <a:r>
                        <a:rPr sz="1700" b="1" kern="0" spc="-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b="1" kern="0" spc="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859" algn="l" rtl="0" eaLnBrk="0">
                        <a:lnSpc>
                          <a:spcPct val="81000"/>
                        </a:lnSpc>
                        <a:spcBef>
                          <a:spcPts val="402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局部积水减少总量                                                                                          </a:t>
                      </a:r>
                      <a:r>
                        <a:rPr sz="1300" b="1" kern="0" spc="1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+4.24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859" algn="l" rtl="0" eaLnBrk="0">
                        <a:lnSpc>
                          <a:spcPct val="81000"/>
                        </a:lnSpc>
                        <a:spcBef>
                          <a:spcPts val="395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局部积水增加总量                                                                                          </a:t>
                      </a:r>
                      <a:r>
                        <a:rPr sz="1300" b="1" kern="0" spc="10" dirty="0">
                          <a:solidFill>
                            <a:srgbClr val="C96E6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+3.03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209" algn="l" rtl="0" eaLnBrk="0">
                        <a:lnSpc>
                          <a:spcPct val="8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系统净减涝                                                                                                    </a:t>
                      </a:r>
                      <a:r>
                        <a:rPr sz="1300" b="1" kern="0" spc="1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+1.21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6" name="group 136"/>
          <p:cNvGrpSpPr/>
          <p:nvPr/>
        </p:nvGrpSpPr>
        <p:grpSpPr>
          <a:xfrm rot="21600000">
            <a:off x="7876375" y="3669664"/>
            <a:ext cx="779400" cy="240831"/>
            <a:chOff x="0" y="0"/>
            <a:chExt cx="779400" cy="240831"/>
          </a:xfrm>
        </p:grpSpPr>
        <p:sp>
          <p:nvSpPr>
            <p:cNvPr id="910" name="path 910"/>
            <p:cNvSpPr/>
            <p:nvPr/>
          </p:nvSpPr>
          <p:spPr>
            <a:xfrm>
              <a:off x="6299" y="6299"/>
              <a:ext cx="766801" cy="228231"/>
            </a:xfrm>
            <a:custGeom>
              <a:avLst/>
              <a:gdLst/>
              <a:ahLst/>
              <a:cxnLst/>
              <a:rect l="0" t="0" r="0" b="0"/>
              <a:pathLst>
                <a:path w="1207" h="359">
                  <a:moveTo>
                    <a:pt x="603" y="359"/>
                  </a:moveTo>
                  <a:lnTo>
                    <a:pt x="0" y="359"/>
                  </a:lnTo>
                  <a:lnTo>
                    <a:pt x="0" y="0"/>
                  </a:lnTo>
                  <a:lnTo>
                    <a:pt x="1207" y="0"/>
                  </a:lnTo>
                  <a:lnTo>
                    <a:pt x="1207" y="359"/>
                  </a:lnTo>
                  <a:lnTo>
                    <a:pt x="603" y="359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2" name="path 912"/>
            <p:cNvSpPr/>
            <p:nvPr/>
          </p:nvSpPr>
          <p:spPr>
            <a:xfrm>
              <a:off x="0" y="0"/>
              <a:ext cx="779400" cy="240831"/>
            </a:xfrm>
            <a:custGeom>
              <a:avLst/>
              <a:gdLst/>
              <a:ahLst/>
              <a:cxnLst/>
              <a:rect l="0" t="0" r="0" b="0"/>
              <a:pathLst>
                <a:path w="1227" h="379">
                  <a:moveTo>
                    <a:pt x="613" y="369"/>
                  </a:moveTo>
                  <a:lnTo>
                    <a:pt x="9" y="369"/>
                  </a:lnTo>
                  <a:lnTo>
                    <a:pt x="9" y="9"/>
                  </a:lnTo>
                  <a:lnTo>
                    <a:pt x="1217" y="9"/>
                  </a:lnTo>
                  <a:lnTo>
                    <a:pt x="1217" y="369"/>
                  </a:lnTo>
                  <a:lnTo>
                    <a:pt x="613" y="369"/>
                  </a:lnTo>
                  <a:close/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8" name="group 138"/>
          <p:cNvGrpSpPr/>
          <p:nvPr/>
        </p:nvGrpSpPr>
        <p:grpSpPr>
          <a:xfrm rot="21600000">
            <a:off x="7868994" y="3029584"/>
            <a:ext cx="1933206" cy="240831"/>
            <a:chOff x="0" y="0"/>
            <a:chExt cx="1933206" cy="240831"/>
          </a:xfrm>
        </p:grpSpPr>
        <p:sp>
          <p:nvSpPr>
            <p:cNvPr id="914" name="path 914"/>
            <p:cNvSpPr/>
            <p:nvPr/>
          </p:nvSpPr>
          <p:spPr>
            <a:xfrm>
              <a:off x="6299" y="6300"/>
              <a:ext cx="1920607" cy="228231"/>
            </a:xfrm>
            <a:custGeom>
              <a:avLst/>
              <a:gdLst/>
              <a:ahLst/>
              <a:cxnLst/>
              <a:rect l="0" t="0" r="0" b="0"/>
              <a:pathLst>
                <a:path w="3024" h="359">
                  <a:moveTo>
                    <a:pt x="1512" y="359"/>
                  </a:moveTo>
                  <a:lnTo>
                    <a:pt x="0" y="359"/>
                  </a:lnTo>
                  <a:lnTo>
                    <a:pt x="0" y="0"/>
                  </a:lnTo>
                  <a:lnTo>
                    <a:pt x="3024" y="0"/>
                  </a:lnTo>
                  <a:lnTo>
                    <a:pt x="3024" y="359"/>
                  </a:lnTo>
                  <a:lnTo>
                    <a:pt x="1512" y="359"/>
                  </a:lnTo>
                  <a:close/>
                </a:path>
              </a:pathLst>
            </a:custGeom>
            <a:solidFill>
              <a:srgbClr val="C96E6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6" name="path 916"/>
            <p:cNvSpPr/>
            <p:nvPr/>
          </p:nvSpPr>
          <p:spPr>
            <a:xfrm>
              <a:off x="0" y="0"/>
              <a:ext cx="1933206" cy="240831"/>
            </a:xfrm>
            <a:custGeom>
              <a:avLst/>
              <a:gdLst/>
              <a:ahLst/>
              <a:cxnLst/>
              <a:rect l="0" t="0" r="0" b="0"/>
              <a:pathLst>
                <a:path w="3044" h="379">
                  <a:moveTo>
                    <a:pt x="1522" y="369"/>
                  </a:moveTo>
                  <a:lnTo>
                    <a:pt x="9" y="369"/>
                  </a:lnTo>
                  <a:lnTo>
                    <a:pt x="9" y="9"/>
                  </a:lnTo>
                  <a:lnTo>
                    <a:pt x="3034" y="9"/>
                  </a:lnTo>
                  <a:lnTo>
                    <a:pt x="3034" y="369"/>
                  </a:lnTo>
                  <a:lnTo>
                    <a:pt x="1522" y="369"/>
                  </a:lnTo>
                  <a:close/>
                </a:path>
              </a:pathLst>
            </a:custGeom>
            <a:noFill/>
            <a:ln w="12599" cap="flat">
              <a:solidFill>
                <a:srgbClr val="C96E6D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0" name="group 140"/>
          <p:cNvGrpSpPr/>
          <p:nvPr/>
        </p:nvGrpSpPr>
        <p:grpSpPr>
          <a:xfrm rot="21600000">
            <a:off x="7869363" y="2389504"/>
            <a:ext cx="2700350" cy="240831"/>
            <a:chOff x="0" y="0"/>
            <a:chExt cx="2700350" cy="240831"/>
          </a:xfrm>
        </p:grpSpPr>
        <p:sp>
          <p:nvSpPr>
            <p:cNvPr id="918" name="path 918"/>
            <p:cNvSpPr/>
            <p:nvPr/>
          </p:nvSpPr>
          <p:spPr>
            <a:xfrm>
              <a:off x="6299" y="6300"/>
              <a:ext cx="2687751" cy="228231"/>
            </a:xfrm>
            <a:custGeom>
              <a:avLst/>
              <a:gdLst/>
              <a:ahLst/>
              <a:cxnLst/>
              <a:rect l="0" t="0" r="0" b="0"/>
              <a:pathLst>
                <a:path w="4232" h="359">
                  <a:moveTo>
                    <a:pt x="2116" y="359"/>
                  </a:moveTo>
                  <a:lnTo>
                    <a:pt x="0" y="359"/>
                  </a:lnTo>
                  <a:lnTo>
                    <a:pt x="0" y="0"/>
                  </a:lnTo>
                  <a:lnTo>
                    <a:pt x="4232" y="0"/>
                  </a:lnTo>
                  <a:lnTo>
                    <a:pt x="4232" y="359"/>
                  </a:lnTo>
                  <a:lnTo>
                    <a:pt x="2116" y="359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0" name="path 920"/>
            <p:cNvSpPr/>
            <p:nvPr/>
          </p:nvSpPr>
          <p:spPr>
            <a:xfrm>
              <a:off x="0" y="0"/>
              <a:ext cx="2700350" cy="240831"/>
            </a:xfrm>
            <a:custGeom>
              <a:avLst/>
              <a:gdLst/>
              <a:ahLst/>
              <a:cxnLst/>
              <a:rect l="0" t="0" r="0" b="0"/>
              <a:pathLst>
                <a:path w="4252" h="379">
                  <a:moveTo>
                    <a:pt x="2126" y="369"/>
                  </a:moveTo>
                  <a:lnTo>
                    <a:pt x="9" y="369"/>
                  </a:lnTo>
                  <a:lnTo>
                    <a:pt x="9" y="9"/>
                  </a:lnTo>
                  <a:lnTo>
                    <a:pt x="4242" y="9"/>
                  </a:lnTo>
                  <a:lnTo>
                    <a:pt x="4242" y="369"/>
                  </a:lnTo>
                  <a:lnTo>
                    <a:pt x="2126" y="369"/>
                  </a:lnTo>
                  <a:close/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922" name="picture 9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7240" y="2166835"/>
            <a:ext cx="3767035" cy="3062884"/>
          </a:xfrm>
          <a:prstGeom prst="rect">
            <a:avLst/>
          </a:prstGeom>
        </p:spPr>
      </p:pic>
      <p:grpSp>
        <p:nvGrpSpPr>
          <p:cNvPr id="142" name="group 142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924" name="rect 924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6" name="textbox 926"/>
            <p:cNvSpPr/>
            <p:nvPr/>
          </p:nvSpPr>
          <p:spPr>
            <a:xfrm>
              <a:off x="275956" y="148818"/>
              <a:ext cx="6549390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结果⑥：全网减涝源于非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对称的空间积水再分配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928" name="picture 9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930" name="table 930"/>
          <p:cNvGraphicFramePr>
            <a:graphicFrameLocks noGrp="1"/>
          </p:cNvGraphicFramePr>
          <p:nvPr/>
        </p:nvGraphicFramePr>
        <p:xfrm>
          <a:off x="8578980" y="4518535"/>
          <a:ext cx="3141344" cy="1430655"/>
        </p:xfrm>
        <a:graphic>
          <a:graphicData uri="http://schemas.openxmlformats.org/drawingml/2006/table">
            <a:tbl>
              <a:tblPr/>
              <a:tblGrid>
                <a:gridCol w="3141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30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727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800" b="1" kern="0" spc="60" dirty="0">
                          <a:solidFill>
                            <a:srgbClr val="C96E6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61.8%</a:t>
                      </a:r>
                      <a:endParaRPr sz="2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4864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 </a:t>
                      </a:r>
                      <a:r>
                        <a:rPr sz="11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 </a:t>
                      </a:r>
                      <a:r>
                        <a:rPr sz="1100" kern="0" spc="3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个热点占局部增</a:t>
                      </a:r>
                      <a:r>
                        <a:rPr sz="11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96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6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6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6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32" name="table 932"/>
          <p:cNvGraphicFramePr>
            <a:graphicFrameLocks noGrp="1"/>
          </p:cNvGraphicFramePr>
          <p:nvPr/>
        </p:nvGraphicFramePr>
        <p:xfrm>
          <a:off x="5259416" y="4518535"/>
          <a:ext cx="3114040" cy="1430655"/>
        </p:xfrm>
        <a:graphic>
          <a:graphicData uri="http://schemas.openxmlformats.org/drawingml/2006/table">
            <a:tbl>
              <a:tblPr/>
              <a:tblGrid>
                <a:gridCol w="311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30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800" b="1" kern="0" spc="6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59.6%</a:t>
                      </a:r>
                      <a:endParaRPr sz="2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455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 </a:t>
                      </a:r>
                      <a:r>
                        <a:rPr sz="11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 </a:t>
                      </a:r>
                      <a:r>
                        <a:rPr sz="1100" kern="0" spc="2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个热点占总改善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4" name="rect 934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6" name="textbox 936"/>
          <p:cNvSpPr/>
          <p:nvPr/>
        </p:nvSpPr>
        <p:spPr>
          <a:xfrm>
            <a:off x="386900" y="967348"/>
            <a:ext cx="6852919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380365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空间机制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1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净减涝不代表每个节点都改善；</a:t>
            </a:r>
            <a:r>
              <a:rPr sz="1800" b="1" kern="0" spc="-42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改善与局部增加并存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46" name="picture 9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sp>
        <p:nvSpPr>
          <p:cNvPr id="950" name="path 950"/>
          <p:cNvSpPr/>
          <p:nvPr/>
        </p:nvSpPr>
        <p:spPr>
          <a:xfrm>
            <a:off x="4992297" y="5916057"/>
            <a:ext cx="42486" cy="42487"/>
          </a:xfrm>
          <a:custGeom>
            <a:avLst/>
            <a:gdLst/>
            <a:ahLst/>
            <a:cxnLst/>
            <a:rect l="0" t="0" r="0" b="0"/>
            <a:pathLst>
              <a:path w="66" h="66">
                <a:moveTo>
                  <a:pt x="55" y="11"/>
                </a:moveTo>
                <a:cubicBezTo>
                  <a:pt x="45" y="29"/>
                  <a:pt x="29" y="45"/>
                  <a:pt x="11" y="55"/>
                </a:cubicBezTo>
              </a:path>
            </a:pathLst>
          </a:custGeom>
          <a:noFill/>
          <a:ln w="14039" cap="flat">
            <a:solidFill>
              <a:srgbClr val="D5DCE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" name="table 952"/>
          <p:cNvGraphicFramePr>
            <a:graphicFrameLocks noGrp="1"/>
          </p:cNvGraphicFramePr>
          <p:nvPr/>
        </p:nvGraphicFramePr>
        <p:xfrm>
          <a:off x="413096" y="1483020"/>
          <a:ext cx="7411719" cy="4577080"/>
        </p:xfrm>
        <a:graphic>
          <a:graphicData uri="http://schemas.openxmlformats.org/drawingml/2006/table">
            <a:tbl>
              <a:tblPr/>
              <a:tblGrid>
                <a:gridCol w="741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</a:t>
                      </a:r>
                      <a:r>
                        <a:rPr sz="1700" b="1" kern="0" spc="-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</a:t>
                      </a:r>
                      <a:r>
                        <a:rPr sz="17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RBC</a:t>
                      </a:r>
                      <a:r>
                        <a:rPr sz="17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b="1" kern="0" spc="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系统积水流率峰值为时间基准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1464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r>
                        <a:rPr sz="1300" b="1" kern="0" spc="1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b="1" kern="0" spc="1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             </a:t>
                      </a:r>
                      <a:r>
                        <a:rPr sz="1300" b="1" kern="0" spc="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  </a:t>
                      </a:r>
                      <a:r>
                        <a:rPr sz="13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净流率减轻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ct val="88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洪峰前 − </a:t>
                      </a:r>
                      <a:r>
                        <a:rPr sz="1200" kern="0" spc="-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120–</a:t>
                      </a:r>
                      <a:r>
                        <a:rPr sz="1200" kern="0" spc="-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1200" kern="0" spc="7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ct val="88000"/>
                        </a:lnSpc>
                        <a:spcBef>
                          <a:spcPts val="360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洪峰后</a:t>
                      </a:r>
                      <a:r>
                        <a:rPr sz="1200" kern="0" spc="28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0–60</a:t>
                      </a:r>
                      <a:r>
                        <a:rPr sz="1200" kern="0" spc="8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ct val="87000"/>
                        </a:lnSpc>
                        <a:spcBef>
                          <a:spcPts val="361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退水期</a:t>
                      </a:r>
                      <a:r>
                        <a:rPr sz="1200" kern="0" spc="2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60–240 </a:t>
                      </a:r>
                      <a:r>
                        <a:rPr sz="12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86205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8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洪峰后最初 </a:t>
                      </a:r>
                      <a:r>
                        <a:rPr sz="1100" kern="0" spc="8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 </a:t>
                      </a:r>
                      <a:r>
                        <a:rPr sz="1100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r>
                        <a:rPr sz="1100" kern="0" spc="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净改善最明显；</a:t>
                      </a:r>
                      <a:r>
                        <a:rPr sz="1100" kern="0" spc="-2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后期动作虽频繁</a:t>
                      </a:r>
                      <a:r>
                        <a:rPr sz="1100" kern="0" spc="-1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100" kern="0" spc="-2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7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瞬时净改善较小。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6" name="group 146"/>
          <p:cNvGrpSpPr/>
          <p:nvPr/>
        </p:nvGrpSpPr>
        <p:grpSpPr>
          <a:xfrm rot="21600000">
            <a:off x="813599" y="2773615"/>
            <a:ext cx="6666116" cy="2746808"/>
            <a:chOff x="0" y="0"/>
            <a:chExt cx="6666116" cy="2746808"/>
          </a:xfrm>
        </p:grpSpPr>
        <p:sp>
          <p:nvSpPr>
            <p:cNvPr id="954" name="path 954"/>
            <p:cNvSpPr/>
            <p:nvPr/>
          </p:nvSpPr>
          <p:spPr>
            <a:xfrm>
              <a:off x="2139836" y="6300"/>
              <a:ext cx="2020328" cy="264959"/>
            </a:xfrm>
            <a:custGeom>
              <a:avLst/>
              <a:gdLst/>
              <a:ahLst/>
              <a:cxnLst/>
              <a:rect l="0" t="0" r="0" b="0"/>
              <a:pathLst>
                <a:path w="3181" h="417">
                  <a:moveTo>
                    <a:pt x="1590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3181" y="0"/>
                  </a:lnTo>
                  <a:lnTo>
                    <a:pt x="3181" y="417"/>
                  </a:lnTo>
                  <a:lnTo>
                    <a:pt x="1590" y="417"/>
                  </a:lnTo>
                  <a:close/>
                </a:path>
              </a:pathLst>
            </a:custGeom>
            <a:solidFill>
              <a:srgbClr val="E8EF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6" name="path 956"/>
            <p:cNvSpPr/>
            <p:nvPr/>
          </p:nvSpPr>
          <p:spPr>
            <a:xfrm>
              <a:off x="2133536" y="0"/>
              <a:ext cx="2032928" cy="277559"/>
            </a:xfrm>
            <a:custGeom>
              <a:avLst/>
              <a:gdLst/>
              <a:ahLst/>
              <a:cxnLst/>
              <a:rect l="0" t="0" r="0" b="0"/>
              <a:pathLst>
                <a:path w="3201" h="437">
                  <a:moveTo>
                    <a:pt x="1600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3191" y="9"/>
                  </a:lnTo>
                  <a:lnTo>
                    <a:pt x="3191" y="427"/>
                  </a:lnTo>
                  <a:lnTo>
                    <a:pt x="1600" y="427"/>
                  </a:lnTo>
                  <a:close/>
                </a:path>
              </a:pathLst>
            </a:custGeom>
            <a:noFill/>
            <a:ln w="12599" cap="flat">
              <a:solidFill>
                <a:srgbClr val="E8EFF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8" name="path 958"/>
            <p:cNvSpPr/>
            <p:nvPr/>
          </p:nvSpPr>
          <p:spPr>
            <a:xfrm>
              <a:off x="2139480" y="6300"/>
              <a:ext cx="209880" cy="264959"/>
            </a:xfrm>
            <a:custGeom>
              <a:avLst/>
              <a:gdLst/>
              <a:ahLst/>
              <a:cxnLst/>
              <a:rect l="0" t="0" r="0" b="0"/>
              <a:pathLst>
                <a:path w="330" h="417">
                  <a:moveTo>
                    <a:pt x="165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330" y="0"/>
                  </a:lnTo>
                  <a:lnTo>
                    <a:pt x="330" y="417"/>
                  </a:lnTo>
                  <a:lnTo>
                    <a:pt x="165" y="417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0" name="path 960"/>
            <p:cNvSpPr/>
            <p:nvPr/>
          </p:nvSpPr>
          <p:spPr>
            <a:xfrm>
              <a:off x="2133180" y="0"/>
              <a:ext cx="222479" cy="277559"/>
            </a:xfrm>
            <a:custGeom>
              <a:avLst/>
              <a:gdLst/>
              <a:ahLst/>
              <a:cxnLst/>
              <a:rect l="0" t="0" r="0" b="0"/>
              <a:pathLst>
                <a:path w="350" h="437">
                  <a:moveTo>
                    <a:pt x="175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340" y="9"/>
                  </a:lnTo>
                  <a:lnTo>
                    <a:pt x="340" y="427"/>
                  </a:lnTo>
                  <a:lnTo>
                    <a:pt x="175" y="427"/>
                  </a:lnTo>
                  <a:close/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2" name="path 962"/>
            <p:cNvSpPr/>
            <p:nvPr/>
          </p:nvSpPr>
          <p:spPr>
            <a:xfrm>
              <a:off x="4736516" y="6300"/>
              <a:ext cx="1161009" cy="264959"/>
            </a:xfrm>
            <a:custGeom>
              <a:avLst/>
              <a:gdLst/>
              <a:ahLst/>
              <a:cxnLst/>
              <a:rect l="0" t="0" r="0" b="0"/>
              <a:pathLst>
                <a:path w="1828" h="417">
                  <a:moveTo>
                    <a:pt x="914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1828" y="0"/>
                  </a:lnTo>
                  <a:lnTo>
                    <a:pt x="1828" y="417"/>
                  </a:lnTo>
                  <a:lnTo>
                    <a:pt x="914" y="417"/>
                  </a:lnTo>
                  <a:close/>
                </a:path>
              </a:pathLst>
            </a:custGeom>
            <a:solidFill>
              <a:srgbClr val="E6F1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4" name="path 964"/>
            <p:cNvSpPr/>
            <p:nvPr/>
          </p:nvSpPr>
          <p:spPr>
            <a:xfrm>
              <a:off x="4730216" y="0"/>
              <a:ext cx="1173608" cy="277559"/>
            </a:xfrm>
            <a:custGeom>
              <a:avLst/>
              <a:gdLst/>
              <a:ahLst/>
              <a:cxnLst/>
              <a:rect l="0" t="0" r="0" b="0"/>
              <a:pathLst>
                <a:path w="1848" h="437">
                  <a:moveTo>
                    <a:pt x="924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1838" y="9"/>
                  </a:lnTo>
                  <a:lnTo>
                    <a:pt x="1838" y="427"/>
                  </a:lnTo>
                  <a:lnTo>
                    <a:pt x="924" y="427"/>
                  </a:lnTo>
                  <a:close/>
                </a:path>
              </a:pathLst>
            </a:custGeom>
            <a:noFill/>
            <a:ln w="12599" cap="flat">
              <a:solidFill>
                <a:srgbClr val="E6F1F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6" name="path 966"/>
            <p:cNvSpPr/>
            <p:nvPr/>
          </p:nvSpPr>
          <p:spPr>
            <a:xfrm>
              <a:off x="4736884" y="6300"/>
              <a:ext cx="316077" cy="264959"/>
            </a:xfrm>
            <a:custGeom>
              <a:avLst/>
              <a:gdLst/>
              <a:ahLst/>
              <a:cxnLst/>
              <a:rect l="0" t="0" r="0" b="0"/>
              <a:pathLst>
                <a:path w="497" h="417">
                  <a:moveTo>
                    <a:pt x="248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497" y="0"/>
                  </a:lnTo>
                  <a:lnTo>
                    <a:pt x="497" y="417"/>
                  </a:lnTo>
                  <a:lnTo>
                    <a:pt x="248" y="41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8" name="path 968"/>
            <p:cNvSpPr/>
            <p:nvPr/>
          </p:nvSpPr>
          <p:spPr>
            <a:xfrm>
              <a:off x="4730584" y="0"/>
              <a:ext cx="328677" cy="277559"/>
            </a:xfrm>
            <a:custGeom>
              <a:avLst/>
              <a:gdLst/>
              <a:ahLst/>
              <a:cxnLst/>
              <a:rect l="0" t="0" r="0" b="0"/>
              <a:pathLst>
                <a:path w="517" h="437">
                  <a:moveTo>
                    <a:pt x="258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507" y="9"/>
                  </a:lnTo>
                  <a:lnTo>
                    <a:pt x="507" y="427"/>
                  </a:lnTo>
                  <a:lnTo>
                    <a:pt x="258" y="427"/>
                  </a:lnTo>
                  <a:close/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0" name="path 970"/>
            <p:cNvSpPr/>
            <p:nvPr/>
          </p:nvSpPr>
          <p:spPr>
            <a:xfrm>
              <a:off x="2139836" y="911340"/>
              <a:ext cx="2020328" cy="264959"/>
            </a:xfrm>
            <a:custGeom>
              <a:avLst/>
              <a:gdLst/>
              <a:ahLst/>
              <a:cxnLst/>
              <a:rect l="0" t="0" r="0" b="0"/>
              <a:pathLst>
                <a:path w="3181" h="417">
                  <a:moveTo>
                    <a:pt x="1590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3181" y="0"/>
                  </a:lnTo>
                  <a:lnTo>
                    <a:pt x="3181" y="417"/>
                  </a:lnTo>
                  <a:lnTo>
                    <a:pt x="1590" y="417"/>
                  </a:lnTo>
                  <a:close/>
                </a:path>
              </a:pathLst>
            </a:custGeom>
            <a:solidFill>
              <a:srgbClr val="E8EF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2" name="path 972"/>
            <p:cNvSpPr/>
            <p:nvPr/>
          </p:nvSpPr>
          <p:spPr>
            <a:xfrm>
              <a:off x="2133536" y="905040"/>
              <a:ext cx="2032928" cy="277559"/>
            </a:xfrm>
            <a:custGeom>
              <a:avLst/>
              <a:gdLst/>
              <a:ahLst/>
              <a:cxnLst/>
              <a:rect l="0" t="0" r="0" b="0"/>
              <a:pathLst>
                <a:path w="3201" h="437">
                  <a:moveTo>
                    <a:pt x="1600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3191" y="9"/>
                  </a:lnTo>
                  <a:lnTo>
                    <a:pt x="3191" y="427"/>
                  </a:lnTo>
                  <a:lnTo>
                    <a:pt x="1600" y="427"/>
                  </a:lnTo>
                  <a:close/>
                </a:path>
              </a:pathLst>
            </a:custGeom>
            <a:noFill/>
            <a:ln w="12599" cap="flat">
              <a:solidFill>
                <a:srgbClr val="E8EFF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4" name="path 974"/>
            <p:cNvSpPr/>
            <p:nvPr/>
          </p:nvSpPr>
          <p:spPr>
            <a:xfrm>
              <a:off x="2139836" y="911340"/>
              <a:ext cx="476643" cy="264959"/>
            </a:xfrm>
            <a:custGeom>
              <a:avLst/>
              <a:gdLst/>
              <a:ahLst/>
              <a:cxnLst/>
              <a:rect l="0" t="0" r="0" b="0"/>
              <a:pathLst>
                <a:path w="750" h="417">
                  <a:moveTo>
                    <a:pt x="375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750" y="0"/>
                  </a:lnTo>
                  <a:lnTo>
                    <a:pt x="750" y="417"/>
                  </a:lnTo>
                  <a:lnTo>
                    <a:pt x="375" y="417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6" name="path 976"/>
            <p:cNvSpPr/>
            <p:nvPr/>
          </p:nvSpPr>
          <p:spPr>
            <a:xfrm>
              <a:off x="2133536" y="905040"/>
              <a:ext cx="489243" cy="277559"/>
            </a:xfrm>
            <a:custGeom>
              <a:avLst/>
              <a:gdLst/>
              <a:ahLst/>
              <a:cxnLst/>
              <a:rect l="0" t="0" r="0" b="0"/>
              <a:pathLst>
                <a:path w="770" h="437">
                  <a:moveTo>
                    <a:pt x="385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760" y="9"/>
                  </a:lnTo>
                  <a:lnTo>
                    <a:pt x="760" y="427"/>
                  </a:lnTo>
                  <a:lnTo>
                    <a:pt x="385" y="427"/>
                  </a:lnTo>
                  <a:close/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8" name="path 978"/>
            <p:cNvSpPr/>
            <p:nvPr/>
          </p:nvSpPr>
          <p:spPr>
            <a:xfrm>
              <a:off x="4736516" y="911340"/>
              <a:ext cx="1161009" cy="264959"/>
            </a:xfrm>
            <a:custGeom>
              <a:avLst/>
              <a:gdLst/>
              <a:ahLst/>
              <a:cxnLst/>
              <a:rect l="0" t="0" r="0" b="0"/>
              <a:pathLst>
                <a:path w="1828" h="417">
                  <a:moveTo>
                    <a:pt x="914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1828" y="0"/>
                  </a:lnTo>
                  <a:lnTo>
                    <a:pt x="1828" y="417"/>
                  </a:lnTo>
                  <a:lnTo>
                    <a:pt x="914" y="417"/>
                  </a:lnTo>
                  <a:close/>
                </a:path>
              </a:pathLst>
            </a:custGeom>
            <a:solidFill>
              <a:srgbClr val="E6F1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0" name="path 980"/>
            <p:cNvSpPr/>
            <p:nvPr/>
          </p:nvSpPr>
          <p:spPr>
            <a:xfrm>
              <a:off x="4730216" y="905040"/>
              <a:ext cx="1173608" cy="277559"/>
            </a:xfrm>
            <a:custGeom>
              <a:avLst/>
              <a:gdLst/>
              <a:ahLst/>
              <a:cxnLst/>
              <a:rect l="0" t="0" r="0" b="0"/>
              <a:pathLst>
                <a:path w="1848" h="437">
                  <a:moveTo>
                    <a:pt x="924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1838" y="9"/>
                  </a:lnTo>
                  <a:lnTo>
                    <a:pt x="1838" y="427"/>
                  </a:lnTo>
                  <a:lnTo>
                    <a:pt x="924" y="427"/>
                  </a:lnTo>
                  <a:close/>
                </a:path>
              </a:pathLst>
            </a:custGeom>
            <a:noFill/>
            <a:ln w="12599" cap="flat">
              <a:solidFill>
                <a:srgbClr val="E6F1F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2" name="path 982"/>
            <p:cNvSpPr/>
            <p:nvPr/>
          </p:nvSpPr>
          <p:spPr>
            <a:xfrm>
              <a:off x="4736884" y="911340"/>
              <a:ext cx="1038961" cy="264959"/>
            </a:xfrm>
            <a:custGeom>
              <a:avLst/>
              <a:gdLst/>
              <a:ahLst/>
              <a:cxnLst/>
              <a:rect l="0" t="0" r="0" b="0"/>
              <a:pathLst>
                <a:path w="1636" h="417">
                  <a:moveTo>
                    <a:pt x="818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1636" y="0"/>
                  </a:lnTo>
                  <a:lnTo>
                    <a:pt x="1636" y="417"/>
                  </a:lnTo>
                  <a:lnTo>
                    <a:pt x="818" y="41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4" name="path 984"/>
            <p:cNvSpPr/>
            <p:nvPr/>
          </p:nvSpPr>
          <p:spPr>
            <a:xfrm>
              <a:off x="4730584" y="905040"/>
              <a:ext cx="1051561" cy="277559"/>
            </a:xfrm>
            <a:custGeom>
              <a:avLst/>
              <a:gdLst/>
              <a:ahLst/>
              <a:cxnLst/>
              <a:rect l="0" t="0" r="0" b="0"/>
              <a:pathLst>
                <a:path w="1656" h="437">
                  <a:moveTo>
                    <a:pt x="828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1646" y="9"/>
                  </a:lnTo>
                  <a:lnTo>
                    <a:pt x="1646" y="427"/>
                  </a:lnTo>
                  <a:lnTo>
                    <a:pt x="828" y="427"/>
                  </a:lnTo>
                  <a:close/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6" name="path 986"/>
            <p:cNvSpPr/>
            <p:nvPr/>
          </p:nvSpPr>
          <p:spPr>
            <a:xfrm>
              <a:off x="2139836" y="1816748"/>
              <a:ext cx="2020328" cy="264959"/>
            </a:xfrm>
            <a:custGeom>
              <a:avLst/>
              <a:gdLst/>
              <a:ahLst/>
              <a:cxnLst/>
              <a:rect l="0" t="0" r="0" b="0"/>
              <a:pathLst>
                <a:path w="3181" h="417">
                  <a:moveTo>
                    <a:pt x="1590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3181" y="0"/>
                  </a:lnTo>
                  <a:lnTo>
                    <a:pt x="3181" y="417"/>
                  </a:lnTo>
                  <a:lnTo>
                    <a:pt x="1590" y="417"/>
                  </a:lnTo>
                  <a:close/>
                </a:path>
              </a:pathLst>
            </a:custGeom>
            <a:solidFill>
              <a:srgbClr val="E8EF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8" name="path 988"/>
            <p:cNvSpPr/>
            <p:nvPr/>
          </p:nvSpPr>
          <p:spPr>
            <a:xfrm>
              <a:off x="2133536" y="1810448"/>
              <a:ext cx="2032928" cy="277559"/>
            </a:xfrm>
            <a:custGeom>
              <a:avLst/>
              <a:gdLst/>
              <a:ahLst/>
              <a:cxnLst/>
              <a:rect l="0" t="0" r="0" b="0"/>
              <a:pathLst>
                <a:path w="3201" h="437">
                  <a:moveTo>
                    <a:pt x="1600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3191" y="9"/>
                  </a:lnTo>
                  <a:lnTo>
                    <a:pt x="3191" y="427"/>
                  </a:lnTo>
                  <a:lnTo>
                    <a:pt x="1600" y="427"/>
                  </a:lnTo>
                  <a:close/>
                </a:path>
              </a:pathLst>
            </a:custGeom>
            <a:noFill/>
            <a:ln w="12599" cap="flat">
              <a:solidFill>
                <a:srgbClr val="E8EFF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0" name="path 990"/>
            <p:cNvSpPr/>
            <p:nvPr/>
          </p:nvSpPr>
          <p:spPr>
            <a:xfrm>
              <a:off x="2139836" y="1816748"/>
              <a:ext cx="1654568" cy="264959"/>
            </a:xfrm>
            <a:custGeom>
              <a:avLst/>
              <a:gdLst/>
              <a:ahLst/>
              <a:cxnLst/>
              <a:rect l="0" t="0" r="0" b="0"/>
              <a:pathLst>
                <a:path w="2605" h="417">
                  <a:moveTo>
                    <a:pt x="1302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2605" y="0"/>
                  </a:lnTo>
                  <a:lnTo>
                    <a:pt x="2605" y="417"/>
                  </a:lnTo>
                  <a:lnTo>
                    <a:pt x="1302" y="417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2" name="path 992"/>
            <p:cNvSpPr/>
            <p:nvPr/>
          </p:nvSpPr>
          <p:spPr>
            <a:xfrm>
              <a:off x="2133536" y="1810448"/>
              <a:ext cx="1667168" cy="277559"/>
            </a:xfrm>
            <a:custGeom>
              <a:avLst/>
              <a:gdLst/>
              <a:ahLst/>
              <a:cxnLst/>
              <a:rect l="0" t="0" r="0" b="0"/>
              <a:pathLst>
                <a:path w="2625" h="437">
                  <a:moveTo>
                    <a:pt x="1312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2615" y="9"/>
                  </a:lnTo>
                  <a:lnTo>
                    <a:pt x="2615" y="427"/>
                  </a:lnTo>
                  <a:lnTo>
                    <a:pt x="1312" y="427"/>
                  </a:lnTo>
                  <a:close/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4" name="path 994"/>
            <p:cNvSpPr/>
            <p:nvPr/>
          </p:nvSpPr>
          <p:spPr>
            <a:xfrm>
              <a:off x="4736516" y="1816748"/>
              <a:ext cx="1161009" cy="264959"/>
            </a:xfrm>
            <a:custGeom>
              <a:avLst/>
              <a:gdLst/>
              <a:ahLst/>
              <a:cxnLst/>
              <a:rect l="0" t="0" r="0" b="0"/>
              <a:pathLst>
                <a:path w="1828" h="417">
                  <a:moveTo>
                    <a:pt x="914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1828" y="0"/>
                  </a:lnTo>
                  <a:lnTo>
                    <a:pt x="1828" y="417"/>
                  </a:lnTo>
                  <a:lnTo>
                    <a:pt x="914" y="417"/>
                  </a:lnTo>
                  <a:close/>
                </a:path>
              </a:pathLst>
            </a:custGeom>
            <a:solidFill>
              <a:srgbClr val="E6F1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6" name="path 996"/>
            <p:cNvSpPr/>
            <p:nvPr/>
          </p:nvSpPr>
          <p:spPr>
            <a:xfrm>
              <a:off x="4730216" y="1810448"/>
              <a:ext cx="1173608" cy="277559"/>
            </a:xfrm>
            <a:custGeom>
              <a:avLst/>
              <a:gdLst/>
              <a:ahLst/>
              <a:cxnLst/>
              <a:rect l="0" t="0" r="0" b="0"/>
              <a:pathLst>
                <a:path w="1848" h="437">
                  <a:moveTo>
                    <a:pt x="924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1838" y="9"/>
                  </a:lnTo>
                  <a:lnTo>
                    <a:pt x="1838" y="427"/>
                  </a:lnTo>
                  <a:lnTo>
                    <a:pt x="924" y="427"/>
                  </a:lnTo>
                  <a:close/>
                </a:path>
              </a:pathLst>
            </a:custGeom>
            <a:noFill/>
            <a:ln w="12599" cap="flat">
              <a:solidFill>
                <a:srgbClr val="E6F1F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8" name="path 998"/>
            <p:cNvSpPr/>
            <p:nvPr/>
          </p:nvSpPr>
          <p:spPr>
            <a:xfrm>
              <a:off x="4736516" y="1816748"/>
              <a:ext cx="182524" cy="264959"/>
            </a:xfrm>
            <a:custGeom>
              <a:avLst/>
              <a:gdLst/>
              <a:ahLst/>
              <a:cxnLst/>
              <a:rect l="0" t="0" r="0" b="0"/>
              <a:pathLst>
                <a:path w="287" h="417">
                  <a:moveTo>
                    <a:pt x="144" y="417"/>
                  </a:moveTo>
                  <a:lnTo>
                    <a:pt x="0" y="417"/>
                  </a:lnTo>
                  <a:lnTo>
                    <a:pt x="0" y="0"/>
                  </a:lnTo>
                  <a:lnTo>
                    <a:pt x="287" y="0"/>
                  </a:lnTo>
                  <a:lnTo>
                    <a:pt x="287" y="417"/>
                  </a:lnTo>
                  <a:lnTo>
                    <a:pt x="144" y="417"/>
                  </a:lnTo>
                  <a:close/>
                </a:path>
              </a:pathLst>
            </a:custGeom>
            <a:solidFill>
              <a:srgbClr val="218C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0" name="path 1000"/>
            <p:cNvSpPr/>
            <p:nvPr/>
          </p:nvSpPr>
          <p:spPr>
            <a:xfrm>
              <a:off x="4730216" y="1810448"/>
              <a:ext cx="195124" cy="277559"/>
            </a:xfrm>
            <a:custGeom>
              <a:avLst/>
              <a:gdLst/>
              <a:ahLst/>
              <a:cxnLst/>
              <a:rect l="0" t="0" r="0" b="0"/>
              <a:pathLst>
                <a:path w="307" h="437">
                  <a:moveTo>
                    <a:pt x="153" y="427"/>
                  </a:moveTo>
                  <a:lnTo>
                    <a:pt x="9" y="427"/>
                  </a:lnTo>
                  <a:lnTo>
                    <a:pt x="9" y="9"/>
                  </a:lnTo>
                  <a:lnTo>
                    <a:pt x="297" y="9"/>
                  </a:lnTo>
                  <a:lnTo>
                    <a:pt x="297" y="427"/>
                  </a:lnTo>
                  <a:lnTo>
                    <a:pt x="153" y="427"/>
                  </a:lnTo>
                  <a:close/>
                </a:path>
              </a:pathLst>
            </a:custGeom>
            <a:noFill/>
            <a:ln w="12599" cap="flat">
              <a:solidFill>
                <a:srgbClr val="218C9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2" name="path 1002"/>
            <p:cNvSpPr/>
            <p:nvPr/>
          </p:nvSpPr>
          <p:spPr>
            <a:xfrm>
              <a:off x="0" y="2733840"/>
              <a:ext cx="6666116" cy="12968"/>
            </a:xfrm>
            <a:custGeom>
              <a:avLst/>
              <a:gdLst/>
              <a:ahLst/>
              <a:cxnLst/>
              <a:rect l="0" t="0" r="0" b="0"/>
              <a:pathLst>
                <a:path w="10497" h="20">
                  <a:moveTo>
                    <a:pt x="0" y="9"/>
                  </a:moveTo>
                  <a:lnTo>
                    <a:pt x="10497" y="10"/>
                  </a:lnTo>
                </a:path>
              </a:pathLst>
            </a:custGeom>
            <a:noFill/>
            <a:ln w="12599" cap="flat">
              <a:solidFill>
                <a:srgbClr val="E2E9F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04" name="table 1004"/>
          <p:cNvGraphicFramePr>
            <a:graphicFrameLocks noGrp="1"/>
          </p:cNvGraphicFramePr>
          <p:nvPr/>
        </p:nvGraphicFramePr>
        <p:xfrm>
          <a:off x="8066700" y="3668220"/>
          <a:ext cx="3653154" cy="1961514"/>
        </p:xfrm>
        <a:graphic>
          <a:graphicData uri="http://schemas.openxmlformats.org/drawingml/2006/table">
            <a:tbl>
              <a:tblPr/>
              <a:tblGrid>
                <a:gridCol w="4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1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77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3200" b="1" kern="0" spc="15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15.5</a:t>
                      </a:r>
                      <a:r>
                        <a:rPr sz="3200" b="1" kern="0" spc="24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3200" b="1" kern="0" spc="0" dirty="0">
                          <a:solidFill>
                            <a:srgbClr val="218C9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689" algn="l" rtl="0" eaLnBrk="0">
                        <a:lnSpc>
                          <a:spcPct val="94000"/>
                        </a:lnSpc>
                        <a:spcBef>
                          <a:spcPts val="428"/>
                        </a:spcBef>
                        <a:tabLst/>
                      </a:pPr>
                      <a:r>
                        <a:rPr sz="1400" b="1" kern="0" spc="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高蓄满率持续时间缩短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储存设施占用率≥</a:t>
                      </a:r>
                      <a:r>
                        <a:rPr sz="1000" kern="0" spc="1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8" name="group 148"/>
          <p:cNvGrpSpPr/>
          <p:nvPr/>
        </p:nvGrpSpPr>
        <p:grpSpPr>
          <a:xfrm rot="21600000">
            <a:off x="8074076" y="1490040"/>
            <a:ext cx="84425" cy="1954615"/>
            <a:chOff x="0" y="0"/>
            <a:chExt cx="84425" cy="1954615"/>
          </a:xfrm>
        </p:grpSpPr>
        <p:sp>
          <p:nvSpPr>
            <p:cNvPr id="1006" name="path 1006"/>
            <p:cNvSpPr/>
            <p:nvPr/>
          </p:nvSpPr>
          <p:spPr>
            <a:xfrm>
              <a:off x="3063" y="3064"/>
              <a:ext cx="81361" cy="1951551"/>
            </a:xfrm>
            <a:custGeom>
              <a:avLst/>
              <a:gdLst/>
              <a:ahLst/>
              <a:cxnLst/>
              <a:rect l="0" t="0" r="0" b="0"/>
              <a:pathLst>
                <a:path w="128" h="3073">
                  <a:moveTo>
                    <a:pt x="11" y="55"/>
                  </a:moveTo>
                  <a:cubicBezTo>
                    <a:pt x="22" y="37"/>
                    <a:pt x="37" y="21"/>
                    <a:pt x="56" y="11"/>
                  </a:cubicBezTo>
                  <a:moveTo>
                    <a:pt x="117" y="3062"/>
                  </a:moveTo>
                  <a:cubicBezTo>
                    <a:pt x="95" y="3062"/>
                    <a:pt x="74" y="3056"/>
                    <a:pt x="55" y="3045"/>
                  </a:cubicBezTo>
                  <a:cubicBezTo>
                    <a:pt x="37" y="3035"/>
                    <a:pt x="21" y="3019"/>
                    <a:pt x="11" y="3001"/>
                  </a:cubicBezTo>
                </a:path>
              </a:pathLst>
            </a:custGeom>
            <a:noFill/>
            <a:ln w="14039" cap="flat">
              <a:solidFill>
                <a:srgbClr val="D5DCE8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8" name="path 1008"/>
            <p:cNvSpPr/>
            <p:nvPr/>
          </p:nvSpPr>
          <p:spPr>
            <a:xfrm>
              <a:off x="0" y="0"/>
              <a:ext cx="68401" cy="1947240"/>
            </a:xfrm>
            <a:custGeom>
              <a:avLst/>
              <a:gdLst/>
              <a:ahLst/>
              <a:cxnLst/>
              <a:rect l="0" t="0" r="0" b="0"/>
              <a:pathLst>
                <a:path w="107" h="3066">
                  <a:moveTo>
                    <a:pt x="53" y="3066"/>
                  </a:moveTo>
                  <a:lnTo>
                    <a:pt x="0" y="3066"/>
                  </a:lnTo>
                  <a:lnTo>
                    <a:pt x="0" y="0"/>
                  </a:lnTo>
                  <a:lnTo>
                    <a:pt x="107" y="0"/>
                  </a:lnTo>
                  <a:lnTo>
                    <a:pt x="107" y="3066"/>
                  </a:lnTo>
                  <a:lnTo>
                    <a:pt x="53" y="3066"/>
                  </a:lnTo>
                  <a:close/>
                </a:path>
              </a:pathLst>
            </a:custGeom>
            <a:solidFill>
              <a:srgbClr val="2365A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10" name="path 1010"/>
            <p:cNvSpPr/>
            <p:nvPr/>
          </p:nvSpPr>
          <p:spPr>
            <a:xfrm>
              <a:off x="0" y="1940940"/>
              <a:ext cx="68401" cy="12600"/>
            </a:xfrm>
            <a:custGeom>
              <a:avLst/>
              <a:gdLst/>
              <a:ahLst/>
              <a:cxnLst/>
              <a:rect l="0" t="0" r="0" b="0"/>
              <a:pathLst>
                <a:path w="107" h="19">
                  <a:moveTo>
                    <a:pt x="53" y="9"/>
                  </a:moveTo>
                  <a:lnTo>
                    <a:pt x="0" y="9"/>
                  </a:lnTo>
                  <a:moveTo>
                    <a:pt x="107" y="9"/>
                  </a:moveTo>
                  <a:lnTo>
                    <a:pt x="53" y="9"/>
                  </a:lnTo>
                </a:path>
              </a:pathLst>
            </a:custGeom>
            <a:noFill/>
            <a:ln w="12599" cap="flat">
              <a:solidFill>
                <a:srgbClr val="2365A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12" name="table 1012"/>
          <p:cNvGraphicFramePr>
            <a:graphicFrameLocks noGrp="1"/>
          </p:cNvGraphicFramePr>
          <p:nvPr/>
        </p:nvGraphicFramePr>
        <p:xfrm>
          <a:off x="8066700" y="1482664"/>
          <a:ext cx="3653155" cy="1945640"/>
        </p:xfrm>
        <a:graphic>
          <a:graphicData uri="http://schemas.openxmlformats.org/drawingml/2006/table">
            <a:tbl>
              <a:tblPr/>
              <a:tblGrid>
                <a:gridCol w="3653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5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154" algn="l" rtl="0" eaLnBrk="0">
                        <a:lnSpc>
                          <a:spcPct val="7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3200" b="1" kern="0" spc="70" dirty="0">
                          <a:solidFill>
                            <a:srgbClr val="2365A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28.7%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154" algn="l" rtl="0" eaLnBrk="0">
                        <a:lnSpc>
                          <a:spcPct val="94000"/>
                        </a:lnSpc>
                        <a:spcBef>
                          <a:spcPts val="1619"/>
                        </a:spcBef>
                        <a:tabLst/>
                      </a:pPr>
                      <a:r>
                        <a:rPr sz="1400" b="1" kern="0" spc="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洪峰时刻流率中位降幅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 </a:t>
                      </a:r>
                      <a:r>
                        <a:rPr sz="1000" kern="0" spc="80" dirty="0">
                          <a:solidFill>
                            <a:srgbClr val="69789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场事件洪峰时刻均降低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0" name="group 150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1014" name="rect 1014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16" name="textbox 1016"/>
            <p:cNvSpPr/>
            <p:nvPr/>
          </p:nvSpPr>
          <p:spPr>
            <a:xfrm>
              <a:off x="275956" y="148818"/>
              <a:ext cx="6860540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结果⑦：</a:t>
              </a:r>
              <a:r>
                <a:rPr sz="2400" b="1" kern="0" spc="-5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4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洪峰期的调蓄—输送能力发生时序重分配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018" name="picture 10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sp>
        <p:nvSpPr>
          <p:cNvPr id="1020" name="rect 1020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2" name="textbox 1022"/>
          <p:cNvSpPr/>
          <p:nvPr/>
        </p:nvSpPr>
        <p:spPr>
          <a:xfrm>
            <a:off x="386900" y="967348"/>
            <a:ext cx="7323455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381000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3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时间机制</a:t>
            </a:r>
            <a:r>
              <a:rPr sz="11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目标更新最</a:t>
            </a:r>
            <a:r>
              <a:rPr sz="1800" b="1" kern="0" spc="2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频繁的时段，</a:t>
            </a:r>
            <a:r>
              <a:rPr sz="1800" b="1" kern="0" spc="-41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2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并不是瞬时减涝效应最大的时段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32" name="picture 10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sp>
        <p:nvSpPr>
          <p:cNvPr id="1034" name="textbox 1034"/>
          <p:cNvSpPr/>
          <p:nvPr/>
        </p:nvSpPr>
        <p:spPr>
          <a:xfrm>
            <a:off x="4985608" y="4650668"/>
            <a:ext cx="47434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1200" b="1" kern="0" spc="20" dirty="0">
                <a:solidFill>
                  <a:srgbClr val="2365A3">
                    <a:alpha val="100000"/>
                  </a:srgbClr>
                </a:solidFill>
                <a:latin typeface="Arial"/>
                <a:ea typeface="Arial"/>
                <a:cs typeface="Arial"/>
              </a:rPr>
              <a:t>81.9%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036" name="textbox 1036"/>
          <p:cNvSpPr/>
          <p:nvPr/>
        </p:nvSpPr>
        <p:spPr>
          <a:xfrm>
            <a:off x="4986076" y="3745627"/>
            <a:ext cx="473709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1200" b="1" kern="0" spc="20" dirty="0">
                <a:solidFill>
                  <a:srgbClr val="2365A3">
                    <a:alpha val="100000"/>
                  </a:srgbClr>
                </a:solidFill>
                <a:latin typeface="Arial"/>
                <a:ea typeface="Arial"/>
                <a:cs typeface="Arial"/>
              </a:rPr>
              <a:t>23.6%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038" name="textbox 1038"/>
          <p:cNvSpPr/>
          <p:nvPr/>
        </p:nvSpPr>
        <p:spPr>
          <a:xfrm>
            <a:off x="4989357" y="2840063"/>
            <a:ext cx="47053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200" b="1" kern="0" spc="10" dirty="0">
                <a:solidFill>
                  <a:srgbClr val="2365A3">
                    <a:alpha val="100000"/>
                  </a:srgbClr>
                </a:solidFill>
                <a:latin typeface="Arial"/>
                <a:ea typeface="Arial"/>
                <a:cs typeface="Arial"/>
              </a:rPr>
              <a:t>10.4%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040" name="textbox 1040"/>
          <p:cNvSpPr/>
          <p:nvPr/>
        </p:nvSpPr>
        <p:spPr>
          <a:xfrm>
            <a:off x="6786788" y="4637150"/>
            <a:ext cx="469900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200" b="1" kern="0" spc="10" dirty="0">
                <a:solidFill>
                  <a:srgbClr val="218C9F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0.63%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042" name="textbox 1042"/>
          <p:cNvSpPr/>
          <p:nvPr/>
        </p:nvSpPr>
        <p:spPr>
          <a:xfrm>
            <a:off x="6787098" y="3731909"/>
            <a:ext cx="469900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200" b="1" kern="0" spc="10" dirty="0">
                <a:solidFill>
                  <a:srgbClr val="218C9F">
                    <a:alpha val="100000"/>
                  </a:srgbClr>
                </a:solidFill>
                <a:latin typeface="Arial"/>
                <a:ea typeface="Arial"/>
                <a:cs typeface="Arial"/>
              </a:rPr>
              <a:t>3.58%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044" name="textbox 1044"/>
          <p:cNvSpPr/>
          <p:nvPr/>
        </p:nvSpPr>
        <p:spPr>
          <a:xfrm>
            <a:off x="6790349" y="2826346"/>
            <a:ext cx="466725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200" b="1" kern="0" spc="10" dirty="0">
                <a:solidFill>
                  <a:srgbClr val="218C9F">
                    <a:alpha val="100000"/>
                  </a:srgbClr>
                </a:solidFill>
                <a:latin typeface="Arial"/>
                <a:ea typeface="Arial"/>
                <a:cs typeface="Arial"/>
              </a:rPr>
              <a:t>1.09%</a:t>
            </a:r>
            <a:endParaRPr sz="12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 1048"/>
          <p:cNvSpPr/>
          <p:nvPr/>
        </p:nvSpPr>
        <p:spPr>
          <a:xfrm>
            <a:off x="633780" y="5242495"/>
            <a:ext cx="1521359" cy="305284"/>
          </a:xfrm>
          <a:prstGeom prst="rect">
            <a:avLst/>
          </a:prstGeom>
          <a:solidFill>
            <a:srgbClr val="785E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050" name="table 1050"/>
          <p:cNvGraphicFramePr>
            <a:graphicFrameLocks noGrp="1"/>
          </p:cNvGraphicFramePr>
          <p:nvPr/>
        </p:nvGraphicFramePr>
        <p:xfrm>
          <a:off x="412740" y="5030816"/>
          <a:ext cx="11315700" cy="1019175"/>
        </p:xfrm>
        <a:graphic>
          <a:graphicData uri="http://schemas.openxmlformats.org/drawingml/2006/table">
            <a:tbl>
              <a:tblPr/>
              <a:tblGrid>
                <a:gridCol w="1131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9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ts val="1994"/>
                        </a:lnSpc>
                        <a:spcBef>
                          <a:spcPts val="6"/>
                        </a:spcBef>
                        <a:tabLst>
                          <a:tab pos="650875" algn="l"/>
                        </a:tabLst>
                      </a:pPr>
                      <a:r>
                        <a:rPr sz="1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1600" b="1" kern="0" spc="20" baseline="4157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边界与展望</a:t>
                      </a:r>
                      <a:r>
                        <a:rPr sz="10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      </a:t>
                      </a:r>
                      <a:r>
                        <a:rPr sz="14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结果目前限于 </a:t>
                      </a:r>
                      <a:r>
                        <a:rPr sz="14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 </a:t>
                      </a:r>
                      <a:r>
                        <a:rPr sz="14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场回顾性事件与指定监测配置；</a:t>
                      </a:r>
                      <a:r>
                        <a:rPr sz="1400" kern="0" spc="-2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尚需面</a:t>
                      </a:r>
                      <a:r>
                        <a:rPr sz="1400" kern="0" spc="1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向局部高风险节点、传感失效与跨网络泛化开展评价。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52" name="table 1052"/>
          <p:cNvGraphicFramePr>
            <a:graphicFrameLocks noGrp="1"/>
          </p:cNvGraphicFramePr>
          <p:nvPr/>
        </p:nvGraphicFramePr>
        <p:xfrm>
          <a:off x="412740" y="3851100"/>
          <a:ext cx="11315700" cy="872489"/>
        </p:xfrm>
        <a:graphic>
          <a:graphicData uri="http://schemas.openxmlformats.org/drawingml/2006/table">
            <a:tbl>
              <a:tblPr>
                <a:solidFill>
                  <a:srgbClr val="EDF4F8"/>
                </a:solidFill>
              </a:tblPr>
              <a:tblGrid>
                <a:gridCol w="1131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24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284" algn="l" rtl="0" eaLnBrk="0">
                        <a:lnSpc>
                          <a:spcPct val="8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理论认识：控制收益</a:t>
                      </a: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取决于</a:t>
                      </a:r>
                      <a:r>
                        <a:rPr sz="1700" b="1" kern="0" spc="-39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“是否仍有可调度水力余量”及“当前最有价值的控制知识”</a:t>
                      </a:r>
                      <a:r>
                        <a:rPr sz="1700" b="1" kern="0" spc="-1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，而不是单纯增加动作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352415" algn="l" rtl="0" eaLnBrk="0">
                        <a:lnSpc>
                          <a:spcPct val="86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7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频率。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7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7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7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7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4" name="group 154"/>
          <p:cNvGrpSpPr/>
          <p:nvPr/>
        </p:nvGrpSpPr>
        <p:grpSpPr>
          <a:xfrm rot="21600000">
            <a:off x="0" y="12"/>
            <a:ext cx="9734821" cy="667950"/>
            <a:chOff x="0" y="0"/>
            <a:chExt cx="9734821" cy="667950"/>
          </a:xfrm>
        </p:grpSpPr>
        <p:sp>
          <p:nvSpPr>
            <p:cNvPr id="1054" name="rect 1054"/>
            <p:cNvSpPr/>
            <p:nvPr/>
          </p:nvSpPr>
          <p:spPr>
            <a:xfrm>
              <a:off x="0" y="0"/>
              <a:ext cx="9734821" cy="667950"/>
            </a:xfrm>
            <a:prstGeom prst="rect">
              <a:avLst/>
            </a:prstGeom>
            <a:solidFill>
              <a:srgbClr val="20285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56" name="textbox 1056"/>
            <p:cNvSpPr/>
            <p:nvPr/>
          </p:nvSpPr>
          <p:spPr>
            <a:xfrm>
              <a:off x="277200" y="148818"/>
              <a:ext cx="6547484" cy="35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24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核心结论：基于水力可</a:t>
              </a:r>
              <a:r>
                <a:rPr sz="24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操作性的状态自适应控制</a:t>
              </a:r>
              <a:endParaRPr sz="2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058" name="picture 10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892578" y="324579"/>
              <a:ext cx="337958" cy="338304"/>
            </a:xfrm>
            <a:prstGeom prst="rect">
              <a:avLst/>
            </a:prstGeom>
          </p:spPr>
        </p:pic>
      </p:grpSp>
      <p:graphicFrame>
        <p:nvGraphicFramePr>
          <p:cNvPr id="1060" name="table 1060"/>
          <p:cNvGraphicFramePr>
            <a:graphicFrameLocks noGrp="1"/>
          </p:cNvGraphicFramePr>
          <p:nvPr/>
        </p:nvGraphicFramePr>
        <p:xfrm>
          <a:off x="6274260" y="1574460"/>
          <a:ext cx="2601595" cy="2007234"/>
        </p:xfrm>
        <a:graphic>
          <a:graphicData uri="http://schemas.openxmlformats.org/drawingml/2006/table">
            <a:tbl>
              <a:tblPr/>
              <a:tblGrid>
                <a:gridCol w="260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73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7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18C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8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31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</a:t>
                      </a:r>
                      <a:r>
                        <a:rPr sz="1700" b="1" kern="0" spc="-1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全网减涝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0069" algn="l" rtl="0" eaLnBrk="0">
                        <a:lnSpc>
                          <a:spcPct val="92000"/>
                        </a:lnSpc>
                        <a:spcBef>
                          <a:spcPts val="333"/>
                        </a:spcBef>
                        <a:tabLst/>
                      </a:pPr>
                      <a:r>
                        <a:rPr sz="1100" kern="0" spc="8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12/12 </a:t>
                      </a:r>
                      <a:r>
                        <a:rPr sz="1100" kern="0" spc="8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暴雨事</a:t>
                      </a:r>
                      <a:r>
                        <a:rPr sz="1100" kern="0" spc="7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件均改善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49884" algn="l" rtl="0" eaLnBrk="0">
                        <a:lnSpc>
                          <a:spcPct val="92000"/>
                        </a:lnSpc>
                        <a:spcBef>
                          <a:spcPts val="226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较现有控制降低 </a:t>
                      </a:r>
                      <a:r>
                        <a:rPr sz="11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TFV</a:t>
                      </a:r>
                      <a:r>
                        <a:rPr sz="1100" kern="0" spc="15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5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12.55%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218C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2" name="table 1062"/>
          <p:cNvGraphicFramePr>
            <a:graphicFrameLocks noGrp="1"/>
          </p:cNvGraphicFramePr>
          <p:nvPr/>
        </p:nvGraphicFramePr>
        <p:xfrm>
          <a:off x="3329816" y="1574460"/>
          <a:ext cx="2601595" cy="2007235"/>
        </p:xfrm>
        <a:graphic>
          <a:graphicData uri="http://schemas.openxmlformats.org/drawingml/2006/table">
            <a:tbl>
              <a:tblPr/>
              <a:tblGrid>
                <a:gridCol w="260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37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7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309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700" b="1" kern="0" spc="-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</a:t>
                      </a:r>
                      <a:r>
                        <a:rPr sz="1700" b="1" kern="0" spc="15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-4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自适应仲裁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92000"/>
                        </a:lnSpc>
                        <a:spcBef>
                          <a:spcPts val="333"/>
                        </a:spcBef>
                        <a:tabLst/>
                      </a:pPr>
                      <a:r>
                        <a:rPr sz="11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数据、水力、规则与 </a:t>
                      </a:r>
                      <a:r>
                        <a:rPr sz="11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  <a:r>
                        <a:rPr sz="11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同台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55064" algn="l" rtl="0" eaLnBrk="0">
                        <a:lnSpc>
                          <a:spcPct val="88000"/>
                        </a:lnSpc>
                        <a:spcBef>
                          <a:spcPts val="225"/>
                        </a:spcBef>
                        <a:tabLst/>
                      </a:pPr>
                      <a:r>
                        <a:rPr sz="1100" kern="0" spc="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20700" algn="l" rtl="0" eaLnBrk="0">
                        <a:lnSpc>
                          <a:spcPct val="92000"/>
                        </a:lnSpc>
                        <a:spcBef>
                          <a:spcPts val="279"/>
                        </a:spcBef>
                        <a:tabLst/>
                      </a:pPr>
                      <a:r>
                        <a:rPr sz="1100" kern="0" spc="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</a:t>
                      </a:r>
                      <a:r>
                        <a:rPr sz="1100" kern="0" spc="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49.2% </a:t>
                      </a:r>
                      <a:r>
                        <a:rPr sz="1100" kern="0" spc="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决策更改目标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785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4" name="rect 1064"/>
          <p:cNvSpPr/>
          <p:nvPr/>
        </p:nvSpPr>
        <p:spPr>
          <a:xfrm>
            <a:off x="392760" y="1581835"/>
            <a:ext cx="2587320" cy="82080"/>
          </a:xfrm>
          <a:prstGeom prst="rect">
            <a:avLst/>
          </a:prstGeom>
          <a:solidFill>
            <a:srgbClr val="2365A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066" name="table 1066"/>
          <p:cNvGraphicFramePr>
            <a:graphicFrameLocks noGrp="1"/>
          </p:cNvGraphicFramePr>
          <p:nvPr/>
        </p:nvGraphicFramePr>
        <p:xfrm>
          <a:off x="385384" y="1574460"/>
          <a:ext cx="2601595" cy="1991359"/>
        </p:xfrm>
        <a:graphic>
          <a:graphicData uri="http://schemas.openxmlformats.org/drawingml/2006/table">
            <a:tbl>
              <a:tblPr/>
              <a:tblGrid>
                <a:gridCol w="260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1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31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-2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可靠感知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9780" indent="-389254" algn="l" rtl="0" eaLnBrk="0">
                        <a:lnSpc>
                          <a:spcPct val="10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稀疏观测重建全网水力状态</a:t>
                      </a:r>
                      <a:r>
                        <a:rPr sz="11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</a:t>
                      </a:r>
                      <a:r>
                        <a:rPr sz="11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组均</a:t>
                      </a:r>
                      <a:r>
                        <a:rPr sz="1100" kern="0" spc="1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  <a:r>
                        <a:rPr sz="1100" kern="0" spc="3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0.924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587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36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8" name="table 1068"/>
          <p:cNvGraphicFramePr>
            <a:graphicFrameLocks noGrp="1"/>
          </p:cNvGraphicFramePr>
          <p:nvPr/>
        </p:nvGraphicFramePr>
        <p:xfrm>
          <a:off x="9218705" y="1574460"/>
          <a:ext cx="2601595" cy="2007235"/>
        </p:xfrm>
        <a:graphic>
          <a:graphicData uri="http://schemas.openxmlformats.org/drawingml/2006/table">
            <a:tbl>
              <a:tblPr/>
              <a:tblGrid>
                <a:gridCol w="260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01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79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E49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9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9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315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</a:t>
                      </a:r>
                      <a:r>
                        <a:rPr sz="1700" b="1" kern="0" spc="-6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-10" dirty="0">
                          <a:solidFill>
                            <a:srgbClr val="20285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机理解释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92000"/>
                        </a:lnSpc>
                        <a:spcBef>
                          <a:spcPts val="333"/>
                        </a:spcBef>
                        <a:tabLst/>
                      </a:pPr>
                      <a:r>
                        <a:rPr sz="11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热点空间代偿与水力容量时序重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55064" algn="l" rtl="0" eaLnBrk="0">
                        <a:lnSpc>
                          <a:spcPct val="92000"/>
                        </a:lnSpc>
                        <a:spcBef>
                          <a:spcPts val="226"/>
                        </a:spcBef>
                        <a:tabLst/>
                      </a:pPr>
                      <a:r>
                        <a:rPr sz="1100" kern="0" spc="6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0979" algn="l" rtl="0" eaLnBrk="0">
                        <a:lnSpc>
                          <a:spcPct val="92000"/>
                        </a:lnSpc>
                        <a:spcBef>
                          <a:spcPts val="226"/>
                        </a:spcBef>
                        <a:tabLst/>
                      </a:pPr>
                      <a:r>
                        <a:rPr sz="11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高蓄满率持续时间缩短 </a:t>
                      </a:r>
                      <a:r>
                        <a:rPr sz="1100" kern="0" spc="9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15.5 </a:t>
                      </a:r>
                      <a:r>
                        <a:rPr sz="1100" kern="0" spc="0" dirty="0">
                          <a:solidFill>
                            <a:srgbClr val="2635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2225" cap="flat" cmpd="sng" algn="ctr">
                      <a:solidFill>
                        <a:srgbClr val="E49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9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E49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0" name="rect 1070"/>
          <p:cNvSpPr/>
          <p:nvPr/>
        </p:nvSpPr>
        <p:spPr>
          <a:xfrm>
            <a:off x="399600" y="929520"/>
            <a:ext cx="1303919" cy="316444"/>
          </a:xfrm>
          <a:prstGeom prst="rect">
            <a:avLst/>
          </a:prstGeom>
          <a:solidFill>
            <a:srgbClr val="20285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72" name="textbox 1072"/>
          <p:cNvSpPr/>
          <p:nvPr/>
        </p:nvSpPr>
        <p:spPr>
          <a:xfrm>
            <a:off x="386900" y="967348"/>
            <a:ext cx="8027034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>
                <a:tab pos="374650" algn="l"/>
              </a:tabLst>
            </a:pPr>
            <a:r>
              <a:rPr sz="1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40" baseline="21448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研究总结</a:t>
            </a:r>
            <a:r>
              <a:rPr sz="11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800" b="1" kern="0" spc="4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性能改善、决策机制、空间变化与时序水力响应形成完整</a:t>
            </a:r>
            <a:r>
              <a:rPr sz="1800" b="1" kern="0" spc="30" dirty="0">
                <a:solidFill>
                  <a:srgbClr val="20285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证据链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82" name="picture 10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79899"/>
            <a:ext cx="12191403" cy="7915"/>
          </a:xfrm>
          <a:prstGeom prst="rect">
            <a:avLst/>
          </a:prstGeom>
        </p:spPr>
      </p:pic>
      <p:sp>
        <p:nvSpPr>
          <p:cNvPr id="1084" name="path 1084"/>
          <p:cNvSpPr/>
          <p:nvPr/>
        </p:nvSpPr>
        <p:spPr>
          <a:xfrm>
            <a:off x="3337204" y="1657616"/>
            <a:ext cx="2587319" cy="12600"/>
          </a:xfrm>
          <a:custGeom>
            <a:avLst/>
            <a:gdLst/>
            <a:ahLst/>
            <a:cxnLst/>
            <a:rect l="0" t="0" r="0" b="0"/>
            <a:pathLst>
              <a:path w="4074" h="19">
                <a:moveTo>
                  <a:pt x="2037" y="9"/>
                </a:moveTo>
                <a:lnTo>
                  <a:pt x="0" y="9"/>
                </a:lnTo>
                <a:moveTo>
                  <a:pt x="4074" y="9"/>
                </a:moveTo>
                <a:lnTo>
                  <a:pt x="2037" y="9"/>
                </a:lnTo>
              </a:path>
            </a:pathLst>
          </a:custGeom>
          <a:noFill/>
          <a:ln w="12599" cap="flat">
            <a:solidFill>
              <a:srgbClr val="785E9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6" name="path 1086"/>
          <p:cNvSpPr/>
          <p:nvPr/>
        </p:nvSpPr>
        <p:spPr>
          <a:xfrm>
            <a:off x="6281635" y="1657616"/>
            <a:ext cx="2587319" cy="12600"/>
          </a:xfrm>
          <a:custGeom>
            <a:avLst/>
            <a:gdLst/>
            <a:ahLst/>
            <a:cxnLst/>
            <a:rect l="0" t="0" r="0" b="0"/>
            <a:pathLst>
              <a:path w="4074" h="19">
                <a:moveTo>
                  <a:pt x="2037" y="9"/>
                </a:moveTo>
                <a:lnTo>
                  <a:pt x="0" y="9"/>
                </a:lnTo>
                <a:moveTo>
                  <a:pt x="4074" y="9"/>
                </a:moveTo>
                <a:lnTo>
                  <a:pt x="2037" y="9"/>
                </a:lnTo>
              </a:path>
            </a:pathLst>
          </a:custGeom>
          <a:noFill/>
          <a:ln w="12599" cap="flat">
            <a:solidFill>
              <a:srgbClr val="218C9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8" name="path 1088"/>
          <p:cNvSpPr/>
          <p:nvPr/>
        </p:nvSpPr>
        <p:spPr>
          <a:xfrm>
            <a:off x="9226080" y="1657616"/>
            <a:ext cx="2587319" cy="12600"/>
          </a:xfrm>
          <a:custGeom>
            <a:avLst/>
            <a:gdLst/>
            <a:ahLst/>
            <a:cxnLst/>
            <a:rect l="0" t="0" r="0" b="0"/>
            <a:pathLst>
              <a:path w="4074" h="19">
                <a:moveTo>
                  <a:pt x="2037" y="9"/>
                </a:moveTo>
                <a:lnTo>
                  <a:pt x="0" y="9"/>
                </a:lnTo>
                <a:moveTo>
                  <a:pt x="4074" y="9"/>
                </a:moveTo>
                <a:lnTo>
                  <a:pt x="2037" y="9"/>
                </a:lnTo>
              </a:path>
            </a:pathLst>
          </a:custGeom>
          <a:noFill/>
          <a:ln w="12599" cap="flat">
            <a:solidFill>
              <a:srgbClr val="E49B4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58" name="group 158"/>
          <p:cNvGrpSpPr/>
          <p:nvPr/>
        </p:nvGrpSpPr>
        <p:grpSpPr>
          <a:xfrm rot="21600000">
            <a:off x="2989773" y="2549525"/>
            <a:ext cx="283702" cy="76669"/>
            <a:chOff x="0" y="0"/>
            <a:chExt cx="283702" cy="76669"/>
          </a:xfrm>
        </p:grpSpPr>
        <p:sp>
          <p:nvSpPr>
            <p:cNvPr id="1090" name="path 1090"/>
            <p:cNvSpPr/>
            <p:nvPr/>
          </p:nvSpPr>
          <p:spPr>
            <a:xfrm>
              <a:off x="0" y="25370"/>
              <a:ext cx="212083" cy="25928"/>
            </a:xfrm>
            <a:custGeom>
              <a:avLst/>
              <a:gdLst/>
              <a:ahLst/>
              <a:cxnLst/>
              <a:rect l="0" t="0" r="0" b="0"/>
              <a:pathLst>
                <a:path w="333" h="40">
                  <a:moveTo>
                    <a:pt x="0" y="20"/>
                  </a:moveTo>
                  <a:lnTo>
                    <a:pt x="333" y="20"/>
                  </a:lnTo>
                </a:path>
              </a:pathLst>
            </a:custGeom>
            <a:noFill/>
            <a:ln w="2555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2" name="path 1092"/>
            <p:cNvSpPr/>
            <p:nvPr/>
          </p:nvSpPr>
          <p:spPr>
            <a:xfrm>
              <a:off x="207032" y="0"/>
              <a:ext cx="76669" cy="76669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20" y="60"/>
                  </a:moveTo>
                  <a:lnTo>
                    <a:pt x="0" y="120"/>
                  </a:lnTo>
                  <a:lnTo>
                    <a:pt x="0" y="0"/>
                  </a:lnTo>
                  <a:lnTo>
                    <a:pt x="120" y="60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0" name="group 160"/>
          <p:cNvGrpSpPr/>
          <p:nvPr/>
        </p:nvGrpSpPr>
        <p:grpSpPr>
          <a:xfrm rot="21600000">
            <a:off x="5934218" y="2549525"/>
            <a:ext cx="283702" cy="76669"/>
            <a:chOff x="0" y="0"/>
            <a:chExt cx="283702" cy="76669"/>
          </a:xfrm>
        </p:grpSpPr>
        <p:sp>
          <p:nvSpPr>
            <p:cNvPr id="1094" name="path 1094"/>
            <p:cNvSpPr/>
            <p:nvPr/>
          </p:nvSpPr>
          <p:spPr>
            <a:xfrm>
              <a:off x="0" y="25370"/>
              <a:ext cx="212083" cy="25928"/>
            </a:xfrm>
            <a:custGeom>
              <a:avLst/>
              <a:gdLst/>
              <a:ahLst/>
              <a:cxnLst/>
              <a:rect l="0" t="0" r="0" b="0"/>
              <a:pathLst>
                <a:path w="333" h="40">
                  <a:moveTo>
                    <a:pt x="0" y="20"/>
                  </a:moveTo>
                  <a:lnTo>
                    <a:pt x="333" y="20"/>
                  </a:lnTo>
                </a:path>
              </a:pathLst>
            </a:custGeom>
            <a:noFill/>
            <a:ln w="2555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6" name="path 1096"/>
            <p:cNvSpPr/>
            <p:nvPr/>
          </p:nvSpPr>
          <p:spPr>
            <a:xfrm>
              <a:off x="207019" y="0"/>
              <a:ext cx="76682" cy="76669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20" y="60"/>
                  </a:moveTo>
                  <a:lnTo>
                    <a:pt x="0" y="120"/>
                  </a:lnTo>
                  <a:lnTo>
                    <a:pt x="0" y="0"/>
                  </a:lnTo>
                  <a:lnTo>
                    <a:pt x="120" y="60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2" name="group 162"/>
          <p:cNvGrpSpPr/>
          <p:nvPr/>
        </p:nvGrpSpPr>
        <p:grpSpPr>
          <a:xfrm rot="21600000">
            <a:off x="8878661" y="2549525"/>
            <a:ext cx="283335" cy="76669"/>
            <a:chOff x="0" y="0"/>
            <a:chExt cx="283335" cy="76669"/>
          </a:xfrm>
        </p:grpSpPr>
        <p:sp>
          <p:nvSpPr>
            <p:cNvPr id="1098" name="path 1098"/>
            <p:cNvSpPr/>
            <p:nvPr/>
          </p:nvSpPr>
          <p:spPr>
            <a:xfrm>
              <a:off x="0" y="25370"/>
              <a:ext cx="211716" cy="25928"/>
            </a:xfrm>
            <a:custGeom>
              <a:avLst/>
              <a:gdLst/>
              <a:ahLst/>
              <a:cxnLst/>
              <a:rect l="0" t="0" r="0" b="0"/>
              <a:pathLst>
                <a:path w="333" h="40">
                  <a:moveTo>
                    <a:pt x="0" y="20"/>
                  </a:moveTo>
                  <a:lnTo>
                    <a:pt x="333" y="20"/>
                  </a:lnTo>
                </a:path>
              </a:pathLst>
            </a:custGeom>
            <a:noFill/>
            <a:ln w="25559" cap="flat">
              <a:solidFill>
                <a:srgbClr val="293D8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0" name="path 1100"/>
            <p:cNvSpPr/>
            <p:nvPr/>
          </p:nvSpPr>
          <p:spPr>
            <a:xfrm>
              <a:off x="206664" y="0"/>
              <a:ext cx="76670" cy="76669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20" y="60"/>
                  </a:moveTo>
                  <a:lnTo>
                    <a:pt x="0" y="120"/>
                  </a:lnTo>
                  <a:lnTo>
                    <a:pt x="0" y="0"/>
                  </a:lnTo>
                  <a:lnTo>
                    <a:pt x="120" y="60"/>
                  </a:lnTo>
                  <a:close/>
                </a:path>
              </a:pathLst>
            </a:custGeom>
            <a:solidFill>
              <a:srgbClr val="293D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145148D-8C73-44A4-B5CF-01C3035E8814}"/>
              </a:ext>
            </a:extLst>
          </p:cNvPr>
          <p:cNvSpPr txBox="1">
            <a:spLocks/>
          </p:cNvSpPr>
          <p:nvPr/>
        </p:nvSpPr>
        <p:spPr>
          <a:xfrm>
            <a:off x="1" y="1769715"/>
            <a:ext cx="12192000" cy="2554605"/>
          </a:xfrm>
          <a:prstGeom prst="rect">
            <a:avLst/>
          </a:prstGeom>
          <a:solidFill>
            <a:srgbClr val="002060">
              <a:alpha val="100000"/>
            </a:srgbClr>
          </a:solidFill>
          <a:ln w="9525"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rgbClr val="FFFFFF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7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谢谢各位专家</a:t>
            </a:r>
            <a:endParaRPr kumimoji="0" lang="en-US" altLang="zh-CN" sz="5400" b="1" i="0" u="none" strike="noStrike" kern="1200" cap="none" spc="7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7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恳请批评指正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1CDBC8-0DAA-42F1-A369-CA56FF8D4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715"/>
            <a:ext cx="2555132" cy="255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7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1091</Words>
  <Application>Microsoft Office PowerPoint</Application>
  <PresentationFormat>宽屏</PresentationFormat>
  <Paragraphs>1061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MS Gothic</vt:lpstr>
      <vt:lpstr>等线</vt:lpstr>
      <vt:lpstr>等线 Light</vt:lpstr>
      <vt:lpstr>微软雅黑</vt:lpstr>
      <vt:lpstr>微软雅黑</vt:lpstr>
      <vt:lpstr>Arial</vt:lpstr>
      <vt:lpstr>Calibri</vt:lpstr>
      <vt:lpstr>Times New Roman</vt:lpstr>
      <vt:lpstr>Office 主题​​</vt:lpstr>
      <vt:lpstr>不确定信息条件下城市排水韧性治理的 实时决策机制                ——城市排水系统实时内涝缓解案例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城市排水系统多源知识仲裁与实时减涝研究</dc:title>
  <dc:subject>城市排水系统多源控制知识自适应仲裁与实时减涝</dc:subject>
  <dc:creator>Research presentation</dc:creator>
  <cp:lastModifiedBy>jh wu</cp:lastModifiedBy>
  <cp:revision>4</cp:revision>
  <dcterms:created xsi:type="dcterms:W3CDTF">2026-10-20T11:17:21Z</dcterms:created>
  <dcterms:modified xsi:type="dcterms:W3CDTF">2026-10-29T10:12:01Z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2026-10-20T19:23:19Z</vt:filetime>
  </property>
</Properties>
</file>